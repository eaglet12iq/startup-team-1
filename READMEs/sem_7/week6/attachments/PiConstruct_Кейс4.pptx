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132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Курс «Стартап в информационных технологиях» · Неделя 6 · Занятие №12</a:t>
            </a:r>
            <a:endParaRPr lang="en-US" sz="1300" dirty="0"/>
          </a:p>
        </p:txBody>
      </p:sp>
      <p:pic>
        <p:nvPicPr>
          <p:cNvPr id="3" name="Image 0" descr="/tmp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7972" y="1517904"/>
            <a:ext cx="3465576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060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Ошибки в маркетинговой стратегии: управление кризисом и адаптация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4892040" y="4224528"/>
            <a:ext cx="91440" cy="45720"/>
          </a:xfrm>
          <a:prstGeom prst="rect">
            <a:avLst/>
          </a:prstGeom>
          <a:solidFill>
            <a:srgbClr val="BDD903"/>
          </a:solidFill>
          <a:ln/>
        </p:spPr>
      </p:sp>
      <p:sp>
        <p:nvSpPr>
          <p:cNvPr id="6" name="Shape 3"/>
          <p:cNvSpPr/>
          <p:nvPr/>
        </p:nvSpPr>
        <p:spPr>
          <a:xfrm>
            <a:off x="4983480" y="4224528"/>
            <a:ext cx="91440" cy="45720"/>
          </a:xfrm>
          <a:prstGeom prst="rect">
            <a:avLst/>
          </a:prstGeom>
          <a:solidFill>
            <a:srgbClr val="BED803"/>
          </a:solidFill>
          <a:ln/>
        </p:spPr>
      </p:sp>
      <p:sp>
        <p:nvSpPr>
          <p:cNvPr id="7" name="Shape 4"/>
          <p:cNvSpPr/>
          <p:nvPr/>
        </p:nvSpPr>
        <p:spPr>
          <a:xfrm>
            <a:off x="5074920" y="4224528"/>
            <a:ext cx="91440" cy="45720"/>
          </a:xfrm>
          <a:prstGeom prst="rect">
            <a:avLst/>
          </a:prstGeom>
          <a:solidFill>
            <a:srgbClr val="BED704"/>
          </a:solidFill>
          <a:ln/>
        </p:spPr>
      </p:sp>
      <p:sp>
        <p:nvSpPr>
          <p:cNvPr id="8" name="Shape 5"/>
          <p:cNvSpPr/>
          <p:nvPr/>
        </p:nvSpPr>
        <p:spPr>
          <a:xfrm>
            <a:off x="5166360" y="4224528"/>
            <a:ext cx="91440" cy="45720"/>
          </a:xfrm>
          <a:prstGeom prst="rect">
            <a:avLst/>
          </a:prstGeom>
          <a:solidFill>
            <a:srgbClr val="BFD604"/>
          </a:solidFill>
          <a:ln/>
        </p:spPr>
      </p:sp>
      <p:sp>
        <p:nvSpPr>
          <p:cNvPr id="9" name="Shape 6"/>
          <p:cNvSpPr/>
          <p:nvPr/>
        </p:nvSpPr>
        <p:spPr>
          <a:xfrm>
            <a:off x="5257800" y="4224528"/>
            <a:ext cx="91440" cy="45720"/>
          </a:xfrm>
          <a:prstGeom prst="rect">
            <a:avLst/>
          </a:prstGeom>
          <a:solidFill>
            <a:srgbClr val="BFD505"/>
          </a:solidFill>
          <a:ln/>
        </p:spPr>
      </p:sp>
      <p:sp>
        <p:nvSpPr>
          <p:cNvPr id="10" name="Shape 7"/>
          <p:cNvSpPr/>
          <p:nvPr/>
        </p:nvSpPr>
        <p:spPr>
          <a:xfrm>
            <a:off x="5349240" y="4224528"/>
            <a:ext cx="91440" cy="45720"/>
          </a:xfrm>
          <a:prstGeom prst="rect">
            <a:avLst/>
          </a:prstGeom>
          <a:solidFill>
            <a:srgbClr val="C0D405"/>
          </a:solidFill>
          <a:ln/>
        </p:spPr>
      </p:sp>
      <p:sp>
        <p:nvSpPr>
          <p:cNvPr id="11" name="Shape 8"/>
          <p:cNvSpPr/>
          <p:nvPr/>
        </p:nvSpPr>
        <p:spPr>
          <a:xfrm>
            <a:off x="5440680" y="4224528"/>
            <a:ext cx="91440" cy="45720"/>
          </a:xfrm>
          <a:prstGeom prst="rect">
            <a:avLst/>
          </a:prstGeom>
          <a:solidFill>
            <a:srgbClr val="C0D305"/>
          </a:solidFill>
          <a:ln/>
        </p:spPr>
      </p:sp>
      <p:sp>
        <p:nvSpPr>
          <p:cNvPr id="12" name="Shape 9"/>
          <p:cNvSpPr/>
          <p:nvPr/>
        </p:nvSpPr>
        <p:spPr>
          <a:xfrm>
            <a:off x="5532120" y="4224528"/>
            <a:ext cx="91440" cy="45720"/>
          </a:xfrm>
          <a:prstGeom prst="rect">
            <a:avLst/>
          </a:prstGeom>
          <a:solidFill>
            <a:srgbClr val="C1D106"/>
          </a:solidFill>
          <a:ln/>
        </p:spPr>
      </p:sp>
      <p:sp>
        <p:nvSpPr>
          <p:cNvPr id="13" name="Shape 10"/>
          <p:cNvSpPr/>
          <p:nvPr/>
        </p:nvSpPr>
        <p:spPr>
          <a:xfrm>
            <a:off x="5623560" y="4224528"/>
            <a:ext cx="91440" cy="45720"/>
          </a:xfrm>
          <a:prstGeom prst="rect">
            <a:avLst/>
          </a:prstGeom>
          <a:solidFill>
            <a:srgbClr val="C1D006"/>
          </a:solidFill>
          <a:ln/>
        </p:spPr>
      </p:sp>
      <p:sp>
        <p:nvSpPr>
          <p:cNvPr id="14" name="Shape 11"/>
          <p:cNvSpPr/>
          <p:nvPr/>
        </p:nvSpPr>
        <p:spPr>
          <a:xfrm>
            <a:off x="5715000" y="4224528"/>
            <a:ext cx="91440" cy="45720"/>
          </a:xfrm>
          <a:prstGeom prst="rect">
            <a:avLst/>
          </a:prstGeom>
          <a:solidFill>
            <a:srgbClr val="C2CF06"/>
          </a:solidFill>
          <a:ln/>
        </p:spPr>
      </p:sp>
      <p:sp>
        <p:nvSpPr>
          <p:cNvPr id="15" name="Shape 12"/>
          <p:cNvSpPr/>
          <p:nvPr/>
        </p:nvSpPr>
        <p:spPr>
          <a:xfrm>
            <a:off x="5806440" y="4224528"/>
            <a:ext cx="91440" cy="45720"/>
          </a:xfrm>
          <a:prstGeom prst="rect">
            <a:avLst/>
          </a:prstGeom>
          <a:solidFill>
            <a:srgbClr val="C2CE07"/>
          </a:solidFill>
          <a:ln/>
        </p:spPr>
      </p:sp>
      <p:sp>
        <p:nvSpPr>
          <p:cNvPr id="16" name="Shape 13"/>
          <p:cNvSpPr/>
          <p:nvPr/>
        </p:nvSpPr>
        <p:spPr>
          <a:xfrm>
            <a:off x="5897880" y="4224528"/>
            <a:ext cx="91440" cy="45720"/>
          </a:xfrm>
          <a:prstGeom prst="rect">
            <a:avLst/>
          </a:prstGeom>
          <a:solidFill>
            <a:srgbClr val="C3CD07"/>
          </a:solidFill>
          <a:ln/>
        </p:spPr>
      </p:sp>
      <p:sp>
        <p:nvSpPr>
          <p:cNvPr id="17" name="Shape 14"/>
          <p:cNvSpPr/>
          <p:nvPr/>
        </p:nvSpPr>
        <p:spPr>
          <a:xfrm>
            <a:off x="5989320" y="4224528"/>
            <a:ext cx="91440" cy="45720"/>
          </a:xfrm>
          <a:prstGeom prst="rect">
            <a:avLst/>
          </a:prstGeom>
          <a:solidFill>
            <a:srgbClr val="C3CC08"/>
          </a:solidFill>
          <a:ln/>
        </p:spPr>
      </p:sp>
      <p:sp>
        <p:nvSpPr>
          <p:cNvPr id="18" name="Shape 15"/>
          <p:cNvSpPr/>
          <p:nvPr/>
        </p:nvSpPr>
        <p:spPr>
          <a:xfrm>
            <a:off x="6080760" y="4224528"/>
            <a:ext cx="91440" cy="45720"/>
          </a:xfrm>
          <a:prstGeom prst="rect">
            <a:avLst/>
          </a:prstGeom>
          <a:solidFill>
            <a:srgbClr val="C4CB08"/>
          </a:solidFill>
          <a:ln/>
        </p:spPr>
      </p:sp>
      <p:sp>
        <p:nvSpPr>
          <p:cNvPr id="19" name="Shape 16"/>
          <p:cNvSpPr/>
          <p:nvPr/>
        </p:nvSpPr>
        <p:spPr>
          <a:xfrm>
            <a:off x="6172200" y="4224528"/>
            <a:ext cx="91440" cy="45720"/>
          </a:xfrm>
          <a:prstGeom prst="rect">
            <a:avLst/>
          </a:prstGeom>
          <a:solidFill>
            <a:srgbClr val="C4CA08"/>
          </a:solidFill>
          <a:ln/>
        </p:spPr>
      </p:sp>
      <p:sp>
        <p:nvSpPr>
          <p:cNvPr id="20" name="Shape 17"/>
          <p:cNvSpPr/>
          <p:nvPr/>
        </p:nvSpPr>
        <p:spPr>
          <a:xfrm>
            <a:off x="6263640" y="4224528"/>
            <a:ext cx="91440" cy="45720"/>
          </a:xfrm>
          <a:prstGeom prst="rect">
            <a:avLst/>
          </a:prstGeom>
          <a:solidFill>
            <a:srgbClr val="C5C909"/>
          </a:solidFill>
          <a:ln/>
        </p:spPr>
      </p:sp>
      <p:sp>
        <p:nvSpPr>
          <p:cNvPr id="21" name="Shape 18"/>
          <p:cNvSpPr/>
          <p:nvPr/>
        </p:nvSpPr>
        <p:spPr>
          <a:xfrm>
            <a:off x="6355080" y="4224528"/>
            <a:ext cx="91440" cy="45720"/>
          </a:xfrm>
          <a:prstGeom prst="rect">
            <a:avLst/>
          </a:prstGeom>
          <a:solidFill>
            <a:srgbClr val="C5C809"/>
          </a:solidFill>
          <a:ln/>
        </p:spPr>
      </p:sp>
      <p:sp>
        <p:nvSpPr>
          <p:cNvPr id="22" name="Shape 19"/>
          <p:cNvSpPr/>
          <p:nvPr/>
        </p:nvSpPr>
        <p:spPr>
          <a:xfrm>
            <a:off x="6446520" y="4224528"/>
            <a:ext cx="91440" cy="45720"/>
          </a:xfrm>
          <a:prstGeom prst="rect">
            <a:avLst/>
          </a:prstGeom>
          <a:solidFill>
            <a:srgbClr val="C6C70A"/>
          </a:solidFill>
          <a:ln/>
        </p:spPr>
      </p:sp>
      <p:sp>
        <p:nvSpPr>
          <p:cNvPr id="23" name="Shape 20"/>
          <p:cNvSpPr/>
          <p:nvPr/>
        </p:nvSpPr>
        <p:spPr>
          <a:xfrm>
            <a:off x="6537960" y="4224528"/>
            <a:ext cx="91440" cy="45720"/>
          </a:xfrm>
          <a:prstGeom prst="rect">
            <a:avLst/>
          </a:prstGeom>
          <a:solidFill>
            <a:srgbClr val="C6C60A"/>
          </a:solidFill>
          <a:ln/>
        </p:spPr>
      </p:sp>
      <p:sp>
        <p:nvSpPr>
          <p:cNvPr id="24" name="Shape 21"/>
          <p:cNvSpPr/>
          <p:nvPr/>
        </p:nvSpPr>
        <p:spPr>
          <a:xfrm>
            <a:off x="6629400" y="4224528"/>
            <a:ext cx="91440" cy="45720"/>
          </a:xfrm>
          <a:prstGeom prst="rect">
            <a:avLst/>
          </a:prstGeom>
          <a:solidFill>
            <a:srgbClr val="C7C50A"/>
          </a:solidFill>
          <a:ln/>
        </p:spPr>
      </p:sp>
      <p:sp>
        <p:nvSpPr>
          <p:cNvPr id="25" name="Shape 22"/>
          <p:cNvSpPr/>
          <p:nvPr/>
        </p:nvSpPr>
        <p:spPr>
          <a:xfrm>
            <a:off x="6720840" y="4224528"/>
            <a:ext cx="91440" cy="45720"/>
          </a:xfrm>
          <a:prstGeom prst="rect">
            <a:avLst/>
          </a:prstGeom>
          <a:solidFill>
            <a:srgbClr val="C7C30B"/>
          </a:solidFill>
          <a:ln/>
        </p:spPr>
      </p:sp>
      <p:sp>
        <p:nvSpPr>
          <p:cNvPr id="26" name="Shape 23"/>
          <p:cNvSpPr/>
          <p:nvPr/>
        </p:nvSpPr>
        <p:spPr>
          <a:xfrm>
            <a:off x="6812280" y="4224528"/>
            <a:ext cx="91440" cy="45720"/>
          </a:xfrm>
          <a:prstGeom prst="rect">
            <a:avLst/>
          </a:prstGeom>
          <a:solidFill>
            <a:srgbClr val="C8C20B"/>
          </a:solidFill>
          <a:ln/>
        </p:spPr>
      </p:sp>
      <p:sp>
        <p:nvSpPr>
          <p:cNvPr id="27" name="Shape 24"/>
          <p:cNvSpPr/>
          <p:nvPr/>
        </p:nvSpPr>
        <p:spPr>
          <a:xfrm>
            <a:off x="6903720" y="4224528"/>
            <a:ext cx="91440" cy="45720"/>
          </a:xfrm>
          <a:prstGeom prst="rect">
            <a:avLst/>
          </a:prstGeom>
          <a:solidFill>
            <a:srgbClr val="C8C10B"/>
          </a:solidFill>
          <a:ln/>
        </p:spPr>
      </p:sp>
      <p:sp>
        <p:nvSpPr>
          <p:cNvPr id="28" name="Shape 25"/>
          <p:cNvSpPr/>
          <p:nvPr/>
        </p:nvSpPr>
        <p:spPr>
          <a:xfrm>
            <a:off x="6995160" y="4224528"/>
            <a:ext cx="91440" cy="45720"/>
          </a:xfrm>
          <a:prstGeom prst="rect">
            <a:avLst/>
          </a:prstGeom>
          <a:solidFill>
            <a:srgbClr val="C9C00C"/>
          </a:solidFill>
          <a:ln/>
        </p:spPr>
      </p:sp>
      <p:sp>
        <p:nvSpPr>
          <p:cNvPr id="29" name="Shape 26"/>
          <p:cNvSpPr/>
          <p:nvPr/>
        </p:nvSpPr>
        <p:spPr>
          <a:xfrm>
            <a:off x="7086600" y="4224528"/>
            <a:ext cx="91440" cy="45720"/>
          </a:xfrm>
          <a:prstGeom prst="rect">
            <a:avLst/>
          </a:prstGeom>
          <a:solidFill>
            <a:srgbClr val="C9BF0C"/>
          </a:solidFill>
          <a:ln/>
        </p:spPr>
      </p:sp>
      <p:sp>
        <p:nvSpPr>
          <p:cNvPr id="30" name="Shape 27"/>
          <p:cNvSpPr/>
          <p:nvPr/>
        </p:nvSpPr>
        <p:spPr>
          <a:xfrm>
            <a:off x="7178040" y="4224528"/>
            <a:ext cx="91440" cy="45720"/>
          </a:xfrm>
          <a:prstGeom prst="rect">
            <a:avLst/>
          </a:prstGeom>
          <a:solidFill>
            <a:srgbClr val="CABE0D"/>
          </a:solidFill>
          <a:ln/>
        </p:spPr>
      </p:sp>
      <p:sp>
        <p:nvSpPr>
          <p:cNvPr id="31" name="Shape 28"/>
          <p:cNvSpPr/>
          <p:nvPr/>
        </p:nvSpPr>
        <p:spPr>
          <a:xfrm>
            <a:off x="7269480" y="4224528"/>
            <a:ext cx="91440" cy="45720"/>
          </a:xfrm>
          <a:prstGeom prst="rect">
            <a:avLst/>
          </a:prstGeom>
          <a:solidFill>
            <a:srgbClr val="CABD0D"/>
          </a:solidFill>
          <a:ln/>
        </p:spPr>
      </p:sp>
      <p:sp>
        <p:nvSpPr>
          <p:cNvPr id="32" name="Text 29"/>
          <p:cNvSpPr/>
          <p:nvPr/>
        </p:nvSpPr>
        <p:spPr>
          <a:xfrm>
            <a:off x="548640" y="449884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PiConstruct · Практическое занятие №12 · Команда №1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48640" y="574243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Савельев Сергей — тимлид/дизайнер · Овчаренко Константин — архитектор/разработчик · Миняев Тимофей — маркетолог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Паркаев Илья — аналитик · Валянский Андрей — разработчик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КЕЙС №4 · СЦЕНАРИЙ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4023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 / 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Ошибки в маркетинговой стратегии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577840" cy="2103120"/>
          </a:xfrm>
          <a:prstGeom prst="roundRect">
            <a:avLst/>
          </a:prstGeom>
          <a:solidFill>
            <a:srgbClr val="1E2027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007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Условие кейса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048256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После масштабной рекламной кампании прирост пользователей оказался в 10 раз ниже прогнозов. Бюджет практически исчерпан.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5577840" cy="1783080"/>
          </a:xfrm>
          <a:prstGeom prst="roundRect">
            <a:avLst/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684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Значимость для PiConstruct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Платных кампаний проект ещё не запускал. Проработка выполняется до первого реального бюджета: определяем правила, при которых провал кейса невозможен.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0" y="14630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ФАКТЫ О СЦЕНАРИИ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810512"/>
            <a:ext cx="2633472" cy="1755648"/>
          </a:xfrm>
          <a:prstGeom prst="roundRect">
            <a:avLst/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38544" y="20848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60 000 ₽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38544" y="26791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бюджет кампании — модельный параметр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62288" y="1810512"/>
            <a:ext cx="2633472" cy="1755648"/>
          </a:xfrm>
          <a:prstGeom prst="roundRect">
            <a:avLst/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00032" y="20848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D382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300 → 30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400032" y="26791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регистрации: прогноз → факт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3685032"/>
            <a:ext cx="2633472" cy="1755648"/>
          </a:xfrm>
          <a:prstGeom prst="roundRect">
            <a:avLst/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38544" y="3959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D382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36 → 1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38544" y="4553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покупки Pro: прогноз → факт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62288" y="3685032"/>
            <a:ext cx="2633472" cy="1755648"/>
          </a:xfrm>
          <a:prstGeom prst="roundRect">
            <a:avLst/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00032" y="3959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2 499 ₽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400032" y="4553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цена Pro — предел окупаемости привлечения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Факты проекта: тариф Pro 2 499 ₽ · лендинг с Яндекс.Метрикой · план недели 14: 8 покупок Pro за 6 месяцев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ДИАГНОСТИКА · ВОРОНКА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4023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 / 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Воронка: прогноз и факт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53312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1463040"/>
                <a:gridCol w="1828800"/>
                <a:gridCol w="40233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Этап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Прогноз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Факт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Отклонение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Комментарий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Показы</a:t>
                      </a:r>
                      <a:endParaRPr lang="en-US" sz="125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≈ 133 000</a:t>
                      </a:r>
                      <a:endParaRPr lang="en-US" sz="125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≈ 640 000</a:t>
                      </a:r>
                      <a:endParaRPr lang="en-US" sz="125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DA22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×4,8</a:t>
                      </a:r>
                      <a:endParaRPr lang="en-US" sz="125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широкие аудитории ради расходования бюджета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CTR (доля кликов)</a:t>
                      </a:r>
                      <a:endParaRPr lang="en-US" sz="125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1,5%</a:t>
                      </a:r>
                      <a:endParaRPr lang="en-US" sz="125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0,36%</a:t>
                      </a:r>
                      <a:endParaRPr lang="en-US" sz="125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D382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−76%</a:t>
                      </a:r>
                      <a:endParaRPr lang="en-US" sz="125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объявления не попадают в интерес аудитории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Переходы на лендинг</a:t>
                      </a:r>
                      <a:endParaRPr lang="en-US" sz="125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2 000</a:t>
                      </a:r>
                      <a:endParaRPr lang="en-US" sz="125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2 300</a:t>
                      </a:r>
                      <a:endParaRPr lang="en-US" sz="125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DD93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+15%</a:t>
                      </a:r>
                      <a:endParaRPr lang="en-US" sz="125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план выполнен — но трафик нецелевой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Отказы лендинга</a:t>
                      </a:r>
                      <a:endParaRPr lang="en-US" sz="125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≤ 45%</a:t>
                      </a:r>
                      <a:endParaRPr lang="en-US" sz="125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80%</a:t>
                      </a:r>
                      <a:endParaRPr lang="en-US" sz="125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D382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+35 п. п.</a:t>
                      </a:r>
                      <a:endParaRPr lang="en-US" sz="125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лендинг не соответствует ожиданию от объявления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Регистрации</a:t>
                      </a:r>
                      <a:endParaRPr lang="en-US" sz="125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300</a:t>
                      </a:r>
                      <a:endParaRPr lang="en-US" sz="125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30</a:t>
                      </a:r>
                      <a:endParaRPr lang="en-US" sz="125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D382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в 10 раз ниже</a:t>
                      </a:r>
                      <a:endParaRPr lang="en-US" sz="125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главный провал кейса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Активные сцены</a:t>
                      </a:r>
                      <a:endParaRPr lang="en-US" sz="125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90</a:t>
                      </a:r>
                      <a:endParaRPr lang="en-US" sz="125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4</a:t>
                      </a:r>
                      <a:endParaRPr lang="en-US" sz="125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D382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в 22 раза ниже</a:t>
                      </a:r>
                      <a:endParaRPr lang="en-US" sz="125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реализовался риск №2 недели 14 (конверсия активации)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Покупки Pro</a:t>
                      </a:r>
                      <a:endParaRPr lang="en-US" sz="125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36</a:t>
                      </a:r>
                      <a:endParaRPr lang="en-US" sz="125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</a:t>
                      </a:r>
                      <a:endParaRPr lang="en-US" sz="125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D382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в 36 раз ниже</a:t>
                      </a:r>
                      <a:endParaRPr lang="en-US" sz="125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CAC 60 000 ₽ — в 24 раза выше цены продукта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138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Вывод диагностики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Ставки и объём трафика проблемой не были — переходов больше плана. Провал локализован в качестве трафика и несоответствии лендинга ожиданиям (отказы 80%).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Модельный сценарий · расхождения зафиксированы по рекламным кабинетам и Яндекс.Метрике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ПРИЧИНЫ · РАННИЕ СИГНАЛЫ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4023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 / 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Пять причин кризиса — все внутренние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179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49047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Прогноз по чужим бенчмаркам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CTR 1,5% и конверсия 15% — средние по рынку; собственная воронка к запуску не измерена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432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40487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Медиаплан «от бюджета»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ниша низкочастотная — ради 60 000 ₽ охвачены широкие аудитории и look-alike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33467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331927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Нет A/B-тестирования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одна связка «объявление → лендинг»; лендинг про конструктор, а не задачу «меню за 30 секунд»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42611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423367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Нет контрольных точек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70% бюджета потрачено при нулевых активациях — остановки не последовало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51755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514807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Юнит-экономика не считана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плановый CAC 1 667 ₽ при цене 2 499 ₽; фактический CAC по покупке — 60 000 ₽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498080" y="1463040"/>
            <a:ext cx="4114800" cy="4526280"/>
          </a:xfrm>
          <a:prstGeom prst="roundRect">
            <a:avLst/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17190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382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РАННИЕ СИГНАЛЫ — ПРОПУЩЕНЫ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0" y="212140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DD382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CTR 0,4%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против плановых 1,5% — уже в первые 48 часов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0" y="32004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DD382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Отказы &gt; 70%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на второй день по данным Метрики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0" y="427939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DD382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 активных сцен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при потраченных 40% бюджета — середина первой недели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0" y="5440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Пороги реакции не были назначены заранее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Внешние условия (аукционы, сезонность) вторичны — десятикратный провал определили внутренние причины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ПОСЛЕДСТВИЯ · СТАБИЛИЗАЦИЯ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4023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 / 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Прогноз последствий и первые 72 часа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4526280"/>
          </a:xfrm>
          <a:prstGeom prst="roundRect">
            <a:avLst/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190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ПРОГНОЗ ПРИ БЕЗДЕЙСТВИИ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12140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Финансовые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остаток 3 000 ₽; цель недели 14 «8 покупок Pro за 6 месяцев» недостижима платным путём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Командные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поиск виноватых и потеря доверия — сценарий кейса №10 занятия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59936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Рыночные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окно ниши сужается: конкуренты с подписками укрепляются (кейс №7, неделя 5)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5029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Инвестиционные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на следующем раунде нечем подтвердить спрос (презентация недели 4)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394960" cy="4526280"/>
          </a:xfrm>
          <a:prstGeom prst="roundRect">
            <a:avLst/>
          </a:prstGeom>
          <a:solidFill>
            <a:srgbClr val="1E2027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7190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СТАБИЛИЗАЦИЯ — ПЕРВЫЕ 72 ЧАСА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215798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Остановка всех платных размещений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92640" y="215798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Миняев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279806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Аудит воронки по источникам и запросам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92640" y="279806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Паркаев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343814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Работа с 30 зарегистрированными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92640" y="343814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Миняев · Валянский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407822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Возврат к outreach, SEO и Telegram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92640" y="407822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Миняев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71830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Собрание без поиска виноватых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92640" y="471830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Савельев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535838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Стоп-правила и контрольные точки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92640" y="535838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Паркаев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СТРАТЕГИЯ · ПЛАН ДЕЙСТВИЙ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4023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6 / 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Четыре фазы антикризисной стратегии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24328" cy="4114800"/>
          </a:xfrm>
          <a:prstGeom prst="roundRect">
            <a:avLst/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6824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Ф0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6384" y="2066544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Стоп и фиксация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86384" y="2743200"/>
            <a:ext cx="1417320" cy="365760"/>
          </a:xfrm>
          <a:prstGeom prst="roundRect">
            <a:avLst/>
          </a:prstGeom>
          <a:solidFill>
            <a:srgbClr val="1E2027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743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дни 1–3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" y="3273552"/>
            <a:ext cx="21762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кампании остановлены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факты зафиксированы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антикризисная команда назначена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64992" y="1463040"/>
            <a:ext cx="2624328" cy="4114800"/>
          </a:xfrm>
          <a:prstGeom prst="roundRect">
            <a:avLst/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16824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Ф1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2736" y="2066544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Органический приток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02736" y="2743200"/>
            <a:ext cx="1417320" cy="365760"/>
          </a:xfrm>
          <a:prstGeom prst="roundRect">
            <a:avLst/>
          </a:prstGeom>
          <a:solidFill>
            <a:srgbClr val="1E2027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02736" y="2743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недели 1–4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02736" y="3273552"/>
            <a:ext cx="21762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outreach: 100 контактов в неделю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 SEO-статьи + Telegram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база 30 регистраций — в активации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лендинг: отказы ниже 50%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контрольная точка: ≥ 40 регистраций, ≥ 8 сцен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81344" y="1463040"/>
            <a:ext cx="2624328" cy="4114800"/>
          </a:xfrm>
          <a:prstGeom prst="roundRect">
            <a:avLst/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16824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Ф2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9088" y="2066544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Тест по правилу 10%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19088" y="2743200"/>
            <a:ext cx="1417320" cy="365760"/>
          </a:xfrm>
          <a:prstGeom prst="roundRect">
            <a:avLst/>
          </a:prstGeom>
          <a:solidFill>
            <a:srgbClr val="1E2027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2743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недели 5–8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19088" y="3273552"/>
            <a:ext cx="21762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бюджет 6 000 ₽ — десятая часть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точный поиск + ретаргет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стоп-параметры с 72-го часа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масштаб при CAC ≤ 830 ₽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97696" y="1463040"/>
            <a:ext cx="2624328" cy="4114800"/>
          </a:xfrm>
          <a:prstGeom prst="roundRect">
            <a:avLst/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16824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Ф3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35440" y="2066544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Масштабирование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235440" y="2743200"/>
            <a:ext cx="1417320" cy="365760"/>
          </a:xfrm>
          <a:prstGeom prst="roundRect">
            <a:avLst/>
          </a:prstGeom>
          <a:solidFill>
            <a:srgbClr val="1E2027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2743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месяцы 3+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235440" y="3273552"/>
            <a:ext cx="21762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только каналы, прошедшие фазу 2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медиаплан от спроса ниши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юнит-экономика на каждый канал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Цель: без платного трафика вернуть график «8 покупок Pro за 6 месяцев»; платные каналы — после исправления воронки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КОМАНДА · КОММУНИКАЦИИ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4023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7 / 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Роли и коммуникационная стратегия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АНТИКРИЗИСНАЯ КОМАНДА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Савельев Сергей — руководитель программы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приоритеты, запуск и остановка каналов, эскалация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706624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Миняев Тимофей — каналы привлечения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outreach, SEO, контент, работа с базой регистраций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Паркаев Илья — аналитик воронки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Метрика, контрольные точки, пост-мортем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4425696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Овчаренко Константин — посадочные страницы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сегментные лендинги, соответствие объявлению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5285232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Валянский Андрей — онбординг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активация в три шага, шаблоны, поддержка новичков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17920" y="1810512"/>
            <a:ext cx="5394960" cy="4178808"/>
          </a:xfrm>
          <a:prstGeom prst="roundRect">
            <a:avLst/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0665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КОММУНИКАЦИОННАЯ СТРАТЕГИЯ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2468880"/>
            <a:ext cx="4846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Команда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Telegram-чат программы + встреча 30 минут еженедельно; разбираем процесс, а не людей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92240" y="3355848"/>
            <a:ext cx="4846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Инвесторы и менторы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проактивный отчёт после разбора, далее ежемесячно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92240" y="4242816"/>
            <a:ext cx="4846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30 зарегистрированных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личная помощь с активацией — в течение первой недели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92240" y="5129784"/>
            <a:ext cx="4846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Клиенты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без изменений; публичных комментариев внутреннего кризиса нет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ПРОФИЛАКТИКА · РИСК-РЕЕСТР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4023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8 / 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Contingency-правила и риски №8–9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ПРАВИЛА ПО ИТОГАМ РАЗБОРА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 · Правило 10%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157984"/>
            <a:ext cx="5577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новый платный канал стартует с бюджетом не более десятой части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706624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 · Стоп-параметры 72 часов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5577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CTR ниже 70% плана, отказы выше 70%, ноль активаций — пауза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 · Контрольные точки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3877056"/>
            <a:ext cx="5577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еженедельно; отчёт аналитика публикуется в общем канале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42569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 · Медиаплан от спроса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4736592"/>
            <a:ext cx="5577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расширение аудитории ради расходования бюджета запрещено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528523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 · Экономика до запуска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5596128"/>
            <a:ext cx="5577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плановый CAC не выше трети цены продукта — 830 ₽ для Pro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1810512"/>
            <a:ext cx="5212080" cy="1965960"/>
          </a:xfrm>
          <a:prstGeom prst="roundRect">
            <a:avLst/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04825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№8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79792" y="202996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Повторный провал платной кампании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75120" y="2871216"/>
            <a:ext cx="2057400" cy="365760"/>
          </a:xfrm>
          <a:prstGeom prst="roundRect">
            <a:avLst/>
          </a:prstGeom>
          <a:solidFill>
            <a:srgbClr val="1E2027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87121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Вероятность: средняя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23960" y="2871216"/>
            <a:ext cx="1828800" cy="365760"/>
          </a:xfrm>
          <a:prstGeom prst="roundRect">
            <a:avLst/>
          </a:prstGeom>
          <a:solidFill>
            <a:srgbClr val="1E2027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23960" y="2871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Влияние: высокое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334670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Правило 10% и стоп-параметры; платные каналы — только после фазы 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3977640"/>
            <a:ext cx="5212080" cy="1965960"/>
          </a:xfrm>
          <a:prstGeom prst="roundRect">
            <a:avLst/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421538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№9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79792" y="4197096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Штраф за нарушение маркировки рекламы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75120" y="5038344"/>
            <a:ext cx="2057400" cy="365760"/>
          </a:xfrm>
          <a:prstGeom prst="roundRect">
            <a:avLst/>
          </a:prstGeom>
          <a:solidFill>
            <a:srgbClr val="1E2027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503834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Вероятность: низкая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823960" y="5038344"/>
            <a:ext cx="1828800" cy="365760"/>
          </a:xfrm>
          <a:prstGeom prst="roundRect">
            <a:avLst/>
          </a:prstGeom>
          <a:solidFill>
            <a:srgbClr val="1E2027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23960" y="50383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Влияние: высокое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75120" y="55138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Площадки с автопередачей данных в ОРД; реестр публикаций с erid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Нумерация риск-реестра: №1–5 — неделя 14 прошлого семестра · №6–7 — неделя 5 · №8–9 — настоящая проработка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АДАПТАЦИЯ · ИЗМЕНЕНИЕ ЗАКОНОДАТЕЛЬСТВА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4023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9 / 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Сценарий: маркировка интернет-рекламы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1481328"/>
          </a:xfrm>
          <a:prstGeom prst="roundRect">
            <a:avLst/>
          </a:prstGeom>
          <a:solidFill>
            <a:srgbClr val="1E2027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СЦЕНАРИЙ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938528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Любая платная реклама в интернете требует маркировки: идентификатор erid и передача сведений в ЕРИР через ОРД. Фон — перегрев аукционов: конкуренты повышают ставки по запросам ниши.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0" y="170078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D382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200–500 тыс ₽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503920" y="215798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штраф для юрлиц за каждое объявление — ч. 15 ст. 14.3 КоАП РФ; штрафы суммируются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127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ШАГИ АДАПТАЦИИ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4381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4290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Комплаенс-минимум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только площадки с автопередачей в ОРД; реестр публикаций с erid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4288536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Органические каналы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SEO, Telegram, персональная переписка — без платных размещений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15721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Партнёрская модель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комиссия POS-интеграторам за приведённого клиента — вместо оплаты показов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34381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34290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Реферальная программа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бонус за приведённое кафе; стоимость привлечения — не выше трети цены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42976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75120" y="4288536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Метрики успеха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CAC по каналам и доля органики — вместо объёма трафика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515721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7512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Мониторинг среды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ежемесячно: ставки, действия конкурентов, законодательство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Триггеры пересмотра: рост CPC более 30% за квартал · новые требования к рекламе · выход крупного конкурента (риск №7 недели 5)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ИТОГ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4023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10 / 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Итог занятия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545336"/>
            <a:ext cx="10378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Диагностика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провал — в качестве трафика и несоответствии лендинга, а не в ставках; все пять причин внутренние, сигналы были — порогов реакции не было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61518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587752"/>
            <a:ext cx="10378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Антикризисная стратегия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четыре фазы, правило 10% и стоп-параметры на 72-м часу; в риск-реестр добавлены №8 и №9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3630168"/>
            <a:ext cx="10378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Адаптация к изменениям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центр тяжести привлечения — органика и партнёрства; метрики: CAC по каналам и доля органического прироста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11064240" cy="1051560"/>
          </a:xfrm>
          <a:prstGeom prst="roundRect">
            <a:avLst/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1023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УРОК КЕЙСА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537667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Бюджет не расходуют ради суммы — его тестируют малыми долями с заранее назначенными порогами остановки.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PiConstruct · Практическое занятие №12 · Кейс №4</dc:title>
  <dc:subject>PptxGenJS Presentation</dc:subject>
  <dc:creator>Команда №1</dc:creator>
  <cp:lastModifiedBy>Команда №1</cp:lastModifiedBy>
  <cp:revision>1</cp:revision>
  <dcterms:created xsi:type="dcterms:W3CDTF">2026-10-11T19:07:52Z</dcterms:created>
  <dcterms:modified xsi:type="dcterms:W3CDTF">2026-10-11T19:07:52Z</dcterms:modified>
</cp:coreProperties>
</file>