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defaultTextStyle>
    <a:lvl1pPr marL="0" marR="0" lvl="0" indent="0" algn="l" rtl="0">
      <a:lnSpc>
        <a:spcPct val="100000"/>
      </a:lnSpc>
      <a:spcBef>
        <a:spcPts val="0"/>
      </a:spcBef>
      <a:spcAft>
        <a:spcPts val="0"/>
      </a:spcAft>
      <a:buNone/>
      <a:defRPr sz="1500" b="0" i="0">
        <a:solidFill>
          <a:schemeClr val="tx1"/>
        </a:solidFill>
        <a:latin typeface="+mn-lt"/>
        <a:ea typeface="+mn-ea"/>
        <a:cs typeface="+mn-cs"/>
      </a:defRPr>
    </a:lvl1pPr>
    <a:lvl2pPr marL="0" marR="0" lvl="1" indent="0" algn="l" rtl="0">
      <a:lnSpc>
        <a:spcPct val="100000"/>
      </a:lnSpc>
      <a:spcBef>
        <a:spcPts val="0"/>
      </a:spcBef>
      <a:spcAft>
        <a:spcPts val="0"/>
      </a:spcAft>
      <a:buNone/>
      <a:defRPr sz="1575" b="0" i="0">
        <a:solidFill>
          <a:schemeClr val="tx1"/>
        </a:solidFill>
        <a:latin typeface="+mn-lt"/>
        <a:ea typeface="+mn-ea"/>
        <a:cs typeface="+mn-cs"/>
      </a:defRPr>
    </a:lvl2pPr>
    <a:lvl3pPr marL="0" marR="0" lvl="2" indent="0" algn="l" rtl="0">
      <a:lnSpc>
        <a:spcPct val="100000"/>
      </a:lnSpc>
      <a:spcBef>
        <a:spcPts val="0"/>
      </a:spcBef>
      <a:spcAft>
        <a:spcPts val="0"/>
      </a:spcAft>
      <a:buNone/>
      <a:defRPr sz="1425" b="0" i="0">
        <a:solidFill>
          <a:schemeClr val="tx2"/>
        </a:solidFill>
        <a:latin typeface="+mn-lt"/>
        <a:ea typeface="+mn-ea"/>
        <a:cs typeface="+mn-cs"/>
      </a:defRPr>
    </a:lvl3pPr>
    <a:lvl4pPr marL="0" marR="0" lvl="3" indent="0" algn="l" rtl="0">
      <a:lnSpc>
        <a:spcPct val="100000"/>
      </a:lnSpc>
      <a:spcBef>
        <a:spcPts val="0"/>
      </a:spcBef>
      <a:spcAft>
        <a:spcPts val="0"/>
      </a:spcAft>
      <a:buNone/>
      <a:defRPr sz="1275" b="0" i="0">
        <a:solidFill>
          <a:schemeClr val="accent3"/>
        </a:solidFill>
        <a:latin typeface="+mn-lt"/>
        <a:ea typeface="+mn-ea"/>
        <a:cs typeface="+mn-cs"/>
      </a:defRPr>
    </a:lvl4pPr>
    <a:lvl5pPr marL="0" marR="0" lvl="4" indent="0" algn="l" rtl="0">
      <a:lnSpc>
        <a:spcPct val="100000"/>
      </a:lnSpc>
      <a:spcBef>
        <a:spcPts val="0"/>
      </a:spcBef>
      <a:spcAft>
        <a:spcPts val="0"/>
      </a:spcAft>
      <a:buNone/>
      <a:defRPr sz="1650" b="0" i="0">
        <a:solidFill>
          <a:schemeClr val="accent1"/>
        </a:solidFill>
        <a:latin typeface="+mn-lt"/>
        <a:ea typeface="+mn-ea"/>
        <a:cs typeface="+mn-cs"/>
      </a:defRPr>
    </a:lvl5pPr>
    <a:lvl6pPr marL="0" marR="0" lvl="5" indent="0" algn="l" rtl="0">
      <a:lnSpc>
        <a:spcPct val="100000"/>
      </a:lnSpc>
      <a:spcBef>
        <a:spcPts val="0"/>
      </a:spcBef>
      <a:spcAft>
        <a:spcPts val="0"/>
      </a:spcAft>
      <a:buNone/>
      <a:defRPr sz="1237" b="0" i="0">
        <a:solidFill>
          <a:schemeClr val="tx2"/>
        </a:solidFill>
        <a:latin typeface="+mn-lt"/>
        <a:ea typeface="+mn-ea"/>
        <a:cs typeface="+mn-cs"/>
      </a:defRPr>
    </a:lvl6pPr>
    <a:lvl7pPr marL="0" marR="0" lvl="6" indent="0" algn="l" rtl="0">
      <a:lnSpc>
        <a:spcPct val="100000"/>
      </a:lnSpc>
      <a:spcBef>
        <a:spcPts val="0"/>
      </a:spcBef>
      <a:spcAft>
        <a:spcPts val="0"/>
      </a:spcAft>
      <a:buNone/>
      <a:defRPr sz="1950" b="1" i="0">
        <a:solidFill>
          <a:schemeClr val="tx1"/>
        </a:solidFill>
        <a:latin typeface="+mn-lt"/>
        <a:ea typeface="+mn-ea"/>
        <a:cs typeface="+mn-cs"/>
      </a:defRPr>
    </a:lvl7pPr>
    <a:lvl8pPr marL="0" marR="0" lvl="7" indent="0" algn="l" rtl="0">
      <a:lnSpc>
        <a:spcPct val="100000"/>
      </a:lnSpc>
      <a:spcBef>
        <a:spcPts val="0"/>
      </a:spcBef>
      <a:spcAft>
        <a:spcPts val="0"/>
      </a:spcAft>
      <a:buNone/>
      <a:defRPr sz="2250" b="1" i="0">
        <a:solidFill>
          <a:schemeClr val="tx1"/>
        </a:solidFill>
        <a:latin typeface="+mn-lt"/>
        <a:ea typeface="+mn-ea"/>
        <a:cs typeface="+mn-cs"/>
      </a:defRPr>
    </a:lvl8pPr>
    <a:lvl9pPr marL="0" marR="0" lvl="8" indent="0" algn="l" rtl="0">
      <a:lnSpc>
        <a:spcPct val="100000"/>
      </a:lnSpc>
      <a:spcBef>
        <a:spcPts val="0"/>
      </a:spcBef>
      <a:spcAft>
        <a:spcPts val="0"/>
      </a:spcAft>
      <a:buNone/>
      <a:defRPr sz="1350" b="0" i="0">
        <a:solidFill>
          <a:schemeClr val="tx2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11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E6D79F-23E2-48C5-ABEF-1909FC991E8A}">
  <a:tblStyle styleId="{84E6D79F-23E2-48C5-ABEF-1909FC991E8A}" styleName="Table_0">
    <a:wholeTbl>
      <a:tcTxStyle b="off" i="off">
        <a:font>
          <a:latin typeface="Rubik"/>
          <a:ea typeface="Rubik"/>
          <a:cs typeface="Rubik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Rubik"/>
          <a:ea typeface="Rubik"/>
          <a:cs typeface="Rubik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Rubik"/>
          <a:ea typeface="Rubik"/>
          <a:cs typeface="Rubik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Rubik"/>
          <a:ea typeface="Rubik"/>
          <a:cs typeface="Rubik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Rubik"/>
          <a:ea typeface="Rubik"/>
          <a:cs typeface="Rubik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72" autoAdjust="0"/>
  </p:normalViewPr>
  <p:slideViewPr>
    <p:cSldViewPr snapToGrid="0">
      <p:cViewPr varScale="1">
        <p:scale>
          <a:sx n="101" d="100"/>
          <a:sy n="101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 И Т Ч - Д Е К · С Т А Р Т А П В И Т · Р Т У М И Р Э 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Цифровые табло для малого бизнеса.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Запускаем цифровое табло за 15 минут — без IT-специалиста,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интернета и подписки.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132K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выручка за 12 мес.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(базовый сценарий)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83%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валовая маржа,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прибыльны с 1-го месяца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 мин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задумки до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работающего табло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Команда №1 · ЭФБО-04-23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Овчаренко К.С. · Миняев Т.А. · Паркаев И.Д. · Савельев С.И. · Валянский А.М.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Преподаватель: Адышкин С.С. · ИПТИП РТУ МИРЭА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MVP уже работает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веб-конструктор табло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6" name="Google Shape;116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2 · П Р О Б Л Е М 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Малый бизнес застрял в эпохе бумажных меню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Три боли, которые мы слышим от владельцев кафе и мини-магазинов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1–3 дня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ожидания типографии при каждой смене цен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2–5 тыс ₽/мес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расходы на перепечатку меню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 минуты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обновление табло с PiConstruct — с телефона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на типографию после разовой покупки PRO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Печатные меню устаревают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Смена цен = перепечатка. Владелец ждёт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типографию 1–3 дня и платит за каждый тираж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заново.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−2 000–5 000 ₽/мес на типографию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Облачные табло — дорого и сложно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Yodeck, Screenly, PiSignage требуют интернет,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подписку и регистрацию. Порог входа для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владельца кафе слишком высок.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225 ₽/экран/мес — и это навсегда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Open-source — не для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нетехнических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Anthias / Screenly OSE: нужен Linux, командная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строка и часы настроек. Нереально для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владельца кофейни.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порог входа: «позовите айтишника»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3 · К Л И Е Н 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Кто покупает и зачем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Портрет покупателя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Бизнес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кафе / столовая / кофейня / мини-магазин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Размер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1–3 точки, штат до 15 человек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ЛПР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владелец или управляющий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IT-уровень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смартфон — да, Linux — нет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Бюджет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 15 000 ₽ разово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Боль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меню устаревает, облако дорого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ЛПР принимает решение сам, без корпоративных закупок — значит, продажа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короткая: показал на встрече → получил оплату.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Обновить меню быстро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Изменил цену — вижу это на табло через 2 минуты, а не через 3 дня.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зависеть от интернета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Табло работает всегда, где бы ни находился бизнес — контент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живёт на SD-карте.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Запустить без программиста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Нет денег на интегратора. Хочу сам, с телефона, за один вечер.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4 · Р Е Ш Е Н И Е / M V 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задумки до работающего табло за 15 минут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 Веб-конструктор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 Генерация .img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 Автозапуск на Raspberry 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 Wi-Fi-редактирование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AI-генератор контента — roadmap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Конструктор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Выбор шаблона, ввод контента на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сайте, живой предпросмотр.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Загрузка образа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Сайт собирает .img-файл с контентом: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&lt;5 ГБ, меньше 5 минут.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Запись на SD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Raspberry Pi Imager — одна кнопка,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никаких командных строк.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Включение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Автозапуск на весь экран.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Редактирование с телефона по Wi-Fi 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без интернета.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5 · Р Ы Н О 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TAM / SAM / SOM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890K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точек МСП в РФ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→89 000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целевых точек SAM (без IT-ресурсов)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→~270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клиентов SOM за 3 года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→~24 млн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выручка за 3 года при LTV 90 000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 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 млн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Весь рынок цифровых табло РФ: все отрасли 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HoReCa, образование, офисы.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Допущение команды на основе 890K точек МСП в РФ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 A 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 млн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МСБ без IT-ресурсов: кафе, небольшие магазины,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малые офисы.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89 000 точек × средний LTV 90 000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 O 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350 тыс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Малые кафе и столовые с 1–3 точками. Реально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достижимо за 3 года.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~270 клиентов × LTV ~90 000 ₽ · конверсия 0,03% SAM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05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6 · К О Н К У Р Е Н Т 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Мы дешевле, проще и работаем без интернета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Единственное решение, которое работает офлайн «из коробки» и не требует подписки. Цена входа — разовая и в 3–10× ниже годовой подписки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конкурентов.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Решение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Цена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Интернет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Настройка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Офлайн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Yodeck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600 ₽/экр/мес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нужен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средняя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✗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Screenly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1 275 ₽/экр/мес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нужен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средняя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✗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PiSignage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 225 ₽/экр/мес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нужен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средняя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✗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★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2 499 ₽ разово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опционально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низкая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 основной функционал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06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7 · Б И З Н Е С - М О Д Е Л 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Гибридная монетизация: разовая покупка +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подписка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BASIC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навсегда бесплатно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 образ ОС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базовых шаблона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Предпросмотр на сайте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Wi-Fi-редактирование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AI-контент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2 499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разовая покупка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ХИТ ПРОДАЖ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Все шаблоны + индивидуальные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Неограниченное число образов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Локальное редактирование по Wi-Fi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Расширенная загрузка медиа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AI-контент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AI+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499 ₽/мес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подписка, требует PRO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AI-генератор контента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Автообновление по расписанию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Облачная синхронизация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Приоритетная поддержка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Будущие AI-фичи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07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8 · G O - T O - M A R K E T / Р О С 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Петля роста: Basic → PRO → реферал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0–3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VK / Telegram-сообщества общепита: 30 контактов, reply ≥ 15%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0–3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2GIS / Яндекс Карты — персонализированные письма по кафе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3–6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Кейсы первых клиентов → контент-петля → входящие лиды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3–6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Реферальный оффер: +1 мес AI+ за приведённого друга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6–12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SEO: «шаблон меню для кафе» → органический трафик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Снизить CAC до минимума: продукт «продаёт себя» через WOW-эффект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①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Бесплатный Basic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Владелец пробует конструктор без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риска и оплаты.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②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WOW-эффект за 15 минут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Табло уже показывает меню —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ценность увидена.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③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Апгрейд в PRO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2 499 ₽ разово — за Wi-Fi и все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шаблоны.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④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Реферал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Владелец советует знакомому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кафе.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⑤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Новый Basic → PRO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Петля замыкается и ускоряется.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08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8" name="Google Shape;398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 9 · Т Р Е К Ш Н / В А Л И Д А Ц И 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Что уже подтверждено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Конкурентный анализ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 основных конкурента: Yodeck, Screenly, PiSignage, Anthias — ни один не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работает офлайн «из коробки».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готово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Ценовой тест (sales test)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 контактов из общепита, проверена готовность платить 2 499 ₽ разово.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готово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Финансовая модель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Базовый сценарий: 132 000 ₽ за 12 мес., маржа 83%, прибыльны с первого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месяца.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готово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✓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MVP-функционал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Веб-конструктор, генерация .img, автозапуск RPi, Wi-Fi-редактирование.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 работе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контактов в sales test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83%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валовая маржа (базовый сценарий)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кафе Москвы — первые установки (план)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200+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уников/мес из SEO к 6-му месяцу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План проверки →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реальных клиента с кейсами · ≥5 реферальных покупок за 2 мес. · NPS ≥ 8 от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владельцев активных табло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09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6" name="Google Shape;446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 0 · Ф И Н А Н С О В Ы Й П Л А 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Три сценария на 12 месяцев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КОНСЕРВАТИВНЫЙ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67 000 ₽ / 12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Прибыль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46 000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Маржа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57%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Покупатели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~22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рост пользователей −10%/мес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БАЗОВЫЙ ★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132 000 ₽ / 12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Прибыль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108 000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Маржа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83,3%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Покупатели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~45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принят как рабочий план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ОПТИМИСТИЧНЫЙ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272 000 ₽ / 12 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Прибыль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242 000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Маржа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≈ 100%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Покупатели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~79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рост пользователей +10%/мес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Допущения модели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Средний чек PRO 2 499 ₽ · подписка AI+ 499 ₽/мес · себестоимость SD-карты и Raspberry Pi учтена · маркетинг на старте — низкобюджетные каналы (сообщества, карты, SEO) ·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оценка проекта: 1,0–6,8 млн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0" name="Google Shape;490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 1 · К О М А Н Д 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Пять человек, которые это сделают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СС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Савельев С.И.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Тимлид · Дизайнер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Продукт, шаблоны, UX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конструктора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Овчаренко К.С.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Архитектор · Разработчик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Генерация .img, веб-платформа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Валянский А.М.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Разработчик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Wi-Fi-редактирование, прошивки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Миняев Т.А.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Маркетолог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Каналы, sales test, сообщества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Паркаев И.Д.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Аналитик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Метрики, финмодель, юнит-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экономика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 семестра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работаем над проектом вместе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 человек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полный цикл: продукт, код, маркетинг, аналитика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MVP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построен полностью своими силами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v1.0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цель на инвестиции: публичный запуск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6" name="Google Shape;536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 2 · И Н В Е С Т И Ц И О Н Н Ы Й О Ф Ф Е 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Ищем 250 000 ₽ на 6–9 месяцев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 Ф Ф Е Р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250 000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конвертируемый займ / ресурсная поддержка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Стадия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Pre-Seed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Оценка pre-money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750 000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Горизонт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6–9 месяцев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Доля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обсуждается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40% · 100 000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Разработка (MVP → v1.0)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25% · 62 500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Маркетинг и sales test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20% · 50 000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Инфраструктура (VPS, домен)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15% · 37 500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Операционные расходы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8" name="Google Shape;578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 3 · Э Т А П Ы И К О Н Т А К Т 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Что будет сделано на инвестиции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Запустим табло в каждом кафе без IT-отдела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Команда №1 · ЭФБО-04-23 · РТУ МИРЭА, ИПТИП · Овчаренко К.С. · Миняев Т.А. · Паркаев И.Д. · Савельев С.И. · Валянский А.М.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— питч 2025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МЕС 1–2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≥ 1 оплата PRO — первые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платящие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Reply ≥ 15% в каналах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привлечения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Доработка конструктора до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версии v1.0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МЕС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≥ 3 платящих клиента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MVP в публичном доступе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Запуск реферальной программы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МЕС 4–5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2–3 кейса клиентов с фото 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цифрами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NPS ≥ 8 от владельцев табло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Контент-петля: кейсы → лиды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МЕС 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MRR ≥ 3 992 ₽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≥ 8 платящих пользователей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Готовность к следующему раунду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◆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PiConstruct · питч-дек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13 / 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11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0" marR="0" lvl="0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4800" b="1" i="0">
          <a:solidFill>
            <a:schemeClr val="tx1"/>
          </a:solidFill>
          <a:latin typeface="+mn-lt"/>
          <a:ea typeface="+mn-ea"/>
          <a:cs typeface="+mn-cs"/>
        </a:defRPr>
      </a:lvl1pPr>
      <a:lvl2pPr marL="0" marR="0" lvl="1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3200" b="1" i="0">
          <a:solidFill>
            <a:schemeClr val="tx1"/>
          </a:solidFill>
          <a:latin typeface="+mn-lt"/>
          <a:ea typeface="+mn-ea"/>
          <a:cs typeface="+mn-cs"/>
        </a:defRPr>
      </a:lvl2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0" marR="0" lvl="0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575" b="0" i="0">
          <a:solidFill>
            <a:schemeClr val="tx2"/>
          </a:solidFill>
          <a:latin typeface="+mn-lt"/>
          <a:ea typeface="+mn-ea"/>
          <a:cs typeface="+mn-cs"/>
        </a:defRPr>
      </a:lvl1pPr>
      <a:lvl2pPr marL="0" marR="0" lvl="1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500" b="0" i="0">
          <a:solidFill>
            <a:schemeClr val="tx2"/>
          </a:solidFill>
          <a:latin typeface="+mn-lt"/>
          <a:ea typeface="+mn-ea"/>
          <a:cs typeface="+mn-cs"/>
        </a:defRPr>
      </a:lvl2pPr>
      <a:lvl3pPr marL="0" marR="0" lvl="2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275" b="0" i="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0" marR="0" lvl="0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500" b="0" i="0">
          <a:solidFill>
            <a:schemeClr val="tx1"/>
          </a:solidFill>
          <a:latin typeface="+mn-lt"/>
          <a:ea typeface="+mn-ea"/>
          <a:cs typeface="+mn-cs"/>
        </a:defRPr>
      </a:lvl1pPr>
      <a:lvl2pPr marL="0" marR="0" lvl="1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575" b="0" i="0">
          <a:solidFill>
            <a:schemeClr val="tx1"/>
          </a:solidFill>
          <a:latin typeface="+mn-lt"/>
          <a:ea typeface="+mn-ea"/>
          <a:cs typeface="+mn-cs"/>
        </a:defRPr>
      </a:lvl2pPr>
      <a:lvl3pPr marL="0" marR="0" lvl="2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425" b="0" i="0">
          <a:solidFill>
            <a:schemeClr val="tx2"/>
          </a:solidFill>
          <a:latin typeface="+mn-lt"/>
          <a:ea typeface="+mn-ea"/>
          <a:cs typeface="+mn-cs"/>
        </a:defRPr>
      </a:lvl3pPr>
      <a:lvl4pPr marL="0" marR="0" lvl="3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275" b="0" i="0">
          <a:solidFill>
            <a:schemeClr val="accent3"/>
          </a:solidFill>
          <a:latin typeface="+mn-lt"/>
          <a:ea typeface="+mn-ea"/>
          <a:cs typeface="+mn-cs"/>
        </a:defRPr>
      </a:lvl4pPr>
      <a:lvl5pPr marL="0" marR="0" lvl="4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650" b="0" i="0">
          <a:solidFill>
            <a:schemeClr val="accent1"/>
          </a:solidFill>
          <a:latin typeface="+mn-lt"/>
          <a:ea typeface="+mn-ea"/>
          <a:cs typeface="+mn-cs"/>
        </a:defRPr>
      </a:lvl5pPr>
      <a:lvl6pPr marL="0" marR="0" lvl="5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237" b="0" i="0">
          <a:solidFill>
            <a:schemeClr val="tx2"/>
          </a:solidFill>
          <a:latin typeface="+mn-lt"/>
          <a:ea typeface="+mn-ea"/>
          <a:cs typeface="+mn-cs"/>
        </a:defRPr>
      </a:lvl6pPr>
      <a:lvl7pPr marL="0" marR="0" lvl="6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950" b="1" i="0">
          <a:solidFill>
            <a:schemeClr val="tx1"/>
          </a:solidFill>
          <a:latin typeface="+mn-lt"/>
          <a:ea typeface="+mn-ea"/>
          <a:cs typeface="+mn-cs"/>
        </a:defRPr>
      </a:lvl7pPr>
      <a:lvl8pPr marL="0" marR="0" lvl="7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2250" b="1" i="0">
          <a:solidFill>
            <a:schemeClr val="tx1"/>
          </a:solidFill>
          <a:latin typeface="+mn-lt"/>
          <a:ea typeface="+mn-ea"/>
          <a:cs typeface="+mn-cs"/>
        </a:defRPr>
      </a:lvl8pPr>
      <a:lvl9pPr marL="0" marR="0" lvl="8" indent="0" algn="l" rtl="0">
        <a:lnSpc>
          <a:spcPct val="100000"/>
        </a:lnSpc>
        <a:spcBef>
          <a:spcPts val="0"/>
        </a:spcBef>
        <a:spcAft>
          <a:spcPts val="0"/>
        </a:spcAft>
        <a:buNone/>
        <a:defRPr sz="1350" b="0" i="0">
          <a:solidFill>
            <a:schemeClr val="tx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/>
          <p:nvPr/>
        </p:nvSpPr>
        <p:spPr>
          <a:xfrm>
            <a:off x="857250" y="5221080"/>
            <a:ext cx="2660650" cy="1447803"/>
          </a:xfrm>
          <a:prstGeom prst="roundRect">
            <a:avLst>
              <a:gd name="adj" fmla="val 11860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3727450" y="5221080"/>
            <a:ext cx="2660650" cy="1447803"/>
          </a:xfrm>
          <a:prstGeom prst="roundRect">
            <a:avLst>
              <a:gd name="adj" fmla="val 11860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6597650" y="5221080"/>
            <a:ext cx="2660650" cy="1447803"/>
          </a:xfrm>
          <a:prstGeom prst="roundRect">
            <a:avLst>
              <a:gd name="adj" fmla="val 11860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9963150" y="9009980"/>
            <a:ext cx="1756800" cy="0"/>
          </a:xfrm>
          <a:prstGeom prst="rect">
            <a:avLst/>
          </a:prstGeom>
          <a:solidFill>
            <a:srgbClr val="1E8D6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9734550" y="2762585"/>
            <a:ext cx="7791450" cy="4761829"/>
          </a:xfrm>
          <a:prstGeom prst="roundRect">
            <a:avLst>
              <a:gd name="adj" fmla="val 6400"/>
            </a:avLst>
          </a:prstGeom>
          <a:solidFill>
            <a:srgbClr val="2BDD93">
              <a:alpha val="588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pic>
        <p:nvPicPr>
          <p:cNvPr id="92" name="Google Shape;92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39325" y="2867360"/>
            <a:ext cx="7581900" cy="455227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/>
          <p:nvPr/>
        </p:nvSpPr>
        <p:spPr>
          <a:xfrm>
            <a:off x="857250" y="2395584"/>
            <a:ext cx="7290300" cy="2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П И Т Ч - Д Е К · С Т А Р Т А П  В  И Т · Р Т У  М И Р Э А</a:t>
            </a:r>
            <a:endParaRPr>
              <a:latin typeface="Arial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857250" y="2753722"/>
            <a:ext cx="4731410" cy="959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00" b="1" i="0" u="none" strike="noStrike" cap="none" dirty="0" err="1">
                <a:solidFill>
                  <a:schemeClr val="tx1"/>
                </a:solidFill>
              </a:rPr>
              <a:t>PiConstruct</a:t>
            </a:r>
            <a:endParaRPr dirty="0">
              <a:latin typeface="Arial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857250" y="3717345"/>
            <a:ext cx="4749583" cy="34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0" i="0" u="none" strike="noStrike" cap="none">
                <a:solidFill>
                  <a:schemeClr val="tx2"/>
                </a:solidFill>
              </a:rPr>
              <a:t>Цифровые табло для малого бизнеса.</a:t>
            </a:r>
            <a:endParaRPr>
              <a:latin typeface="Arial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857250" y="4090249"/>
            <a:ext cx="7865530" cy="34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0" i="0" u="none" strike="noStrike" cap="none">
                <a:solidFill>
                  <a:schemeClr val="tx2"/>
                </a:solidFill>
              </a:rPr>
              <a:t>Запускаем цифровое табло за </a:t>
            </a:r>
            <a:r>
              <a:rPr lang="en-US" sz="2025" b="1" i="0" u="none" strike="noStrike" cap="none">
                <a:solidFill>
                  <a:schemeClr val="tx1"/>
                </a:solidFill>
              </a:rPr>
              <a:t>15 минут</a:t>
            </a:r>
            <a:r>
              <a:rPr lang="en-US" sz="2025" b="0" i="0" u="none" strike="noStrike" cap="none">
                <a:solidFill>
                  <a:schemeClr val="tx2"/>
                </a:solidFill>
              </a:rPr>
              <a:t> — без IT-специалиста,</a:t>
            </a:r>
            <a:endParaRPr>
              <a:latin typeface="Arial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857250" y="4463153"/>
            <a:ext cx="2939586" cy="34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0" i="0" u="none" strike="noStrike" cap="none">
                <a:solidFill>
                  <a:schemeClr val="tx2"/>
                </a:solidFill>
              </a:rPr>
              <a:t>интернета и подписки.</a:t>
            </a:r>
            <a:endParaRPr>
              <a:latin typeface="Arial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114425" y="5459209"/>
            <a:ext cx="142951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chemeClr val="accent1"/>
                </a:solidFill>
              </a:rPr>
              <a:t>132K </a:t>
            </a:r>
            <a:r>
              <a:rPr lang="en-US" sz="300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1114425" y="5981989"/>
            <a:ext cx="1600561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выручка за 12 мес.</a:t>
            </a:r>
            <a:endParaRPr>
              <a:latin typeface="Arial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14425" y="6213447"/>
            <a:ext cx="1743551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(базовый сценарий)</a:t>
            </a:r>
            <a:endParaRPr>
              <a:latin typeface="Arial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3984625" y="5459209"/>
            <a:ext cx="923544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chemeClr val="accent1"/>
                </a:solidFill>
              </a:rPr>
              <a:t>83%</a:t>
            </a:r>
            <a:endParaRPr>
              <a:latin typeface="Arial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3984625" y="5981989"/>
            <a:ext cx="1379220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валовая маржа,</a:t>
            </a:r>
            <a:endParaRPr>
              <a:latin typeface="Arial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3984625" y="6213447"/>
            <a:ext cx="2165316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прибыльны с 1-го месяца</a:t>
            </a:r>
            <a:endParaRPr>
              <a:latin typeface="Arial"/>
            </a:endParaRPr>
          </a:p>
        </p:txBody>
      </p:sp>
      <p:sp>
        <p:nvSpPr>
          <p:cNvPr id="104" name="Google Shape;104;p13"/>
          <p:cNvSpPr txBox="1"/>
          <p:nvPr/>
        </p:nvSpPr>
        <p:spPr>
          <a:xfrm>
            <a:off x="6854825" y="5459209"/>
            <a:ext cx="1393316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chemeClr val="accent1"/>
                </a:solidFill>
              </a:rPr>
              <a:t>15 мин</a:t>
            </a:r>
            <a:endParaRPr>
              <a:latin typeface="Arial"/>
            </a:endParaRPr>
          </a:p>
        </p:txBody>
      </p:sp>
      <p:sp>
        <p:nvSpPr>
          <p:cNvPr id="105" name="Google Shape;105;p13"/>
          <p:cNvSpPr txBox="1"/>
          <p:nvPr/>
        </p:nvSpPr>
        <p:spPr>
          <a:xfrm>
            <a:off x="6854825" y="5981989"/>
            <a:ext cx="1240173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от задумки до</a:t>
            </a:r>
            <a:endParaRPr>
              <a:latin typeface="Arial"/>
            </a:endParaRPr>
          </a:p>
        </p:txBody>
      </p:sp>
      <p:sp>
        <p:nvSpPr>
          <p:cNvPr id="106" name="Google Shape;106;p13"/>
          <p:cNvSpPr txBox="1"/>
          <p:nvPr/>
        </p:nvSpPr>
        <p:spPr>
          <a:xfrm>
            <a:off x="6854825" y="6213447"/>
            <a:ext cx="1717490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работающего табло</a:t>
            </a:r>
            <a:endParaRPr>
              <a:latin typeface="Arial"/>
            </a:endParaRPr>
          </a:p>
        </p:txBody>
      </p:sp>
      <p:sp>
        <p:nvSpPr>
          <p:cNvPr id="107" name="Google Shape;107;p13"/>
          <p:cNvSpPr txBox="1"/>
          <p:nvPr/>
        </p:nvSpPr>
        <p:spPr>
          <a:xfrm>
            <a:off x="857250" y="7082910"/>
            <a:ext cx="2431952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 dirty="0" err="1">
                <a:solidFill>
                  <a:schemeClr val="tx2"/>
                </a:solidFill>
              </a:rPr>
              <a:t>Команда</a:t>
            </a:r>
            <a:r>
              <a:rPr lang="en-US" u="none" strike="noStrike" cap="none" dirty="0">
                <a:solidFill>
                  <a:schemeClr val="tx2"/>
                </a:solidFill>
              </a:rPr>
              <a:t> №1 ЭФБО-04-23</a:t>
            </a:r>
            <a:endParaRPr dirty="0">
              <a:latin typeface="Arial"/>
            </a:endParaRPr>
          </a:p>
        </p:txBody>
      </p:sp>
      <p:sp>
        <p:nvSpPr>
          <p:cNvPr id="108" name="Google Shape;108;p13"/>
          <p:cNvSpPr txBox="1"/>
          <p:nvPr/>
        </p:nvSpPr>
        <p:spPr>
          <a:xfrm>
            <a:off x="857250" y="7363422"/>
            <a:ext cx="6706944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 dirty="0" err="1">
                <a:solidFill>
                  <a:schemeClr val="tx2"/>
                </a:solidFill>
              </a:rPr>
              <a:t>Овчаренко</a:t>
            </a:r>
            <a:r>
              <a:rPr lang="en-US" u="none" strike="noStrike" cap="none" dirty="0">
                <a:solidFill>
                  <a:schemeClr val="tx2"/>
                </a:solidFill>
              </a:rPr>
              <a:t> К.С.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Миняев</a:t>
            </a:r>
            <a:r>
              <a:rPr lang="en-US" u="none" strike="noStrike" cap="none" dirty="0">
                <a:solidFill>
                  <a:schemeClr val="tx2"/>
                </a:solidFill>
              </a:rPr>
              <a:t> Т.А.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Паркаев</a:t>
            </a:r>
            <a:r>
              <a:rPr lang="en-US" u="none" strike="noStrike" cap="none" dirty="0">
                <a:solidFill>
                  <a:schemeClr val="tx2"/>
                </a:solidFill>
              </a:rPr>
              <a:t> И.Д.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Савельев</a:t>
            </a:r>
            <a:r>
              <a:rPr lang="en-US" u="none" strike="noStrike" cap="none" dirty="0">
                <a:solidFill>
                  <a:schemeClr val="tx2"/>
                </a:solidFill>
              </a:rPr>
              <a:t> С.И.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Валянский</a:t>
            </a:r>
            <a:r>
              <a:rPr lang="en-US" u="none" strike="noStrike" cap="none" dirty="0">
                <a:solidFill>
                  <a:schemeClr val="tx2"/>
                </a:solidFill>
              </a:rPr>
              <a:t> А.М.</a:t>
            </a:r>
            <a:endParaRPr dirty="0">
              <a:latin typeface="Arial"/>
            </a:endParaRPr>
          </a:p>
        </p:txBody>
      </p:sp>
      <p:sp>
        <p:nvSpPr>
          <p:cNvPr id="109" name="Google Shape;109;p13"/>
          <p:cNvSpPr txBox="1"/>
          <p:nvPr/>
        </p:nvSpPr>
        <p:spPr>
          <a:xfrm>
            <a:off x="857250" y="7643933"/>
            <a:ext cx="4581753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 dirty="0" err="1">
                <a:solidFill>
                  <a:schemeClr val="tx2"/>
                </a:solidFill>
              </a:rPr>
              <a:t>Преподаватель</a:t>
            </a:r>
            <a:r>
              <a:rPr lang="en-US" u="none" strike="noStrike" cap="none" dirty="0">
                <a:solidFill>
                  <a:schemeClr val="tx2"/>
                </a:solidFill>
              </a:rPr>
              <a:t>: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Адышкин</a:t>
            </a:r>
            <a:r>
              <a:rPr lang="en-US" u="none" strike="noStrike" cap="none" dirty="0">
                <a:solidFill>
                  <a:schemeClr val="tx2"/>
                </a:solidFill>
              </a:rPr>
              <a:t> С.С. ИПТИП РТУ МИРЭА </a:t>
            </a:r>
            <a:endParaRPr dirty="0">
              <a:latin typeface="Arial"/>
            </a:endParaRPr>
          </a:p>
        </p:txBody>
      </p:sp>
      <p:sp>
        <p:nvSpPr>
          <p:cNvPr id="111" name="Google Shape;111;p13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112" name="Google Shape;112;p13"/>
          <p:cNvSpPr txBox="1"/>
          <p:nvPr/>
        </p:nvSpPr>
        <p:spPr>
          <a:xfrm>
            <a:off x="16916000" y="9771268"/>
            <a:ext cx="590956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01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4"/>
          <p:cNvSpPr/>
          <p:nvPr/>
        </p:nvSpPr>
        <p:spPr>
          <a:xfrm>
            <a:off x="857250" y="6957511"/>
            <a:ext cx="16573500" cy="1065131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857250" y="3892182"/>
            <a:ext cx="5346700" cy="2779579"/>
          </a:xfrm>
          <a:prstGeom prst="roundRect">
            <a:avLst>
              <a:gd name="adj" fmla="val 686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6470650" y="3892182"/>
            <a:ext cx="5346700" cy="2779579"/>
          </a:xfrm>
          <a:prstGeom prst="roundRect">
            <a:avLst>
              <a:gd name="adj" fmla="val 686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12084050" y="3892182"/>
            <a:ext cx="5346700" cy="2779579"/>
          </a:xfrm>
          <a:prstGeom prst="roundRect">
            <a:avLst>
              <a:gd name="adj" fmla="val 686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857250" y="666752"/>
            <a:ext cx="2766598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2  · </a:t>
            </a:r>
            <a:r>
              <a:rPr lang="en-US" b="1" u="none" strike="noStrike" cap="none">
                <a:solidFill>
                  <a:schemeClr val="accent1"/>
                </a:solidFill>
              </a:rPr>
              <a:t> П Р О Б Л Е М А</a:t>
            </a:r>
            <a:endParaRPr>
              <a:latin typeface="Arial"/>
            </a:endParaRPr>
          </a:p>
        </p:txBody>
      </p:sp>
      <p:sp>
        <p:nvSpPr>
          <p:cNvPr id="125" name="Google Shape;125;p14"/>
          <p:cNvSpPr txBox="1"/>
          <p:nvPr/>
        </p:nvSpPr>
        <p:spPr>
          <a:xfrm>
            <a:off x="857250" y="1028606"/>
            <a:ext cx="15452739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Малый бизнес застрял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в эпохе бумажных меню</a:t>
            </a:r>
            <a:endParaRPr>
              <a:latin typeface="Arial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857250" y="1860498"/>
            <a:ext cx="8747879" cy="34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0" i="0" u="none" strike="noStrike" cap="none">
                <a:solidFill>
                  <a:schemeClr val="tx2"/>
                </a:solidFill>
              </a:rPr>
              <a:t>Три боли, которые мы слышим от владельцев кафе и мини-магазинов</a:t>
            </a:r>
            <a:endParaRPr>
              <a:latin typeface="Arial"/>
            </a:endParaRPr>
          </a:p>
        </p:txBody>
      </p:sp>
      <p:sp>
        <p:nvSpPr>
          <p:cNvPr id="127" name="Google Shape;127;p14"/>
          <p:cNvSpPr txBox="1"/>
          <p:nvPr/>
        </p:nvSpPr>
        <p:spPr>
          <a:xfrm>
            <a:off x="1152525" y="7195634"/>
            <a:ext cx="1199197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2"/>
                </a:solidFill>
              </a:rPr>
              <a:t>1–3 дня</a:t>
            </a:r>
            <a:endParaRPr>
              <a:latin typeface="Arial"/>
            </a:endParaRPr>
          </a:p>
        </p:txBody>
      </p:sp>
      <p:sp>
        <p:nvSpPr>
          <p:cNvPr id="128" name="Google Shape;128;p14"/>
          <p:cNvSpPr txBox="1"/>
          <p:nvPr/>
        </p:nvSpPr>
        <p:spPr>
          <a:xfrm>
            <a:off x="1152525" y="7585315"/>
            <a:ext cx="3555620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ожидания типографии при каждой смене цен</a:t>
            </a:r>
            <a:endParaRPr>
              <a:latin typeface="Arial"/>
            </a:endParaRPr>
          </a:p>
        </p:txBody>
      </p:sp>
      <p:sp>
        <p:nvSpPr>
          <p:cNvPr id="129" name="Google Shape;129;p14"/>
          <p:cNvSpPr txBox="1"/>
          <p:nvPr/>
        </p:nvSpPr>
        <p:spPr>
          <a:xfrm>
            <a:off x="5191125" y="7195634"/>
            <a:ext cx="2252471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2"/>
                </a:solidFill>
              </a:rPr>
              <a:t>2–5 тыс </a:t>
            </a:r>
            <a:r>
              <a:rPr lang="en-US" u="none" strike="noStrike" cap="none">
                <a:solidFill>
                  <a:schemeClr val="accent2"/>
                </a:solidFill>
                <a:latin typeface="Arial"/>
                <a:sym typeface="Arial"/>
              </a:rPr>
              <a:t>₽</a:t>
            </a:r>
            <a:r>
              <a:rPr lang="en-US" u="none" strike="noStrike" cap="none">
                <a:solidFill>
                  <a:schemeClr val="accent2"/>
                </a:solidFill>
              </a:rPr>
              <a:t>/мес</a:t>
            </a:r>
            <a:endParaRPr>
              <a:latin typeface="Arial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5191125" y="7585315"/>
            <a:ext cx="2405661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расходы на перепечатку меню</a:t>
            </a:r>
            <a:endParaRPr>
              <a:latin typeface="Arial"/>
            </a:endParaRPr>
          </a:p>
        </p:txBody>
      </p:sp>
      <p:sp>
        <p:nvSpPr>
          <p:cNvPr id="131" name="Google Shape;131;p14"/>
          <p:cNvSpPr txBox="1"/>
          <p:nvPr/>
        </p:nvSpPr>
        <p:spPr>
          <a:xfrm>
            <a:off x="9229725" y="7195634"/>
            <a:ext cx="1495521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2 минуты</a:t>
            </a:r>
            <a:endParaRPr>
              <a:latin typeface="Arial"/>
            </a:endParaRPr>
          </a:p>
        </p:txBody>
      </p:sp>
      <p:sp>
        <p:nvSpPr>
          <p:cNvPr id="132" name="Google Shape;132;p14"/>
          <p:cNvSpPr txBox="1"/>
          <p:nvPr/>
        </p:nvSpPr>
        <p:spPr>
          <a:xfrm>
            <a:off x="9229725" y="7585315"/>
            <a:ext cx="3560333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обновление табло с PiConstruct — с телефона</a:t>
            </a:r>
            <a:endParaRPr>
              <a:latin typeface="Arial"/>
            </a:endParaRPr>
          </a:p>
        </p:txBody>
      </p:sp>
      <p:sp>
        <p:nvSpPr>
          <p:cNvPr id="133" name="Google Shape;133;p14"/>
          <p:cNvSpPr txBox="1"/>
          <p:nvPr/>
        </p:nvSpPr>
        <p:spPr>
          <a:xfrm>
            <a:off x="13268325" y="7195634"/>
            <a:ext cx="549402" cy="364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0 </a:t>
            </a: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13268325" y="7585315"/>
            <a:ext cx="3403322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на типографию после разовой покупки PRO</a:t>
            </a:r>
            <a:endParaRPr>
              <a:latin typeface="Arial"/>
            </a:endParaRPr>
          </a:p>
        </p:txBody>
      </p:sp>
      <p:sp>
        <p:nvSpPr>
          <p:cNvPr id="135" name="Google Shape;135;p14"/>
          <p:cNvSpPr txBox="1"/>
          <p:nvPr/>
        </p:nvSpPr>
        <p:spPr>
          <a:xfrm>
            <a:off x="1228725" y="4429434"/>
            <a:ext cx="3675545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Печатные меню устаревают</a:t>
            </a:r>
            <a:endParaRPr>
              <a:latin typeface="Arial"/>
            </a:endParaRPr>
          </a:p>
        </p:txBody>
      </p:sp>
      <p:sp>
        <p:nvSpPr>
          <p:cNvPr id="136" name="Google Shape;136;p14"/>
          <p:cNvSpPr txBox="1"/>
          <p:nvPr/>
        </p:nvSpPr>
        <p:spPr>
          <a:xfrm>
            <a:off x="1228725" y="4868702"/>
            <a:ext cx="4126506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Смена цен = перепечатка. Владелец ждёт</a:t>
            </a:r>
            <a:endParaRPr>
              <a:latin typeface="Arial"/>
            </a:endParaRPr>
          </a:p>
        </p:txBody>
      </p:sp>
      <p:sp>
        <p:nvSpPr>
          <p:cNvPr id="137" name="Google Shape;137;p14"/>
          <p:cNvSpPr txBox="1"/>
          <p:nvPr/>
        </p:nvSpPr>
        <p:spPr>
          <a:xfrm>
            <a:off x="1228725" y="5168739"/>
            <a:ext cx="4664773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типографию 1–3 дня и платит за каждый тираж</a:t>
            </a:r>
            <a:endParaRPr>
              <a:latin typeface="Arial"/>
            </a:endParaRPr>
          </a:p>
        </p:txBody>
      </p:sp>
      <p:sp>
        <p:nvSpPr>
          <p:cNvPr id="138" name="Google Shape;138;p14"/>
          <p:cNvSpPr txBox="1"/>
          <p:nvPr/>
        </p:nvSpPr>
        <p:spPr>
          <a:xfrm>
            <a:off x="1228725" y="5468777"/>
            <a:ext cx="80309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заново.</a:t>
            </a:r>
            <a:endParaRPr>
              <a:latin typeface="Arial"/>
            </a:endParaRPr>
          </a:p>
        </p:txBody>
      </p:sp>
      <p:sp>
        <p:nvSpPr>
          <p:cNvPr id="139" name="Google Shape;139;p14"/>
          <p:cNvSpPr txBox="1"/>
          <p:nvPr/>
        </p:nvSpPr>
        <p:spPr>
          <a:xfrm>
            <a:off x="1228725" y="5908763"/>
            <a:ext cx="359511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2"/>
                </a:solidFill>
              </a:rPr>
              <a:t>−2 000–5 000 </a:t>
            </a:r>
            <a:r>
              <a:rPr lang="en-US" b="1" u="none" strike="noStrike" cap="none">
                <a:solidFill>
                  <a:schemeClr val="accent2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accent2"/>
                </a:solidFill>
              </a:rPr>
              <a:t>/мес на типографию</a:t>
            </a:r>
            <a:endParaRPr>
              <a:latin typeface="Arial"/>
            </a:endParaRPr>
          </a:p>
        </p:txBody>
      </p:sp>
      <p:sp>
        <p:nvSpPr>
          <p:cNvPr id="140" name="Google Shape;140;p14"/>
          <p:cNvSpPr txBox="1"/>
          <p:nvPr/>
        </p:nvSpPr>
        <p:spPr>
          <a:xfrm>
            <a:off x="6842125" y="4429434"/>
            <a:ext cx="4585658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Облачные табло — дорого и сложно</a:t>
            </a:r>
            <a:endParaRPr>
              <a:latin typeface="Arial"/>
            </a:endParaRPr>
          </a:p>
        </p:txBody>
      </p:sp>
      <p:sp>
        <p:nvSpPr>
          <p:cNvPr id="141" name="Google Shape;141;p14"/>
          <p:cNvSpPr txBox="1"/>
          <p:nvPr/>
        </p:nvSpPr>
        <p:spPr>
          <a:xfrm>
            <a:off x="6842125" y="4868702"/>
            <a:ext cx="4562557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Yodeck, Screenly, PiSignage требуют интернет,</a:t>
            </a:r>
            <a:endParaRPr>
              <a:latin typeface="Arial"/>
            </a:endParaRPr>
          </a:p>
        </p:txBody>
      </p:sp>
      <p:sp>
        <p:nvSpPr>
          <p:cNvPr id="142" name="Google Shape;142;p14"/>
          <p:cNvSpPr txBox="1"/>
          <p:nvPr/>
        </p:nvSpPr>
        <p:spPr>
          <a:xfrm>
            <a:off x="6842125" y="5168739"/>
            <a:ext cx="4188314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подписку и регистрацию. Порог входа для</a:t>
            </a:r>
            <a:endParaRPr>
              <a:latin typeface="Arial"/>
            </a:endParaRPr>
          </a:p>
        </p:txBody>
      </p:sp>
      <p:sp>
        <p:nvSpPr>
          <p:cNvPr id="143" name="Google Shape;143;p14"/>
          <p:cNvSpPr txBox="1"/>
          <p:nvPr/>
        </p:nvSpPr>
        <p:spPr>
          <a:xfrm>
            <a:off x="6842125" y="5468777"/>
            <a:ext cx="321238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владельца кафе слишком высок.</a:t>
            </a:r>
            <a:endParaRPr>
              <a:latin typeface="Arial"/>
            </a:endParaRPr>
          </a:p>
        </p:txBody>
      </p:sp>
      <p:sp>
        <p:nvSpPr>
          <p:cNvPr id="144" name="Google Shape;144;p14"/>
          <p:cNvSpPr txBox="1"/>
          <p:nvPr/>
        </p:nvSpPr>
        <p:spPr>
          <a:xfrm>
            <a:off x="6842125" y="5908763"/>
            <a:ext cx="3705225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2"/>
                </a:solidFill>
              </a:rPr>
              <a:t>от 225 </a:t>
            </a:r>
            <a:r>
              <a:rPr lang="en-US" b="1" u="none" strike="noStrike" cap="none">
                <a:solidFill>
                  <a:schemeClr val="accent2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accent2"/>
                </a:solidFill>
              </a:rPr>
              <a:t>/экран/мес — и это навсегда</a:t>
            </a:r>
            <a:endParaRPr>
              <a:latin typeface="Arial"/>
            </a:endParaRPr>
          </a:p>
        </p:txBody>
      </p:sp>
      <p:sp>
        <p:nvSpPr>
          <p:cNvPr id="145" name="Google Shape;145;p14"/>
          <p:cNvSpPr txBox="1"/>
          <p:nvPr/>
        </p:nvSpPr>
        <p:spPr>
          <a:xfrm>
            <a:off x="12455525" y="4282703"/>
            <a:ext cx="2802822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Open-source — не для</a:t>
            </a:r>
            <a:endParaRPr>
              <a:latin typeface="Arial"/>
            </a:endParaRPr>
          </a:p>
        </p:txBody>
      </p:sp>
      <p:sp>
        <p:nvSpPr>
          <p:cNvPr id="146" name="Google Shape;146;p14"/>
          <p:cNvSpPr txBox="1"/>
          <p:nvPr/>
        </p:nvSpPr>
        <p:spPr>
          <a:xfrm>
            <a:off x="12455525" y="4576164"/>
            <a:ext cx="2022479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нетехнических</a:t>
            </a:r>
            <a:endParaRPr>
              <a:latin typeface="Arial"/>
            </a:endParaRPr>
          </a:p>
        </p:txBody>
      </p:sp>
      <p:sp>
        <p:nvSpPr>
          <p:cNvPr id="147" name="Google Shape;147;p14"/>
          <p:cNvSpPr txBox="1"/>
          <p:nvPr/>
        </p:nvSpPr>
        <p:spPr>
          <a:xfrm>
            <a:off x="12455525" y="5015432"/>
            <a:ext cx="465417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Anthias / Screenly OSE: нужен Linux, командная</a:t>
            </a:r>
            <a:endParaRPr>
              <a:latin typeface="Arial"/>
            </a:endParaRPr>
          </a:p>
        </p:txBody>
      </p:sp>
      <p:sp>
        <p:nvSpPr>
          <p:cNvPr id="148" name="Google Shape;148;p14"/>
          <p:cNvSpPr txBox="1"/>
          <p:nvPr/>
        </p:nvSpPr>
        <p:spPr>
          <a:xfrm>
            <a:off x="12455525" y="5315470"/>
            <a:ext cx="3923081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строка и часы настроек. Нереально для</a:t>
            </a:r>
            <a:endParaRPr>
              <a:latin typeface="Arial"/>
            </a:endParaRPr>
          </a:p>
        </p:txBody>
      </p:sp>
      <p:sp>
        <p:nvSpPr>
          <p:cNvPr id="149" name="Google Shape;149;p14"/>
          <p:cNvSpPr txBox="1"/>
          <p:nvPr/>
        </p:nvSpPr>
        <p:spPr>
          <a:xfrm>
            <a:off x="12455525" y="5615507"/>
            <a:ext cx="2033844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владельца кофейни.</a:t>
            </a:r>
            <a:endParaRPr>
              <a:latin typeface="Arial"/>
            </a:endParaRPr>
          </a:p>
        </p:txBody>
      </p:sp>
      <p:sp>
        <p:nvSpPr>
          <p:cNvPr id="150" name="Google Shape;150;p14"/>
          <p:cNvSpPr txBox="1"/>
          <p:nvPr/>
        </p:nvSpPr>
        <p:spPr>
          <a:xfrm>
            <a:off x="12455525" y="6055494"/>
            <a:ext cx="3634358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2"/>
                </a:solidFill>
              </a:rPr>
              <a:t>порог входа: «позовите айтишника»</a:t>
            </a:r>
            <a:endParaRPr>
              <a:latin typeface="Arial"/>
            </a:endParaRPr>
          </a:p>
        </p:txBody>
      </p:sp>
      <p:sp>
        <p:nvSpPr>
          <p:cNvPr id="151" name="Google Shape;151;p14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152" name="Google Shape;152;p14"/>
          <p:cNvSpPr txBox="1"/>
          <p:nvPr/>
        </p:nvSpPr>
        <p:spPr>
          <a:xfrm>
            <a:off x="16890736" y="9771268"/>
            <a:ext cx="616216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02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857250" y="2916181"/>
            <a:ext cx="8153400" cy="5614308"/>
          </a:xfrm>
          <a:prstGeom prst="roundRect">
            <a:avLst>
              <a:gd name="adj" fmla="val 3397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9277350" y="2916181"/>
            <a:ext cx="8153400" cy="1731736"/>
          </a:xfrm>
          <a:prstGeom prst="roundRect">
            <a:avLst>
              <a:gd name="adj" fmla="val 11014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9648825" y="3306706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01</a:t>
            </a:r>
            <a:endParaRPr>
              <a:latin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9277350" y="4857467"/>
            <a:ext cx="8153400" cy="1731736"/>
          </a:xfrm>
          <a:prstGeom prst="roundRect">
            <a:avLst>
              <a:gd name="adj" fmla="val 11014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9648825" y="5247992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02</a:t>
            </a:r>
            <a:endParaRPr>
              <a:latin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9277350" y="6798754"/>
            <a:ext cx="8153400" cy="1731736"/>
          </a:xfrm>
          <a:prstGeom prst="roundRect">
            <a:avLst>
              <a:gd name="adj" fmla="val 11014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65" name="Google Shape;165;p15"/>
          <p:cNvSpPr/>
          <p:nvPr/>
        </p:nvSpPr>
        <p:spPr>
          <a:xfrm>
            <a:off x="9648825" y="7189279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03</a:t>
            </a:r>
            <a:endParaRPr>
              <a:latin typeface="Arial"/>
            </a:endParaRPr>
          </a:p>
        </p:txBody>
      </p:sp>
      <p:sp>
        <p:nvSpPr>
          <p:cNvPr id="166" name="Google Shape;166;p15"/>
          <p:cNvSpPr txBox="1"/>
          <p:nvPr/>
        </p:nvSpPr>
        <p:spPr>
          <a:xfrm>
            <a:off x="857250" y="666752"/>
            <a:ext cx="2283163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3  ·</a:t>
            </a:r>
            <a:r>
              <a:rPr lang="en-US" b="1" u="none" strike="noStrike" cap="none">
                <a:solidFill>
                  <a:schemeClr val="accent1"/>
                </a:solidFill>
              </a:rPr>
              <a:t>  К Л И Е Н Т</a:t>
            </a:r>
            <a:endParaRPr>
              <a:latin typeface="Arial"/>
            </a:endParaRPr>
          </a:p>
        </p:txBody>
      </p:sp>
      <p:sp>
        <p:nvSpPr>
          <p:cNvPr id="167" name="Google Shape;167;p15"/>
          <p:cNvSpPr txBox="1"/>
          <p:nvPr/>
        </p:nvSpPr>
        <p:spPr>
          <a:xfrm>
            <a:off x="857250" y="1028606"/>
            <a:ext cx="7009185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Кто покупает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и зачем</a:t>
            </a:r>
            <a:endParaRPr>
              <a:latin typeface="Arial"/>
            </a:endParaRPr>
          </a:p>
        </p:txBody>
      </p:sp>
      <p:sp>
        <p:nvSpPr>
          <p:cNvPr id="168" name="Google Shape;168;p15"/>
          <p:cNvSpPr txBox="1"/>
          <p:nvPr/>
        </p:nvSpPr>
        <p:spPr>
          <a:xfrm>
            <a:off x="1228725" y="3306702"/>
            <a:ext cx="2688412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Портрет покупателя</a:t>
            </a:r>
            <a:endParaRPr>
              <a:latin typeface="Arial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1400175" y="3857340"/>
            <a:ext cx="79168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Бизнес</a:t>
            </a:r>
            <a:endParaRPr>
              <a:latin typeface="Arial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3919727" y="3857340"/>
            <a:ext cx="4419741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кафе / столовая / кофейня / мини-магазин</a:t>
            </a:r>
            <a:endParaRPr>
              <a:latin typeface="Arial"/>
            </a:endParaRPr>
          </a:p>
        </p:txBody>
      </p:sp>
      <p:sp>
        <p:nvSpPr>
          <p:cNvPr id="171" name="Google Shape;171;p15"/>
          <p:cNvSpPr txBox="1"/>
          <p:nvPr/>
        </p:nvSpPr>
        <p:spPr>
          <a:xfrm>
            <a:off x="1400175" y="4389643"/>
            <a:ext cx="808091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Размер</a:t>
            </a:r>
            <a:endParaRPr>
              <a:latin typeface="Arial"/>
            </a:endParaRPr>
          </a:p>
        </p:txBody>
      </p:sp>
      <p:sp>
        <p:nvSpPr>
          <p:cNvPr id="172" name="Google Shape;172;p15"/>
          <p:cNvSpPr txBox="1"/>
          <p:nvPr/>
        </p:nvSpPr>
        <p:spPr>
          <a:xfrm>
            <a:off x="3919727" y="4389643"/>
            <a:ext cx="3074172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1–3 точки, штат до 15 человек</a:t>
            </a:r>
            <a:endParaRPr>
              <a:latin typeface="Arial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1400175" y="4921945"/>
            <a:ext cx="500653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ЛПР</a:t>
            </a:r>
            <a:endParaRPr>
              <a:latin typeface="Arial"/>
            </a:endParaRPr>
          </a:p>
        </p:txBody>
      </p:sp>
      <p:sp>
        <p:nvSpPr>
          <p:cNvPr id="174" name="Google Shape;174;p15"/>
          <p:cNvSpPr txBox="1"/>
          <p:nvPr/>
        </p:nvSpPr>
        <p:spPr>
          <a:xfrm>
            <a:off x="3919727" y="4921945"/>
            <a:ext cx="2942357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владелец или управляющий</a:t>
            </a:r>
            <a:endParaRPr>
              <a:latin typeface="Arial"/>
            </a:endParaRPr>
          </a:p>
        </p:txBody>
      </p:sp>
      <p:sp>
        <p:nvSpPr>
          <p:cNvPr id="175" name="Google Shape;175;p15"/>
          <p:cNvSpPr txBox="1"/>
          <p:nvPr/>
        </p:nvSpPr>
        <p:spPr>
          <a:xfrm>
            <a:off x="1400175" y="5454247"/>
            <a:ext cx="1158935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IT-уровень</a:t>
            </a:r>
            <a:endParaRPr>
              <a:latin typeface="Arial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3919727" y="5454247"/>
            <a:ext cx="280054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смартфон — да, Linux — нет</a:t>
            </a:r>
            <a:endParaRPr>
              <a:latin typeface="Arial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1400175" y="5986550"/>
            <a:ext cx="111753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Бюджет IT</a:t>
            </a:r>
            <a:endParaRPr>
              <a:latin typeface="Arial"/>
            </a:endParaRPr>
          </a:p>
        </p:txBody>
      </p:sp>
      <p:sp>
        <p:nvSpPr>
          <p:cNvPr id="178" name="Google Shape;178;p15"/>
          <p:cNvSpPr txBox="1"/>
          <p:nvPr/>
        </p:nvSpPr>
        <p:spPr>
          <a:xfrm>
            <a:off x="3919727" y="5986550"/>
            <a:ext cx="1985038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до 15 000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tx1"/>
                </a:solidFill>
              </a:rPr>
              <a:t> разово</a:t>
            </a:r>
            <a:endParaRPr>
              <a:latin typeface="Arial"/>
            </a:endParaRPr>
          </a:p>
        </p:txBody>
      </p:sp>
      <p:sp>
        <p:nvSpPr>
          <p:cNvPr id="179" name="Google Shape;179;p15"/>
          <p:cNvSpPr txBox="1"/>
          <p:nvPr/>
        </p:nvSpPr>
        <p:spPr>
          <a:xfrm>
            <a:off x="1400175" y="6518852"/>
            <a:ext cx="54905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Боль</a:t>
            </a:r>
            <a:endParaRPr>
              <a:latin typeface="Arial"/>
            </a:endParaRPr>
          </a:p>
        </p:txBody>
      </p:sp>
      <p:sp>
        <p:nvSpPr>
          <p:cNvPr id="180" name="Google Shape;180;p15"/>
          <p:cNvSpPr txBox="1"/>
          <p:nvPr/>
        </p:nvSpPr>
        <p:spPr>
          <a:xfrm>
            <a:off x="3919727" y="6518852"/>
            <a:ext cx="3388412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меню устаревает, облако дорого</a:t>
            </a:r>
            <a:endParaRPr>
              <a:latin typeface="Arial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1447800" y="7313259"/>
            <a:ext cx="6873985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ЛПР принимает решение сам, без корпоративных закупок — значит, продажа</a:t>
            </a:r>
            <a:endParaRPr>
              <a:latin typeface="Arial"/>
            </a:endParaRPr>
          </a:p>
        </p:txBody>
      </p:sp>
      <p:sp>
        <p:nvSpPr>
          <p:cNvPr id="182" name="Google Shape;182;p15"/>
          <p:cNvSpPr txBox="1"/>
          <p:nvPr/>
        </p:nvSpPr>
        <p:spPr>
          <a:xfrm>
            <a:off x="1447800" y="7575672"/>
            <a:ext cx="4598032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короткая: </a:t>
            </a:r>
            <a:r>
              <a:rPr lang="en-US" b="1" u="none" strike="noStrike" cap="none">
                <a:solidFill>
                  <a:schemeClr val="accent1"/>
                </a:solidFill>
              </a:rPr>
              <a:t>показал на встрече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→</a:t>
            </a:r>
            <a:r>
              <a:rPr lang="en-US" b="1" u="none" strike="noStrike" cap="none">
                <a:solidFill>
                  <a:schemeClr val="accent1"/>
                </a:solidFill>
              </a:rPr>
              <a:t> получил оплату</a:t>
            </a:r>
            <a:r>
              <a:rPr lang="en-US" u="none" strike="noStrike" cap="none">
                <a:solidFill>
                  <a:schemeClr val="tx1"/>
                </a:solidFill>
              </a:rPr>
              <a:t>. </a:t>
            </a:r>
            <a:endParaRPr>
              <a:latin typeface="Arial"/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0353675" y="3306702"/>
            <a:ext cx="3047255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Обновить меню быстро</a:t>
            </a:r>
            <a:endParaRPr>
              <a:latin typeface="Arial"/>
            </a:endParaRPr>
          </a:p>
        </p:txBody>
      </p:sp>
      <p:sp>
        <p:nvSpPr>
          <p:cNvPr id="184" name="Google Shape;184;p15"/>
          <p:cNvSpPr txBox="1"/>
          <p:nvPr/>
        </p:nvSpPr>
        <p:spPr>
          <a:xfrm>
            <a:off x="10353675" y="3688820"/>
            <a:ext cx="6742433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Изменил цену — вижу это на табло через 2 минуты, а не через 3 дня.</a:t>
            </a:r>
            <a:endParaRPr>
              <a:latin typeface="Arial"/>
            </a:endParaRPr>
          </a:p>
        </p:txBody>
      </p:sp>
      <p:sp>
        <p:nvSpPr>
          <p:cNvPr id="185" name="Google Shape;185;p15"/>
          <p:cNvSpPr txBox="1"/>
          <p:nvPr/>
        </p:nvSpPr>
        <p:spPr>
          <a:xfrm>
            <a:off x="10353675" y="5247988"/>
            <a:ext cx="3354838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Не зависеть от интернета</a:t>
            </a:r>
            <a:endParaRPr>
              <a:latin typeface="Arial"/>
            </a:endParaRPr>
          </a:p>
        </p:txBody>
      </p:sp>
      <p:sp>
        <p:nvSpPr>
          <p:cNvPr id="186" name="Google Shape;186;p15"/>
          <p:cNvSpPr txBox="1"/>
          <p:nvPr/>
        </p:nvSpPr>
        <p:spPr>
          <a:xfrm>
            <a:off x="10353675" y="5630106"/>
            <a:ext cx="6146158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Табло работает всегда, где бы ни находился бизнес — контент</a:t>
            </a:r>
            <a:endParaRPr>
              <a:latin typeface="Arial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10353675" y="5930144"/>
            <a:ext cx="1975436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живёт на SD-карте.</a:t>
            </a:r>
            <a:endParaRPr>
              <a:latin typeface="Arial"/>
            </a:endParaRPr>
          </a:p>
        </p:txBody>
      </p:sp>
      <p:sp>
        <p:nvSpPr>
          <p:cNvPr id="188" name="Google Shape;188;p15"/>
          <p:cNvSpPr txBox="1"/>
          <p:nvPr/>
        </p:nvSpPr>
        <p:spPr>
          <a:xfrm>
            <a:off x="10353675" y="7189274"/>
            <a:ext cx="3767917" cy="328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Запустить без программиста</a:t>
            </a:r>
            <a:endParaRPr>
              <a:latin typeface="Arial"/>
            </a:endParaRPr>
          </a:p>
        </p:txBody>
      </p:sp>
      <p:sp>
        <p:nvSpPr>
          <p:cNvPr id="189" name="Google Shape;189;p15"/>
          <p:cNvSpPr txBox="1"/>
          <p:nvPr/>
        </p:nvSpPr>
        <p:spPr>
          <a:xfrm>
            <a:off x="10353675" y="7571392"/>
            <a:ext cx="624617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Нет денег на интегратора. Хочу сам, с телефона, за один вечер.</a:t>
            </a:r>
            <a:endParaRPr>
              <a:latin typeface="Arial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191" name="Google Shape;191;p15"/>
          <p:cNvSpPr txBox="1"/>
          <p:nvPr/>
        </p:nvSpPr>
        <p:spPr>
          <a:xfrm>
            <a:off x="16888959" y="9771268"/>
            <a:ext cx="617997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03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"/>
          <p:cNvSpPr/>
          <p:nvPr/>
        </p:nvSpPr>
        <p:spPr>
          <a:xfrm>
            <a:off x="1923300" y="6970827"/>
            <a:ext cx="2286900" cy="438300"/>
          </a:xfrm>
          <a:prstGeom prst="roundRect">
            <a:avLst>
              <a:gd name="adj" fmla="val 8000"/>
            </a:avLst>
          </a:prstGeom>
          <a:solidFill>
            <a:srgbClr val="12282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199" name="Google Shape;199;p16"/>
          <p:cNvSpPr/>
          <p:nvPr/>
        </p:nvSpPr>
        <p:spPr>
          <a:xfrm>
            <a:off x="4361700" y="6970827"/>
            <a:ext cx="2063400" cy="438300"/>
          </a:xfrm>
          <a:prstGeom prst="roundRect">
            <a:avLst>
              <a:gd name="adj" fmla="val 8000"/>
            </a:avLst>
          </a:prstGeom>
          <a:solidFill>
            <a:srgbClr val="12282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0" name="Google Shape;200;p16"/>
          <p:cNvSpPr/>
          <p:nvPr/>
        </p:nvSpPr>
        <p:spPr>
          <a:xfrm>
            <a:off x="6576662" y="6970827"/>
            <a:ext cx="3219900" cy="438300"/>
          </a:xfrm>
          <a:prstGeom prst="roundRect">
            <a:avLst>
              <a:gd name="adj" fmla="val 8000"/>
            </a:avLst>
          </a:prstGeom>
          <a:solidFill>
            <a:srgbClr val="12282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1" name="Google Shape;201;p16"/>
          <p:cNvSpPr/>
          <p:nvPr/>
        </p:nvSpPr>
        <p:spPr>
          <a:xfrm>
            <a:off x="9948326" y="6970827"/>
            <a:ext cx="2765400" cy="438300"/>
          </a:xfrm>
          <a:prstGeom prst="roundRect">
            <a:avLst>
              <a:gd name="adj" fmla="val 8000"/>
            </a:avLst>
          </a:prstGeom>
          <a:solidFill>
            <a:srgbClr val="12282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2" name="Google Shape;202;p16"/>
          <p:cNvSpPr/>
          <p:nvPr/>
        </p:nvSpPr>
        <p:spPr>
          <a:xfrm>
            <a:off x="857250" y="3923394"/>
            <a:ext cx="3971925" cy="2399732"/>
          </a:xfrm>
          <a:prstGeom prst="roundRect">
            <a:avLst>
              <a:gd name="adj" fmla="val 79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3" name="Google Shape;203;p16"/>
          <p:cNvSpPr/>
          <p:nvPr/>
        </p:nvSpPr>
        <p:spPr>
          <a:xfrm>
            <a:off x="1133475" y="4218669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1</a:t>
            </a:r>
            <a:endParaRPr>
              <a:latin typeface="Arial"/>
            </a:endParaRPr>
          </a:p>
        </p:txBody>
      </p:sp>
      <p:sp>
        <p:nvSpPr>
          <p:cNvPr id="204" name="Google Shape;204;p16"/>
          <p:cNvSpPr/>
          <p:nvPr/>
        </p:nvSpPr>
        <p:spPr>
          <a:xfrm>
            <a:off x="5057775" y="3923394"/>
            <a:ext cx="3971925" cy="2399732"/>
          </a:xfrm>
          <a:prstGeom prst="roundRect">
            <a:avLst>
              <a:gd name="adj" fmla="val 79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5" name="Google Shape;205;p16"/>
          <p:cNvSpPr/>
          <p:nvPr/>
        </p:nvSpPr>
        <p:spPr>
          <a:xfrm>
            <a:off x="5334000" y="4218669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2</a:t>
            </a:r>
            <a:endParaRPr>
              <a:latin typeface="Arial"/>
            </a:endParaRPr>
          </a:p>
        </p:txBody>
      </p:sp>
      <p:sp>
        <p:nvSpPr>
          <p:cNvPr id="206" name="Google Shape;206;p16"/>
          <p:cNvSpPr/>
          <p:nvPr/>
        </p:nvSpPr>
        <p:spPr>
          <a:xfrm>
            <a:off x="9258300" y="3923394"/>
            <a:ext cx="3971925" cy="2399732"/>
          </a:xfrm>
          <a:prstGeom prst="roundRect">
            <a:avLst>
              <a:gd name="adj" fmla="val 79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9534525" y="4218669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3</a:t>
            </a:r>
            <a:endParaRPr>
              <a:latin typeface="Arial"/>
            </a:endParaRPr>
          </a:p>
        </p:txBody>
      </p:sp>
      <p:sp>
        <p:nvSpPr>
          <p:cNvPr id="208" name="Google Shape;208;p16"/>
          <p:cNvSpPr/>
          <p:nvPr/>
        </p:nvSpPr>
        <p:spPr>
          <a:xfrm>
            <a:off x="13458825" y="3923394"/>
            <a:ext cx="3971925" cy="2399732"/>
          </a:xfrm>
          <a:prstGeom prst="roundRect">
            <a:avLst>
              <a:gd name="adj" fmla="val 79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09" name="Google Shape;209;p16"/>
          <p:cNvSpPr/>
          <p:nvPr/>
        </p:nvSpPr>
        <p:spPr>
          <a:xfrm>
            <a:off x="13735050" y="4218669"/>
            <a:ext cx="495300" cy="4953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6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4</a:t>
            </a:r>
            <a:endParaRPr>
              <a:latin typeface="Arial"/>
            </a:endParaRPr>
          </a:p>
        </p:txBody>
      </p:sp>
      <p:sp>
        <p:nvSpPr>
          <p:cNvPr id="210" name="Google Shape;210;p16"/>
          <p:cNvSpPr txBox="1"/>
          <p:nvPr/>
        </p:nvSpPr>
        <p:spPr>
          <a:xfrm>
            <a:off x="857250" y="666752"/>
            <a:ext cx="3741841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4  · </a:t>
            </a:r>
            <a:r>
              <a:rPr lang="en-US" b="1" u="none" strike="noStrike" cap="none">
                <a:solidFill>
                  <a:schemeClr val="accent1"/>
                </a:solidFill>
              </a:rPr>
              <a:t> Р Е Ш Е Н И Е / M V P</a:t>
            </a:r>
            <a:endParaRPr>
              <a:latin typeface="Arial"/>
            </a:endParaRPr>
          </a:p>
        </p:txBody>
      </p:sp>
      <p:sp>
        <p:nvSpPr>
          <p:cNvPr id="211" name="Google Shape;211;p16"/>
          <p:cNvSpPr txBox="1"/>
          <p:nvPr/>
        </p:nvSpPr>
        <p:spPr>
          <a:xfrm>
            <a:off x="857250" y="1028606"/>
            <a:ext cx="14958374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От задумки до работающего табло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за 15 минут</a:t>
            </a:r>
            <a:endParaRPr>
              <a:latin typeface="Arial"/>
            </a:endParaRPr>
          </a:p>
        </p:txBody>
      </p:sp>
      <p:sp>
        <p:nvSpPr>
          <p:cNvPr id="212" name="Google Shape;212;p16"/>
          <p:cNvSpPr txBox="1"/>
          <p:nvPr/>
        </p:nvSpPr>
        <p:spPr>
          <a:xfrm>
            <a:off x="2123325" y="7087509"/>
            <a:ext cx="1963200" cy="2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r>
              <a:rPr lang="en-US" u="none" strike="noStrike" cap="none">
                <a:solidFill>
                  <a:schemeClr val="accent1"/>
                </a:solidFill>
              </a:rPr>
              <a:t> Веб-конструктор</a:t>
            </a:r>
            <a:endParaRPr>
              <a:latin typeface="Arial"/>
            </a:endParaRPr>
          </a:p>
        </p:txBody>
      </p:sp>
      <p:sp>
        <p:nvSpPr>
          <p:cNvPr id="213" name="Google Shape;213;p16"/>
          <p:cNvSpPr txBox="1"/>
          <p:nvPr/>
        </p:nvSpPr>
        <p:spPr>
          <a:xfrm>
            <a:off x="4561725" y="7087509"/>
            <a:ext cx="1739700" cy="2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r>
              <a:rPr lang="en-US" u="none" strike="noStrike" cap="none">
                <a:solidFill>
                  <a:schemeClr val="accent1"/>
                </a:solidFill>
              </a:rPr>
              <a:t> Генерация .img</a:t>
            </a:r>
            <a:endParaRPr>
              <a:latin typeface="Arial"/>
            </a:endParaRPr>
          </a:p>
        </p:txBody>
      </p:sp>
      <p:sp>
        <p:nvSpPr>
          <p:cNvPr id="214" name="Google Shape;214;p16"/>
          <p:cNvSpPr txBox="1"/>
          <p:nvPr/>
        </p:nvSpPr>
        <p:spPr>
          <a:xfrm>
            <a:off x="6776687" y="7087509"/>
            <a:ext cx="2896500" cy="2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r>
              <a:rPr lang="en-US" u="none" strike="noStrike" cap="none">
                <a:solidFill>
                  <a:schemeClr val="accent1"/>
                </a:solidFill>
              </a:rPr>
              <a:t> Автозапуск на Raspberry Pi</a:t>
            </a:r>
            <a:endParaRPr>
              <a:latin typeface="Arial"/>
            </a:endParaRPr>
          </a:p>
        </p:txBody>
      </p:sp>
      <p:sp>
        <p:nvSpPr>
          <p:cNvPr id="215" name="Google Shape;215;p16"/>
          <p:cNvSpPr txBox="1"/>
          <p:nvPr/>
        </p:nvSpPr>
        <p:spPr>
          <a:xfrm>
            <a:off x="10148351" y="7087509"/>
            <a:ext cx="2441700" cy="2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r>
              <a:rPr lang="en-US" u="none" strike="noStrike" cap="none">
                <a:solidFill>
                  <a:schemeClr val="accent1"/>
                </a:solidFill>
              </a:rPr>
              <a:t> Wi-Fi-редактирование</a:t>
            </a:r>
            <a:endParaRPr>
              <a:latin typeface="Arial"/>
            </a:endParaRPr>
          </a:p>
        </p:txBody>
      </p:sp>
      <p:sp>
        <p:nvSpPr>
          <p:cNvPr id="216" name="Google Shape;216;p16"/>
          <p:cNvSpPr txBox="1"/>
          <p:nvPr/>
        </p:nvSpPr>
        <p:spPr>
          <a:xfrm>
            <a:off x="13065289" y="7077031"/>
            <a:ext cx="32994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AI-генератор контента — roadmap</a:t>
            </a:r>
            <a:endParaRPr>
              <a:latin typeface="Arial"/>
            </a:endParaRPr>
          </a:p>
        </p:txBody>
      </p:sp>
      <p:sp>
        <p:nvSpPr>
          <p:cNvPr id="217" name="Google Shape;217;p16"/>
          <p:cNvSpPr txBox="1"/>
          <p:nvPr/>
        </p:nvSpPr>
        <p:spPr>
          <a:xfrm>
            <a:off x="1133475" y="4847323"/>
            <a:ext cx="1598218" cy="302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</a:rPr>
              <a:t>Конструктор</a:t>
            </a:r>
            <a:endParaRPr>
              <a:latin typeface="Arial"/>
            </a:endParaRPr>
          </a:p>
        </p:txBody>
      </p:sp>
      <p:sp>
        <p:nvSpPr>
          <p:cNvPr id="218" name="Google Shape;218;p16"/>
          <p:cNvSpPr txBox="1"/>
          <p:nvPr/>
        </p:nvSpPr>
        <p:spPr>
          <a:xfrm>
            <a:off x="1133475" y="5241966"/>
            <a:ext cx="3060116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Выбор шаблона, ввод контента на</a:t>
            </a:r>
            <a:endParaRPr>
              <a:latin typeface="Arial"/>
            </a:endParaRPr>
          </a:p>
        </p:txBody>
      </p:sp>
      <p:sp>
        <p:nvSpPr>
          <p:cNvPr id="219" name="Google Shape;219;p16"/>
          <p:cNvSpPr txBox="1"/>
          <p:nvPr/>
        </p:nvSpPr>
        <p:spPr>
          <a:xfrm>
            <a:off x="1133475" y="5513429"/>
            <a:ext cx="2601525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сайте, живой предпросмотр.</a:t>
            </a:r>
            <a:endParaRPr>
              <a:latin typeface="Arial"/>
            </a:endParaRPr>
          </a:p>
        </p:txBody>
      </p:sp>
      <p:sp>
        <p:nvSpPr>
          <p:cNvPr id="220" name="Google Shape;220;p16"/>
          <p:cNvSpPr txBox="1"/>
          <p:nvPr/>
        </p:nvSpPr>
        <p:spPr>
          <a:xfrm>
            <a:off x="5334000" y="4847323"/>
            <a:ext cx="2015869" cy="302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</a:rPr>
              <a:t>Загрузка образа</a:t>
            </a:r>
            <a:endParaRPr>
              <a:latin typeface="Arial"/>
            </a:endParaRPr>
          </a:p>
        </p:txBody>
      </p:sp>
      <p:sp>
        <p:nvSpPr>
          <p:cNvPr id="221" name="Google Shape;221;p16"/>
          <p:cNvSpPr txBox="1"/>
          <p:nvPr/>
        </p:nvSpPr>
        <p:spPr>
          <a:xfrm>
            <a:off x="5334000" y="5241966"/>
            <a:ext cx="3465682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Сайт собирает .img-файл с контентом:</a:t>
            </a:r>
            <a:endParaRPr>
              <a:latin typeface="Arial"/>
            </a:endParaRPr>
          </a:p>
        </p:txBody>
      </p:sp>
      <p:sp>
        <p:nvSpPr>
          <p:cNvPr id="222" name="Google Shape;222;p16"/>
          <p:cNvSpPr txBox="1"/>
          <p:nvPr/>
        </p:nvSpPr>
        <p:spPr>
          <a:xfrm>
            <a:off x="5334000" y="5513429"/>
            <a:ext cx="2063849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&lt;5 ГБ, меньше 5 минут.</a:t>
            </a:r>
            <a:endParaRPr>
              <a:latin typeface="Arial"/>
            </a:endParaRPr>
          </a:p>
        </p:txBody>
      </p:sp>
      <p:sp>
        <p:nvSpPr>
          <p:cNvPr id="223" name="Google Shape;223;p16"/>
          <p:cNvSpPr txBox="1"/>
          <p:nvPr/>
        </p:nvSpPr>
        <p:spPr>
          <a:xfrm>
            <a:off x="9534525" y="4847323"/>
            <a:ext cx="1610564" cy="302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</a:rPr>
              <a:t>Запись на SD</a:t>
            </a:r>
            <a:endParaRPr>
              <a:latin typeface="Arial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9534525" y="5241966"/>
            <a:ext cx="3123822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Raspberry Pi Imager — одна кнопка,</a:t>
            </a:r>
            <a:endParaRPr>
              <a:latin typeface="Arial"/>
            </a:endParaRPr>
          </a:p>
        </p:txBody>
      </p:sp>
      <p:sp>
        <p:nvSpPr>
          <p:cNvPr id="225" name="Google Shape;225;p16"/>
          <p:cNvSpPr txBox="1"/>
          <p:nvPr/>
        </p:nvSpPr>
        <p:spPr>
          <a:xfrm>
            <a:off x="9534525" y="5513429"/>
            <a:ext cx="2408425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никаких командных строк.</a:t>
            </a:r>
            <a:endParaRPr>
              <a:latin typeface="Arial"/>
            </a:endParaRPr>
          </a:p>
        </p:txBody>
      </p:sp>
      <p:sp>
        <p:nvSpPr>
          <p:cNvPr id="226" name="Google Shape;226;p16"/>
          <p:cNvSpPr txBox="1"/>
          <p:nvPr/>
        </p:nvSpPr>
        <p:spPr>
          <a:xfrm>
            <a:off x="13735050" y="4847323"/>
            <a:ext cx="1419452" cy="302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tx1"/>
                </a:solidFill>
              </a:rPr>
              <a:t>Включение</a:t>
            </a:r>
            <a:endParaRPr>
              <a:latin typeface="Arial"/>
            </a:endParaRPr>
          </a:p>
        </p:txBody>
      </p:sp>
      <p:sp>
        <p:nvSpPr>
          <p:cNvPr id="227" name="Google Shape;227;p16"/>
          <p:cNvSpPr txBox="1"/>
          <p:nvPr/>
        </p:nvSpPr>
        <p:spPr>
          <a:xfrm>
            <a:off x="13735050" y="5241966"/>
            <a:ext cx="2385626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Автозапуск на весь экран.</a:t>
            </a:r>
            <a:endParaRPr>
              <a:latin typeface="Arial"/>
            </a:endParaRPr>
          </a:p>
        </p:txBody>
      </p:sp>
      <p:sp>
        <p:nvSpPr>
          <p:cNvPr id="228" name="Google Shape;228;p16"/>
          <p:cNvSpPr txBox="1"/>
          <p:nvPr/>
        </p:nvSpPr>
        <p:spPr>
          <a:xfrm>
            <a:off x="13735050" y="5513429"/>
            <a:ext cx="3476001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Редактирование с телефона по Wi-Fi —</a:t>
            </a:r>
            <a:endParaRPr>
              <a:latin typeface="Arial"/>
            </a:endParaRPr>
          </a:p>
        </p:txBody>
      </p:sp>
      <p:sp>
        <p:nvSpPr>
          <p:cNvPr id="229" name="Google Shape;229;p16"/>
          <p:cNvSpPr txBox="1"/>
          <p:nvPr/>
        </p:nvSpPr>
        <p:spPr>
          <a:xfrm>
            <a:off x="13735050" y="5784891"/>
            <a:ext cx="1391708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без интернета.</a:t>
            </a:r>
            <a:endParaRPr>
              <a:latin typeface="Arial"/>
            </a:endParaRPr>
          </a:p>
        </p:txBody>
      </p:sp>
      <p:sp>
        <p:nvSpPr>
          <p:cNvPr id="230" name="Google Shape;230;p16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231" name="Google Shape;231;p16"/>
          <p:cNvSpPr txBox="1"/>
          <p:nvPr/>
        </p:nvSpPr>
        <p:spPr>
          <a:xfrm>
            <a:off x="16885397" y="9771268"/>
            <a:ext cx="621560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04 / 13</a:t>
            </a:r>
            <a:endParaRPr>
              <a:latin typeface="Arial"/>
            </a:endParaRPr>
          </a:p>
        </p:txBody>
      </p:sp>
      <p:sp>
        <p:nvSpPr>
          <p:cNvPr id="232" name="Google Shape;232;p16"/>
          <p:cNvSpPr txBox="1"/>
          <p:nvPr/>
        </p:nvSpPr>
        <p:spPr>
          <a:xfrm>
            <a:off x="8934450" y="4944596"/>
            <a:ext cx="361950" cy="40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</a:endParaRPr>
          </a:p>
        </p:txBody>
      </p:sp>
      <p:sp>
        <p:nvSpPr>
          <p:cNvPr id="233" name="Google Shape;233;p16"/>
          <p:cNvSpPr txBox="1"/>
          <p:nvPr/>
        </p:nvSpPr>
        <p:spPr>
          <a:xfrm>
            <a:off x="13134975" y="4944596"/>
            <a:ext cx="361950" cy="40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7"/>
          <p:cNvSpPr/>
          <p:nvPr/>
        </p:nvSpPr>
        <p:spPr>
          <a:xfrm>
            <a:off x="857250" y="7011905"/>
            <a:ext cx="16573500" cy="1065131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857250" y="3721250"/>
            <a:ext cx="5346600" cy="2854200"/>
          </a:xfrm>
          <a:prstGeom prst="roundRect">
            <a:avLst>
              <a:gd name="adj" fmla="val 642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6470650" y="3721250"/>
            <a:ext cx="5346600" cy="2854200"/>
          </a:xfrm>
          <a:prstGeom prst="roundRect">
            <a:avLst>
              <a:gd name="adj" fmla="val 642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12084050" y="3721250"/>
            <a:ext cx="5346600" cy="2854200"/>
          </a:xfrm>
          <a:prstGeom prst="roundRect">
            <a:avLst>
              <a:gd name="adj" fmla="val 642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44" name="Google Shape;244;p17"/>
          <p:cNvSpPr txBox="1"/>
          <p:nvPr/>
        </p:nvSpPr>
        <p:spPr>
          <a:xfrm>
            <a:off x="857250" y="666752"/>
            <a:ext cx="2092475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5  ·</a:t>
            </a:r>
            <a:r>
              <a:rPr lang="en-US" b="1" u="none" strike="noStrike" cap="none">
                <a:solidFill>
                  <a:schemeClr val="accent1"/>
                </a:solidFill>
              </a:rPr>
              <a:t>  Р Ы Н О К</a:t>
            </a:r>
            <a:endParaRPr>
              <a:latin typeface="Arial"/>
            </a:endParaRPr>
          </a:p>
        </p:txBody>
      </p:sp>
      <p:sp>
        <p:nvSpPr>
          <p:cNvPr id="245" name="Google Shape;245;p17"/>
          <p:cNvSpPr txBox="1"/>
          <p:nvPr/>
        </p:nvSpPr>
        <p:spPr>
          <a:xfrm>
            <a:off x="857250" y="1028606"/>
            <a:ext cx="5356555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TAM / SAM / SOM</a:t>
            </a:r>
            <a:endParaRPr>
              <a:latin typeface="Arial"/>
            </a:endParaRPr>
          </a:p>
        </p:txBody>
      </p:sp>
      <p:sp>
        <p:nvSpPr>
          <p:cNvPr id="246" name="Google Shape;246;p17"/>
          <p:cNvSpPr txBox="1"/>
          <p:nvPr/>
        </p:nvSpPr>
        <p:spPr>
          <a:xfrm>
            <a:off x="1152525" y="7234841"/>
            <a:ext cx="860400" cy="3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890K</a:t>
            </a:r>
            <a:endParaRPr>
              <a:latin typeface="Arial"/>
            </a:endParaRPr>
          </a:p>
        </p:txBody>
      </p:sp>
      <p:sp>
        <p:nvSpPr>
          <p:cNvPr id="247" name="Google Shape;247;p17"/>
          <p:cNvSpPr txBox="1"/>
          <p:nvPr/>
        </p:nvSpPr>
        <p:spPr>
          <a:xfrm>
            <a:off x="1152525" y="7639709"/>
            <a:ext cx="1286351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точек МСП в РФ</a:t>
            </a:r>
            <a:endParaRPr>
              <a:latin typeface="Arial"/>
            </a:endParaRPr>
          </a:p>
        </p:txBody>
      </p:sp>
      <p:sp>
        <p:nvSpPr>
          <p:cNvPr id="248" name="Google Shape;248;p17"/>
          <p:cNvSpPr txBox="1"/>
          <p:nvPr/>
        </p:nvSpPr>
        <p:spPr>
          <a:xfrm>
            <a:off x="4876800" y="7234841"/>
            <a:ext cx="1539000" cy="2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1"/>
                </a:solidFill>
                <a:latin typeface="Arial"/>
              </a:rPr>
              <a:t>      </a:t>
            </a:r>
            <a:r>
              <a:rPr lang="en-US" sz="2250" u="none" strike="noStrike" cap="none">
                <a:solidFill>
                  <a:schemeClr val="tx1"/>
                </a:solidFill>
              </a:rPr>
              <a:t>89 000</a:t>
            </a:r>
            <a:endParaRPr>
              <a:latin typeface="Arial"/>
            </a:endParaRPr>
          </a:p>
        </p:txBody>
      </p:sp>
      <p:sp>
        <p:nvSpPr>
          <p:cNvPr id="249" name="Google Shape;249;p17"/>
          <p:cNvSpPr txBox="1"/>
          <p:nvPr/>
        </p:nvSpPr>
        <p:spPr>
          <a:xfrm>
            <a:off x="5295900" y="7639709"/>
            <a:ext cx="2913454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целевых точек SAM (без IT-ресурсов)</a:t>
            </a:r>
            <a:endParaRPr>
              <a:latin typeface="Arial"/>
            </a:endParaRPr>
          </a:p>
        </p:txBody>
      </p:sp>
      <p:sp>
        <p:nvSpPr>
          <p:cNvPr id="250" name="Google Shape;250;p17"/>
          <p:cNvSpPr txBox="1"/>
          <p:nvPr/>
        </p:nvSpPr>
        <p:spPr>
          <a:xfrm>
            <a:off x="9029900" y="7234891"/>
            <a:ext cx="1217400" cy="2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1"/>
                </a:solidFill>
                <a:latin typeface="Arial"/>
              </a:rPr>
              <a:t>      </a:t>
            </a:r>
            <a:r>
              <a:rPr lang="en-US" sz="2250" u="none" strike="noStrike" cap="none">
                <a:solidFill>
                  <a:schemeClr val="tx1"/>
                </a:solidFill>
              </a:rPr>
              <a:t>~270</a:t>
            </a:r>
            <a:endParaRPr>
              <a:latin typeface="Arial"/>
            </a:endParaRPr>
          </a:p>
        </p:txBody>
      </p:sp>
      <p:sp>
        <p:nvSpPr>
          <p:cNvPr id="251" name="Google Shape;251;p17"/>
          <p:cNvSpPr txBox="1"/>
          <p:nvPr/>
        </p:nvSpPr>
        <p:spPr>
          <a:xfrm>
            <a:off x="9439275" y="7639709"/>
            <a:ext cx="1871622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клиентов SOM за 3 года</a:t>
            </a:r>
            <a:endParaRPr>
              <a:latin typeface="Arial"/>
            </a:endParaRPr>
          </a:p>
        </p:txBody>
      </p:sp>
      <p:sp>
        <p:nvSpPr>
          <p:cNvPr id="252" name="Google Shape;252;p17"/>
          <p:cNvSpPr txBox="1"/>
          <p:nvPr/>
        </p:nvSpPr>
        <p:spPr>
          <a:xfrm>
            <a:off x="13173300" y="7242091"/>
            <a:ext cx="1961100" cy="2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chemeClr val="accent1"/>
                </a:solidFill>
                <a:latin typeface="Arial"/>
              </a:rPr>
              <a:t>     </a:t>
            </a:r>
            <a:r>
              <a:rPr lang="en-US" sz="1950" u="none" strike="noStrike" cap="none">
                <a:solidFill>
                  <a:schemeClr val="accent1"/>
                </a:solidFill>
                <a:latin typeface="Arial"/>
                <a:sym typeface="Arial"/>
              </a:rPr>
              <a:t> </a:t>
            </a:r>
            <a:r>
              <a:rPr lang="en-US" u="none" strike="noStrike" cap="none">
                <a:solidFill>
                  <a:schemeClr val="accent1"/>
                </a:solidFill>
              </a:rPr>
              <a:t>~24 млн </a:t>
            </a:r>
            <a:r>
              <a:rPr lang="en-US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53" name="Google Shape;253;p17"/>
          <p:cNvSpPr txBox="1"/>
          <p:nvPr/>
        </p:nvSpPr>
        <p:spPr>
          <a:xfrm>
            <a:off x="13582650" y="7639709"/>
            <a:ext cx="2757234" cy="200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выручка за 3 года при LTV 90 000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54" name="Google Shape;254;p17"/>
          <p:cNvSpPr txBox="1"/>
          <p:nvPr/>
        </p:nvSpPr>
        <p:spPr>
          <a:xfrm>
            <a:off x="1247775" y="4112586"/>
            <a:ext cx="56384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TA M</a:t>
            </a:r>
            <a:endParaRPr>
              <a:latin typeface="Arial"/>
            </a:endParaRPr>
          </a:p>
        </p:txBody>
      </p:sp>
      <p:sp>
        <p:nvSpPr>
          <p:cNvPr id="255" name="Google Shape;255;p17"/>
          <p:cNvSpPr txBox="1"/>
          <p:nvPr/>
        </p:nvSpPr>
        <p:spPr>
          <a:xfrm>
            <a:off x="1247775" y="4433583"/>
            <a:ext cx="1716282" cy="643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50" u="none" strike="noStrike" cap="none">
                <a:solidFill>
                  <a:schemeClr val="tx1"/>
                </a:solidFill>
              </a:rPr>
              <a:t>28 </a:t>
            </a:r>
            <a:r>
              <a:rPr lang="en-US" u="none" strike="noStrike" cap="none">
                <a:solidFill>
                  <a:schemeClr val="tx2"/>
                </a:solidFill>
              </a:rPr>
              <a:t>млн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56" name="Google Shape;256;p17"/>
          <p:cNvSpPr txBox="1"/>
          <p:nvPr/>
        </p:nvSpPr>
        <p:spPr>
          <a:xfrm>
            <a:off x="1247775" y="5270641"/>
            <a:ext cx="4439792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Весь рынок цифровых табло РФ: все отрасли —</a:t>
            </a:r>
            <a:endParaRPr>
              <a:latin typeface="Arial"/>
            </a:endParaRPr>
          </a:p>
        </p:txBody>
      </p:sp>
      <p:sp>
        <p:nvSpPr>
          <p:cNvPr id="257" name="Google Shape;257;p17"/>
          <p:cNvSpPr txBox="1"/>
          <p:nvPr/>
        </p:nvSpPr>
        <p:spPr>
          <a:xfrm>
            <a:off x="1247775" y="5556391"/>
            <a:ext cx="2818447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HoReCa, образование, офисы.</a:t>
            </a:r>
            <a:endParaRPr>
              <a:latin typeface="Arial"/>
            </a:endParaRPr>
          </a:p>
        </p:txBody>
      </p:sp>
      <p:sp>
        <p:nvSpPr>
          <p:cNvPr id="258" name="Google Shape;258;p17"/>
          <p:cNvSpPr txBox="1"/>
          <p:nvPr/>
        </p:nvSpPr>
        <p:spPr>
          <a:xfrm>
            <a:off x="1247775" y="5945486"/>
            <a:ext cx="4005529" cy="201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accent3"/>
                </a:solidFill>
              </a:rPr>
              <a:t>Допущение команды на основе 890K точек МСП в РФ</a:t>
            </a:r>
            <a:endParaRPr>
              <a:latin typeface="Arial"/>
            </a:endParaRPr>
          </a:p>
        </p:txBody>
      </p:sp>
      <p:sp>
        <p:nvSpPr>
          <p:cNvPr id="259" name="Google Shape;259;p17"/>
          <p:cNvSpPr txBox="1"/>
          <p:nvPr/>
        </p:nvSpPr>
        <p:spPr>
          <a:xfrm>
            <a:off x="6861175" y="4112586"/>
            <a:ext cx="580224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S A M</a:t>
            </a:r>
            <a:endParaRPr>
              <a:latin typeface="Arial"/>
            </a:endParaRPr>
          </a:p>
        </p:txBody>
      </p:sp>
      <p:sp>
        <p:nvSpPr>
          <p:cNvPr id="260" name="Google Shape;260;p17"/>
          <p:cNvSpPr txBox="1"/>
          <p:nvPr/>
        </p:nvSpPr>
        <p:spPr>
          <a:xfrm>
            <a:off x="6861175" y="4433583"/>
            <a:ext cx="1342276" cy="643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50" u="none" strike="noStrike" cap="none">
                <a:solidFill>
                  <a:schemeClr val="tx1"/>
                </a:solidFill>
              </a:rPr>
              <a:t>8 </a:t>
            </a:r>
            <a:r>
              <a:rPr lang="en-US" u="none" strike="noStrike" cap="none">
                <a:solidFill>
                  <a:schemeClr val="tx2"/>
                </a:solidFill>
              </a:rPr>
              <a:t>млн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61" name="Google Shape;261;p17"/>
          <p:cNvSpPr txBox="1"/>
          <p:nvPr/>
        </p:nvSpPr>
        <p:spPr>
          <a:xfrm>
            <a:off x="6861175" y="5270641"/>
            <a:ext cx="4632009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МСБ без IT-ресурсов: кафе, небольшие магазины,</a:t>
            </a:r>
            <a:endParaRPr>
              <a:latin typeface="Arial"/>
            </a:endParaRPr>
          </a:p>
        </p:txBody>
      </p:sp>
      <p:sp>
        <p:nvSpPr>
          <p:cNvPr id="262" name="Google Shape;262;p17"/>
          <p:cNvSpPr txBox="1"/>
          <p:nvPr/>
        </p:nvSpPr>
        <p:spPr>
          <a:xfrm>
            <a:off x="6861175" y="5556391"/>
            <a:ext cx="1359979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малые офисы.</a:t>
            </a:r>
            <a:endParaRPr>
              <a:latin typeface="Arial"/>
            </a:endParaRPr>
          </a:p>
        </p:txBody>
      </p:sp>
      <p:sp>
        <p:nvSpPr>
          <p:cNvPr id="263" name="Google Shape;263;p17"/>
          <p:cNvSpPr txBox="1"/>
          <p:nvPr/>
        </p:nvSpPr>
        <p:spPr>
          <a:xfrm>
            <a:off x="6861175" y="5945486"/>
            <a:ext cx="2816500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accent3"/>
                </a:solidFill>
              </a:rPr>
              <a:t>89 000 точек × средний LTV 90 000 </a:t>
            </a:r>
            <a:r>
              <a:rPr lang="en-US" sz="1200" b="0" i="0" u="none" strike="noStrike" cap="none">
                <a:solidFill>
                  <a:schemeClr val="accent3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12490950" y="4112586"/>
            <a:ext cx="581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S O M</a:t>
            </a:r>
            <a:endParaRPr>
              <a:latin typeface="Arial"/>
            </a:endParaRPr>
          </a:p>
        </p:txBody>
      </p:sp>
      <p:sp>
        <p:nvSpPr>
          <p:cNvPr id="265" name="Google Shape;265;p17"/>
          <p:cNvSpPr txBox="1"/>
          <p:nvPr/>
        </p:nvSpPr>
        <p:spPr>
          <a:xfrm>
            <a:off x="12474650" y="4437446"/>
            <a:ext cx="2080800" cy="6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50" b="1" i="0" u="none" strike="noStrike" cap="none">
                <a:solidFill>
                  <a:schemeClr val="accent1"/>
                </a:solidFill>
              </a:rPr>
              <a:t>350 </a:t>
            </a:r>
            <a:r>
              <a:rPr lang="en-US" sz="1950" b="1" i="0" u="none" strike="noStrike" cap="none">
                <a:solidFill>
                  <a:schemeClr val="tx2"/>
                </a:solidFill>
              </a:rPr>
              <a:t>тыс </a:t>
            </a:r>
            <a:r>
              <a:rPr lang="en-US" sz="1950" b="1" i="0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266" name="Google Shape;266;p17"/>
          <p:cNvSpPr txBox="1"/>
          <p:nvPr/>
        </p:nvSpPr>
        <p:spPr>
          <a:xfrm>
            <a:off x="12474575" y="5270641"/>
            <a:ext cx="44418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Малые кафе и столовые с 1–3 точками. Реально</a:t>
            </a:r>
            <a:endParaRPr>
              <a:latin typeface="Arial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12495038" y="5556391"/>
            <a:ext cx="20400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достижимо за 3 года.</a:t>
            </a:r>
            <a:endParaRPr>
              <a:latin typeface="Arial"/>
            </a:endParaRPr>
          </a:p>
        </p:txBody>
      </p:sp>
      <p:sp>
        <p:nvSpPr>
          <p:cNvPr id="268" name="Google Shape;268;p17"/>
          <p:cNvSpPr txBox="1"/>
          <p:nvPr/>
        </p:nvSpPr>
        <p:spPr>
          <a:xfrm>
            <a:off x="12474575" y="5945486"/>
            <a:ext cx="4075500" cy="2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accent3"/>
                </a:solidFill>
              </a:rPr>
              <a:t>~270 клиентов × LTV ~90 000 </a:t>
            </a:r>
            <a:r>
              <a:rPr lang="en-US" sz="1200" b="0" i="0" u="none" strike="noStrike" cap="none">
                <a:solidFill>
                  <a:schemeClr val="accent3"/>
                </a:solidFill>
                <a:latin typeface="Arial"/>
                <a:sym typeface="Arial"/>
              </a:rPr>
              <a:t>₽</a:t>
            </a:r>
            <a:r>
              <a:rPr lang="en-US" sz="1200" b="0" i="0" u="none" strike="noStrike" cap="none">
                <a:solidFill>
                  <a:schemeClr val="accent3"/>
                </a:solidFill>
              </a:rPr>
              <a:t> · конверсия 0,03% SAM</a:t>
            </a:r>
            <a:endParaRPr>
              <a:latin typeface="Arial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270" name="Google Shape;270;p17"/>
          <p:cNvSpPr txBox="1"/>
          <p:nvPr/>
        </p:nvSpPr>
        <p:spPr>
          <a:xfrm>
            <a:off x="16890578" y="9771268"/>
            <a:ext cx="61637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05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8"/>
          <p:cNvSpPr/>
          <p:nvPr/>
        </p:nvSpPr>
        <p:spPr>
          <a:xfrm>
            <a:off x="857250" y="6946968"/>
            <a:ext cx="16573500" cy="1009650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pic>
        <p:nvPicPr>
          <p:cNvPr id="278" name="Google Shape;278;p18" descr="zone_p06_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50" y="6946968"/>
            <a:ext cx="38100" cy="10096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79" name="Google Shape;279;p18"/>
          <p:cNvGraphicFramePr/>
          <p:nvPr/>
        </p:nvGraphicFramePr>
        <p:xfrm>
          <a:off x="857250" y="3578950"/>
          <a:ext cx="16573500" cy="3029450"/>
        </p:xfrm>
        <a:graphic>
          <a:graphicData uri="http://schemas.openxmlformats.org/drawingml/2006/table">
            <a:tbl>
              <a:tblPr>
                <a:noFill/>
                <a:tableStyleId>{84E6D79F-23E2-48C5-ABEF-1909FC991E8A}</a:tableStyleId>
              </a:tblPr>
              <a:tblGrid>
                <a:gridCol w="397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79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2350">
                <a:tc>
                  <a:txBody>
                    <a:bodyPr/>
                    <a:lstStyle/>
                    <a:p>
                      <a:pPr marL="0" marR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tx2"/>
                          </a:solidFill>
                        </a:rPr>
                        <a:t>      </a:t>
                      </a:r>
                      <a:r>
                        <a:rPr lang="en-US" b="1" u="none" strike="noStrike" cap="none">
                          <a:solidFill>
                            <a:schemeClr val="tx2"/>
                          </a:solidFill>
                        </a:rPr>
                        <a:t>Решение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19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2"/>
                          </a:solidFill>
                        </a:rPr>
                        <a:t>Цена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19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2"/>
                          </a:solidFill>
                        </a:rPr>
                        <a:t>Интернет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19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2"/>
                          </a:solidFill>
                        </a:rPr>
                        <a:t>Настройка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19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2"/>
                          </a:solidFill>
                        </a:rPr>
                        <a:t>Офлайн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19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25"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Yodeck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от 600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rPr>
                        <a:t>₽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/экр/мес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нужен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средняя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hlink"/>
                          </a:solidFill>
                          <a:latin typeface="Arial"/>
                          <a:sym typeface="Arial"/>
                        </a:rPr>
                        <a:t>✗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1350"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Screenly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от 1 275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rPr>
                        <a:t>₽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/экр/мес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нужен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средняя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hlink"/>
                          </a:solidFill>
                          <a:latin typeface="Arial"/>
                          <a:sym typeface="Arial"/>
                        </a:rPr>
                        <a:t>✗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25"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PiSignage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от 225 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rPr>
                        <a:t>₽</a:t>
                      </a: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/экр/мес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нужен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u="none" strike="noStrike" cap="none">
                          <a:solidFill>
                            <a:schemeClr val="tx1"/>
                          </a:solidFill>
                        </a:rPr>
                        <a:t>средняя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hlink"/>
                          </a:solidFill>
                          <a:latin typeface="Arial"/>
                          <a:sym typeface="Arial"/>
                        </a:rPr>
                        <a:t>✗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F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500"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accent1"/>
                          </a:solidFill>
                        </a:rPr>
                        <a:t>     </a:t>
                      </a:r>
                      <a:r>
                        <a:rPr lang="en-US" b="1" u="none" strike="noStrike" cap="none">
                          <a:solidFill>
                            <a:schemeClr val="accent1"/>
                          </a:solidFill>
                        </a:rPr>
                        <a:t>PiConstruct </a:t>
                      </a:r>
                      <a:r>
                        <a:rPr lang="en-US" b="1" u="none" strike="noStrike" cap="none">
                          <a:solidFill>
                            <a:schemeClr val="accent1"/>
                          </a:solidFill>
                          <a:latin typeface="Arial"/>
                          <a:sym typeface="Arial"/>
                        </a:rPr>
                        <a:t>★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3A2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1"/>
                          </a:solidFill>
                        </a:rPr>
                        <a:t>2 499 </a:t>
                      </a:r>
                      <a:r>
                        <a:rPr lang="en-US" b="1" u="none" strike="noStrike" cap="none">
                          <a:solidFill>
                            <a:schemeClr val="tx1"/>
                          </a:solidFill>
                          <a:latin typeface="Arial"/>
                          <a:sym typeface="Arial"/>
                        </a:rPr>
                        <a:t>₽</a:t>
                      </a:r>
                      <a:r>
                        <a:rPr lang="en-US" b="1" u="none" strike="noStrike" cap="none">
                          <a:solidFill>
                            <a:schemeClr val="tx1"/>
                          </a:solidFill>
                        </a:rPr>
                        <a:t> разово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3A2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1"/>
                          </a:solidFill>
                        </a:rPr>
                        <a:t>опционально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3A2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tx1"/>
                          </a:solidFill>
                        </a:rPr>
                        <a:t>низкая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3A2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none" strike="noStrike" cap="none">
                          <a:solidFill>
                            <a:schemeClr val="accent1"/>
                          </a:solidFill>
                          <a:latin typeface="Arial"/>
                          <a:sym typeface="Arial"/>
                        </a:rPr>
                        <a:t>✓</a:t>
                      </a:r>
                      <a:r>
                        <a:rPr lang="en-US" b="1" u="none" strike="noStrike" cap="none">
                          <a:solidFill>
                            <a:schemeClr val="accent1"/>
                          </a:solidFill>
                        </a:rPr>
                        <a:t> основной функционал</a:t>
                      </a:r>
                      <a:endParaRPr>
                        <a:latin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3A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0" name="Google Shape;280;p18"/>
          <p:cNvSpPr txBox="1"/>
          <p:nvPr/>
        </p:nvSpPr>
        <p:spPr>
          <a:xfrm>
            <a:off x="857250" y="666752"/>
            <a:ext cx="3230331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6  ·</a:t>
            </a:r>
            <a:r>
              <a:rPr lang="en-US" b="1" u="none" strike="noStrike" cap="none">
                <a:solidFill>
                  <a:schemeClr val="accent1"/>
                </a:solidFill>
              </a:rPr>
              <a:t>  К О Н К У Р Е Н Т Ы</a:t>
            </a:r>
            <a:endParaRPr>
              <a:latin typeface="Arial"/>
            </a:endParaRPr>
          </a:p>
        </p:txBody>
      </p:sp>
      <p:sp>
        <p:nvSpPr>
          <p:cNvPr id="281" name="Google Shape;281;p18"/>
          <p:cNvSpPr txBox="1"/>
          <p:nvPr/>
        </p:nvSpPr>
        <p:spPr>
          <a:xfrm>
            <a:off x="857250" y="1028606"/>
            <a:ext cx="14928460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Мы дешевле, проще и работаем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без интернета</a:t>
            </a:r>
            <a:endParaRPr>
              <a:latin typeface="Arial"/>
            </a:endParaRPr>
          </a:p>
        </p:txBody>
      </p:sp>
      <p:sp>
        <p:nvSpPr>
          <p:cNvPr id="282" name="Google Shape;282;p18"/>
          <p:cNvSpPr txBox="1"/>
          <p:nvPr/>
        </p:nvSpPr>
        <p:spPr>
          <a:xfrm>
            <a:off x="1143000" y="7170473"/>
            <a:ext cx="14877970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Единственное решение, которое работает офлайн «из коробки» и не требует подписки. Цена входа — разовая и в </a:t>
            </a:r>
            <a:r>
              <a:rPr lang="en-US" b="1" u="none" strike="noStrike" cap="none">
                <a:solidFill>
                  <a:schemeClr val="tx1"/>
                </a:solidFill>
              </a:rPr>
              <a:t>3–10× ниже</a:t>
            </a:r>
            <a:r>
              <a:rPr lang="en-US" u="none" strike="noStrike" cap="none">
                <a:solidFill>
                  <a:schemeClr val="tx2"/>
                </a:solidFill>
              </a:rPr>
              <a:t> годовой подписки</a:t>
            </a:r>
            <a:endParaRPr>
              <a:latin typeface="Arial"/>
            </a:endParaRPr>
          </a:p>
        </p:txBody>
      </p:sp>
      <p:sp>
        <p:nvSpPr>
          <p:cNvPr id="283" name="Google Shape;283;p18"/>
          <p:cNvSpPr txBox="1"/>
          <p:nvPr/>
        </p:nvSpPr>
        <p:spPr>
          <a:xfrm>
            <a:off x="1143000" y="7484798"/>
            <a:ext cx="1426330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конкурентов.</a:t>
            </a:r>
            <a:endParaRPr>
              <a:latin typeface="Arial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285" name="Google Shape;285;p18"/>
          <p:cNvSpPr txBox="1"/>
          <p:nvPr/>
        </p:nvSpPr>
        <p:spPr>
          <a:xfrm>
            <a:off x="16889443" y="9771268"/>
            <a:ext cx="617512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06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9"/>
          <p:cNvSpPr/>
          <p:nvPr/>
        </p:nvSpPr>
        <p:spPr>
          <a:xfrm>
            <a:off x="857250" y="4002977"/>
            <a:ext cx="5220194" cy="4123469"/>
          </a:xfrm>
          <a:prstGeom prst="roundRect">
            <a:avLst>
              <a:gd name="adj" fmla="val 5087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93" name="Google Shape;293;p19"/>
          <p:cNvSpPr/>
          <p:nvPr/>
        </p:nvSpPr>
        <p:spPr>
          <a:xfrm>
            <a:off x="6325094" y="4002977"/>
            <a:ext cx="5637810" cy="4123469"/>
          </a:xfrm>
          <a:prstGeom prst="roundRect">
            <a:avLst>
              <a:gd name="adj" fmla="val 5081"/>
            </a:avLst>
          </a:prstGeom>
          <a:solidFill>
            <a:srgbClr val="1A1F27"/>
          </a:solidFill>
          <a:ln w="19050" cap="flat" cmpd="sng">
            <a:solidFill>
              <a:srgbClr val="2BDD9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94" name="Google Shape;294;p19"/>
          <p:cNvSpPr/>
          <p:nvPr/>
        </p:nvSpPr>
        <p:spPr>
          <a:xfrm>
            <a:off x="8379111" y="3869627"/>
            <a:ext cx="1529776" cy="313943"/>
          </a:xfrm>
          <a:prstGeom prst="roundRect">
            <a:avLst>
              <a:gd name="adj" fmla="val 42718"/>
            </a:avLst>
          </a:prstGeom>
          <a:solidFill>
            <a:srgbClr val="2BDD9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5"/>
                </a:solidFill>
              </a:rPr>
              <a:t>ХИТ ПРОДАЖ</a:t>
            </a:r>
            <a:endParaRPr>
              <a:latin typeface="Arial"/>
            </a:endParaRPr>
          </a:p>
        </p:txBody>
      </p:sp>
      <p:sp>
        <p:nvSpPr>
          <p:cNvPr id="295" name="Google Shape;295;p19"/>
          <p:cNvSpPr/>
          <p:nvPr/>
        </p:nvSpPr>
        <p:spPr>
          <a:xfrm>
            <a:off x="12210554" y="4002977"/>
            <a:ext cx="5220195" cy="4123469"/>
          </a:xfrm>
          <a:prstGeom prst="roundRect">
            <a:avLst>
              <a:gd name="adj" fmla="val 5087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296" name="Google Shape;296;p19"/>
          <p:cNvSpPr txBox="1"/>
          <p:nvPr/>
        </p:nvSpPr>
        <p:spPr>
          <a:xfrm>
            <a:off x="857250" y="666752"/>
            <a:ext cx="3883501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7  ·</a:t>
            </a:r>
            <a:r>
              <a:rPr lang="en-US" b="1" u="none" strike="noStrike" cap="none">
                <a:solidFill>
                  <a:schemeClr val="accent1"/>
                </a:solidFill>
              </a:rPr>
              <a:t>  Б И З Н Е С - М О Д Е Л Ь</a:t>
            </a:r>
            <a:endParaRPr>
              <a:latin typeface="Arial"/>
            </a:endParaRPr>
          </a:p>
        </p:txBody>
      </p:sp>
      <p:sp>
        <p:nvSpPr>
          <p:cNvPr id="297" name="Google Shape;297;p19"/>
          <p:cNvSpPr txBox="1"/>
          <p:nvPr/>
        </p:nvSpPr>
        <p:spPr>
          <a:xfrm>
            <a:off x="857250" y="1028606"/>
            <a:ext cx="14215249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Гибридная монетизация: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разовая покупка +</a:t>
            </a:r>
            <a:endParaRPr>
              <a:latin typeface="Arial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857250" y="1711358"/>
            <a:ext cx="3241853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accent1"/>
                </a:solidFill>
              </a:rPr>
              <a:t>подписка</a:t>
            </a:r>
            <a:endParaRPr>
              <a:latin typeface="Arial"/>
            </a:endParaRPr>
          </a:p>
        </p:txBody>
      </p:sp>
      <p:sp>
        <p:nvSpPr>
          <p:cNvPr id="299" name="Google Shape;299;p19"/>
          <p:cNvSpPr txBox="1"/>
          <p:nvPr/>
        </p:nvSpPr>
        <p:spPr>
          <a:xfrm>
            <a:off x="1190625" y="4336355"/>
            <a:ext cx="859193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BASIC</a:t>
            </a:r>
            <a:endParaRPr>
              <a:latin typeface="Arial"/>
            </a:endParaRPr>
          </a:p>
        </p:txBody>
      </p:sp>
      <p:sp>
        <p:nvSpPr>
          <p:cNvPr id="300" name="Google Shape;300;p19"/>
          <p:cNvSpPr txBox="1"/>
          <p:nvPr/>
        </p:nvSpPr>
        <p:spPr>
          <a:xfrm>
            <a:off x="1190625" y="4660869"/>
            <a:ext cx="821969" cy="55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50" b="1" i="0" u="none" strike="noStrike" cap="none">
                <a:solidFill>
                  <a:schemeClr val="tx1"/>
                </a:solidFill>
              </a:rPr>
              <a:t>0 </a:t>
            </a:r>
            <a:r>
              <a:rPr lang="en-US" sz="3450" b="1" i="0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301" name="Google Shape;301;p19"/>
          <p:cNvSpPr txBox="1"/>
          <p:nvPr/>
        </p:nvSpPr>
        <p:spPr>
          <a:xfrm>
            <a:off x="1190625" y="5199128"/>
            <a:ext cx="1751781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навсегда бесплатно</a:t>
            </a:r>
            <a:endParaRPr>
              <a:latin typeface="Arial"/>
            </a:endParaRPr>
          </a:p>
        </p:txBody>
      </p:sp>
      <p:sp>
        <p:nvSpPr>
          <p:cNvPr id="302" name="Google Shape;302;p19"/>
          <p:cNvSpPr txBox="1"/>
          <p:nvPr/>
        </p:nvSpPr>
        <p:spPr>
          <a:xfrm>
            <a:off x="1514475" y="5732338"/>
            <a:ext cx="1043177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1 образ ОС</a:t>
            </a:r>
            <a:endParaRPr>
              <a:latin typeface="Arial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1190625" y="574993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1514475" y="6160963"/>
            <a:ext cx="185794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3 базовых шаблона</a:t>
            </a:r>
            <a:endParaRPr>
              <a:latin typeface="Arial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1190625" y="6178561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06" name="Google Shape;306;p19"/>
          <p:cNvSpPr txBox="1"/>
          <p:nvPr/>
        </p:nvSpPr>
        <p:spPr>
          <a:xfrm>
            <a:off x="1514475" y="6589588"/>
            <a:ext cx="2282952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Предпросмотр на сайте</a:t>
            </a:r>
            <a:endParaRPr>
              <a:latin typeface="Arial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1190625" y="660718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1514475" y="7018213"/>
            <a:ext cx="2144458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4"/>
                </a:solidFill>
              </a:rPr>
              <a:t>Wi-Fi-редактирование</a:t>
            </a:r>
            <a:endParaRPr>
              <a:latin typeface="Arial"/>
            </a:endParaRPr>
          </a:p>
        </p:txBody>
      </p:sp>
      <p:sp>
        <p:nvSpPr>
          <p:cNvPr id="309" name="Google Shape;309;p19"/>
          <p:cNvSpPr txBox="1"/>
          <p:nvPr/>
        </p:nvSpPr>
        <p:spPr>
          <a:xfrm>
            <a:off x="1190625" y="7018213"/>
            <a:ext cx="21983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3"/>
                </a:solidFill>
              </a:rPr>
              <a:t>—</a:t>
            </a:r>
            <a:endParaRPr>
              <a:latin typeface="Arial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1514475" y="7446838"/>
            <a:ext cx="1087564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4"/>
                </a:solidFill>
              </a:rPr>
              <a:t>AI-контент</a:t>
            </a:r>
            <a:endParaRPr>
              <a:latin typeface="Arial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1190625" y="7446838"/>
            <a:ext cx="21983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3"/>
                </a:solidFill>
              </a:rPr>
              <a:t>—</a:t>
            </a:r>
            <a:endParaRPr>
              <a:latin typeface="Arial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6667994" y="4345880"/>
            <a:ext cx="579596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PRO</a:t>
            </a:r>
            <a:endParaRPr>
              <a:latin typeface="Arial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6667994" y="4670394"/>
            <a:ext cx="1790282" cy="55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50" b="1" i="0" u="none" strike="noStrike" cap="none">
                <a:solidFill>
                  <a:schemeClr val="accent1"/>
                </a:solidFill>
              </a:rPr>
              <a:t>2 499 </a:t>
            </a:r>
            <a:r>
              <a:rPr lang="en-US" sz="345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6667994" y="5208653"/>
            <a:ext cx="1459287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разовая покупка</a:t>
            </a:r>
            <a:endParaRPr>
              <a:latin typeface="Arial"/>
            </a:endParaRPr>
          </a:p>
        </p:txBody>
      </p:sp>
      <p:sp>
        <p:nvSpPr>
          <p:cNvPr id="315" name="Google Shape;315;p19"/>
          <p:cNvSpPr txBox="1"/>
          <p:nvPr/>
        </p:nvSpPr>
        <p:spPr>
          <a:xfrm>
            <a:off x="6991844" y="5741863"/>
            <a:ext cx="308286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Все шаблоны + индивидуальные</a:t>
            </a:r>
            <a:endParaRPr>
              <a:latin typeface="Arial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6667994" y="5759461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6991844" y="6170488"/>
            <a:ext cx="3011993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Неограниченное число образов</a:t>
            </a:r>
            <a:endParaRPr>
              <a:latin typeface="Arial"/>
            </a:endParaRPr>
          </a:p>
        </p:txBody>
      </p:sp>
      <p:sp>
        <p:nvSpPr>
          <p:cNvPr id="318" name="Google Shape;318;p19"/>
          <p:cNvSpPr txBox="1"/>
          <p:nvPr/>
        </p:nvSpPr>
        <p:spPr>
          <a:xfrm>
            <a:off x="6667994" y="618808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19" name="Google Shape;319;p19"/>
          <p:cNvSpPr txBox="1"/>
          <p:nvPr/>
        </p:nvSpPr>
        <p:spPr>
          <a:xfrm>
            <a:off x="6991844" y="6599113"/>
            <a:ext cx="3403282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Локальное редактирование по Wi-Fi</a:t>
            </a:r>
            <a:endParaRPr>
              <a:latin typeface="Arial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667994" y="6616711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21" name="Google Shape;321;p19"/>
          <p:cNvSpPr txBox="1"/>
          <p:nvPr/>
        </p:nvSpPr>
        <p:spPr>
          <a:xfrm>
            <a:off x="6991844" y="7027738"/>
            <a:ext cx="280492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Расширенная загрузка медиа</a:t>
            </a:r>
            <a:endParaRPr>
              <a:latin typeface="Arial"/>
            </a:endParaRPr>
          </a:p>
        </p:txBody>
      </p:sp>
      <p:sp>
        <p:nvSpPr>
          <p:cNvPr id="322" name="Google Shape;322;p19"/>
          <p:cNvSpPr txBox="1"/>
          <p:nvPr/>
        </p:nvSpPr>
        <p:spPr>
          <a:xfrm>
            <a:off x="6667994" y="704533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23" name="Google Shape;323;p19"/>
          <p:cNvSpPr txBox="1"/>
          <p:nvPr/>
        </p:nvSpPr>
        <p:spPr>
          <a:xfrm>
            <a:off x="6991844" y="7456363"/>
            <a:ext cx="1087564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4"/>
                </a:solidFill>
              </a:rPr>
              <a:t>AI-контент</a:t>
            </a:r>
            <a:endParaRPr>
              <a:latin typeface="Arial"/>
            </a:endParaRPr>
          </a:p>
        </p:txBody>
      </p:sp>
      <p:sp>
        <p:nvSpPr>
          <p:cNvPr id="324" name="Google Shape;324;p19"/>
          <p:cNvSpPr txBox="1"/>
          <p:nvPr/>
        </p:nvSpPr>
        <p:spPr>
          <a:xfrm>
            <a:off x="6667994" y="7456363"/>
            <a:ext cx="21983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3"/>
                </a:solidFill>
              </a:rPr>
              <a:t>—</a:t>
            </a:r>
            <a:endParaRPr>
              <a:latin typeface="Arial"/>
            </a:endParaRPr>
          </a:p>
        </p:txBody>
      </p:sp>
      <p:sp>
        <p:nvSpPr>
          <p:cNvPr id="325" name="Google Shape;325;p19"/>
          <p:cNvSpPr txBox="1"/>
          <p:nvPr/>
        </p:nvSpPr>
        <p:spPr>
          <a:xfrm>
            <a:off x="12543929" y="4336355"/>
            <a:ext cx="487186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AI+</a:t>
            </a:r>
            <a:endParaRPr>
              <a:latin typeface="Arial"/>
            </a:endParaRPr>
          </a:p>
        </p:txBody>
      </p:sp>
      <p:sp>
        <p:nvSpPr>
          <p:cNvPr id="326" name="Google Shape;326;p19"/>
          <p:cNvSpPr txBox="1"/>
          <p:nvPr/>
        </p:nvSpPr>
        <p:spPr>
          <a:xfrm>
            <a:off x="12543929" y="4660869"/>
            <a:ext cx="1908307" cy="523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50" b="1" i="0" u="none" strike="noStrike" cap="none">
                <a:solidFill>
                  <a:schemeClr val="tx1"/>
                </a:solidFill>
              </a:rPr>
              <a:t>499 </a:t>
            </a:r>
            <a:r>
              <a:rPr lang="en-US" sz="3450" b="1" i="0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r>
              <a:rPr lang="en-US" sz="1650" b="1" i="0" u="none" strike="noStrike" cap="none">
                <a:solidFill>
                  <a:schemeClr val="tx2"/>
                </a:solidFill>
              </a:rPr>
              <a:t>/мес</a:t>
            </a:r>
            <a:endParaRPr>
              <a:latin typeface="Arial"/>
            </a:endParaRPr>
          </a:p>
        </p:txBody>
      </p:sp>
      <p:sp>
        <p:nvSpPr>
          <p:cNvPr id="327" name="Google Shape;327;p19"/>
          <p:cNvSpPr txBox="1"/>
          <p:nvPr/>
        </p:nvSpPr>
        <p:spPr>
          <a:xfrm>
            <a:off x="12543929" y="5199128"/>
            <a:ext cx="1991640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подписка, требует PRO</a:t>
            </a:r>
            <a:endParaRPr>
              <a:latin typeface="Arial"/>
            </a:endParaRPr>
          </a:p>
        </p:txBody>
      </p:sp>
      <p:sp>
        <p:nvSpPr>
          <p:cNvPr id="328" name="Google Shape;328;p19"/>
          <p:cNvSpPr txBox="1"/>
          <p:nvPr/>
        </p:nvSpPr>
        <p:spPr>
          <a:xfrm>
            <a:off x="12867779" y="5732338"/>
            <a:ext cx="2187704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AI-генератор контента</a:t>
            </a:r>
            <a:endParaRPr>
              <a:latin typeface="Arial"/>
            </a:endParaRPr>
          </a:p>
        </p:txBody>
      </p:sp>
      <p:sp>
        <p:nvSpPr>
          <p:cNvPr id="329" name="Google Shape;329;p19"/>
          <p:cNvSpPr txBox="1"/>
          <p:nvPr/>
        </p:nvSpPr>
        <p:spPr>
          <a:xfrm>
            <a:off x="12543929" y="574993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30" name="Google Shape;330;p19"/>
          <p:cNvSpPr txBox="1"/>
          <p:nvPr/>
        </p:nvSpPr>
        <p:spPr>
          <a:xfrm>
            <a:off x="12867779" y="6160963"/>
            <a:ext cx="308781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Автообновление по расписанию</a:t>
            </a:r>
            <a:endParaRPr>
              <a:latin typeface="Arial"/>
            </a:endParaRPr>
          </a:p>
        </p:txBody>
      </p:sp>
      <p:sp>
        <p:nvSpPr>
          <p:cNvPr id="331" name="Google Shape;331;p19"/>
          <p:cNvSpPr txBox="1"/>
          <p:nvPr/>
        </p:nvSpPr>
        <p:spPr>
          <a:xfrm>
            <a:off x="12543929" y="6178561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32" name="Google Shape;332;p19"/>
          <p:cNvSpPr txBox="1"/>
          <p:nvPr/>
        </p:nvSpPr>
        <p:spPr>
          <a:xfrm>
            <a:off x="12867779" y="6589588"/>
            <a:ext cx="2442978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Облачная синхронизация</a:t>
            </a:r>
            <a:endParaRPr>
              <a:latin typeface="Arial"/>
            </a:endParaRPr>
          </a:p>
        </p:txBody>
      </p:sp>
      <p:sp>
        <p:nvSpPr>
          <p:cNvPr id="333" name="Google Shape;333;p19"/>
          <p:cNvSpPr txBox="1"/>
          <p:nvPr/>
        </p:nvSpPr>
        <p:spPr>
          <a:xfrm>
            <a:off x="12543929" y="660718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12867779" y="7018213"/>
            <a:ext cx="2484503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Приоритетная поддержка</a:t>
            </a:r>
            <a:endParaRPr>
              <a:latin typeface="Arial"/>
            </a:endParaRPr>
          </a:p>
        </p:txBody>
      </p:sp>
      <p:sp>
        <p:nvSpPr>
          <p:cNvPr id="335" name="Google Shape;335;p19"/>
          <p:cNvSpPr txBox="1"/>
          <p:nvPr/>
        </p:nvSpPr>
        <p:spPr>
          <a:xfrm>
            <a:off x="12543929" y="7035811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36" name="Google Shape;336;p19"/>
          <p:cNvSpPr txBox="1"/>
          <p:nvPr/>
        </p:nvSpPr>
        <p:spPr>
          <a:xfrm>
            <a:off x="12867779" y="7446838"/>
            <a:ext cx="1689545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Будущие AI-фичи</a:t>
            </a:r>
            <a:endParaRPr>
              <a:latin typeface="Arial"/>
            </a:endParaRPr>
          </a:p>
        </p:txBody>
      </p:sp>
      <p:sp>
        <p:nvSpPr>
          <p:cNvPr id="337" name="Google Shape;337;p19"/>
          <p:cNvSpPr txBox="1"/>
          <p:nvPr/>
        </p:nvSpPr>
        <p:spPr>
          <a:xfrm>
            <a:off x="12543929" y="7464436"/>
            <a:ext cx="266700" cy="21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16903042" y="9771268"/>
            <a:ext cx="603910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07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0"/>
          <p:cNvSpPr/>
          <p:nvPr/>
        </p:nvSpPr>
        <p:spPr>
          <a:xfrm>
            <a:off x="857250" y="5521464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1114425" y="5740539"/>
            <a:ext cx="897945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1"/>
                </a:solidFill>
              </a:rPr>
              <a:t>0–3 мес</a:t>
            </a:r>
            <a:endParaRPr>
              <a:latin typeface="Arial"/>
            </a:endParaRPr>
          </a:p>
        </p:txBody>
      </p:sp>
      <p:sp>
        <p:nvSpPr>
          <p:cNvPr id="348" name="Google Shape;348;p20"/>
          <p:cNvSpPr/>
          <p:nvPr/>
        </p:nvSpPr>
        <p:spPr>
          <a:xfrm>
            <a:off x="9277350" y="5521464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9534525" y="5740539"/>
            <a:ext cx="897945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1"/>
                </a:solidFill>
              </a:rPr>
              <a:t>0–3 мес</a:t>
            </a:r>
            <a:endParaRPr>
              <a:latin typeface="Arial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857250" y="6483108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1114425" y="6702183"/>
            <a:ext cx="895052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1"/>
                </a:solidFill>
              </a:rPr>
              <a:t>3–6 мес</a:t>
            </a:r>
            <a:endParaRPr>
              <a:latin typeface="Arial"/>
            </a:endParaRPr>
          </a:p>
        </p:txBody>
      </p:sp>
      <p:sp>
        <p:nvSpPr>
          <p:cNvPr id="352" name="Google Shape;352;p20"/>
          <p:cNvSpPr/>
          <p:nvPr/>
        </p:nvSpPr>
        <p:spPr>
          <a:xfrm>
            <a:off x="9277350" y="6483108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53" name="Google Shape;353;p20"/>
          <p:cNvSpPr/>
          <p:nvPr/>
        </p:nvSpPr>
        <p:spPr>
          <a:xfrm>
            <a:off x="9534525" y="6702183"/>
            <a:ext cx="895052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1"/>
                </a:solidFill>
              </a:rPr>
              <a:t>3–6 мес</a:t>
            </a:r>
            <a:endParaRPr>
              <a:latin typeface="Arial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57250" y="7444751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114425" y="7663826"/>
            <a:ext cx="965317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1"/>
                </a:solidFill>
              </a:rPr>
              <a:t>6–12 мес</a:t>
            </a:r>
            <a:endParaRPr>
              <a:latin typeface="Arial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9277350" y="7444751"/>
            <a:ext cx="8153400" cy="790193"/>
          </a:xfrm>
          <a:prstGeom prst="roundRect">
            <a:avLst>
              <a:gd name="adj" fmla="val 2413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57" name="Google Shape;357;p20"/>
          <p:cNvSpPr/>
          <p:nvPr/>
        </p:nvSpPr>
        <p:spPr>
          <a:xfrm>
            <a:off x="9534525" y="7663826"/>
            <a:ext cx="655476" cy="352043"/>
          </a:xfrm>
          <a:prstGeom prst="roundRect">
            <a:avLst>
              <a:gd name="adj" fmla="val 8000"/>
            </a:avLst>
          </a:prstGeom>
          <a:solidFill>
            <a:srgbClr val="15192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accent6"/>
                </a:solidFill>
              </a:rPr>
              <a:t>цель</a:t>
            </a:r>
            <a:endParaRPr>
              <a:latin typeface="Arial"/>
            </a:endParaRPr>
          </a:p>
        </p:txBody>
      </p:sp>
      <p:sp>
        <p:nvSpPr>
          <p:cNvPr id="358" name="Google Shape;358;p20"/>
          <p:cNvSpPr/>
          <p:nvPr/>
        </p:nvSpPr>
        <p:spPr>
          <a:xfrm>
            <a:off x="857250" y="3217499"/>
            <a:ext cx="3314700" cy="1808700"/>
          </a:xfrm>
          <a:prstGeom prst="roundRect">
            <a:avLst>
              <a:gd name="adj" fmla="val 0"/>
            </a:avLst>
          </a:prstGeom>
          <a:solidFill>
            <a:srgbClr val="1A1F2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1076325" y="3474687"/>
            <a:ext cx="419100" cy="4191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50" b="1" i="0" u="none" strike="noStrike" cap="none" dirty="0">
                <a:solidFill>
                  <a:schemeClr val="accent1"/>
                </a:solidFill>
                <a:latin typeface="Arial"/>
                <a:sym typeface="Arial"/>
              </a:rPr>
              <a:t>①</a:t>
            </a:r>
            <a:endParaRPr sz="2400" dirty="0">
              <a:latin typeface="Arial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4171950" y="3217512"/>
            <a:ext cx="3314700" cy="1808652"/>
          </a:xfrm>
          <a:prstGeom prst="rect">
            <a:avLst/>
          </a:prstGeom>
          <a:solidFill>
            <a:srgbClr val="1A1F2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4391025" y="3474687"/>
            <a:ext cx="419100" cy="4191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5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②</a:t>
            </a:r>
            <a:endParaRPr sz="2650">
              <a:latin typeface="Arial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7486650" y="3217512"/>
            <a:ext cx="3314700" cy="1808652"/>
          </a:xfrm>
          <a:prstGeom prst="rect">
            <a:avLst/>
          </a:prstGeom>
          <a:solidFill>
            <a:srgbClr val="12282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63" name="Google Shape;363;p20"/>
          <p:cNvSpPr/>
          <p:nvPr/>
        </p:nvSpPr>
        <p:spPr>
          <a:xfrm>
            <a:off x="7705725" y="3474687"/>
            <a:ext cx="419100" cy="419100"/>
          </a:xfrm>
          <a:prstGeom prst="roundRect">
            <a:avLst>
              <a:gd name="adj" fmla="val 8000"/>
            </a:avLst>
          </a:prstGeom>
          <a:solidFill>
            <a:srgbClr val="143D3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5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③</a:t>
            </a:r>
            <a:endParaRPr sz="2650">
              <a:latin typeface="Arial"/>
            </a:endParaRPr>
          </a:p>
        </p:txBody>
      </p:sp>
      <p:sp>
        <p:nvSpPr>
          <p:cNvPr id="364" name="Google Shape;364;p20"/>
          <p:cNvSpPr/>
          <p:nvPr/>
        </p:nvSpPr>
        <p:spPr>
          <a:xfrm>
            <a:off x="10801350" y="3217512"/>
            <a:ext cx="3314700" cy="1808652"/>
          </a:xfrm>
          <a:prstGeom prst="rect">
            <a:avLst/>
          </a:prstGeom>
          <a:solidFill>
            <a:srgbClr val="1A1F2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65" name="Google Shape;365;p20"/>
          <p:cNvSpPr/>
          <p:nvPr/>
        </p:nvSpPr>
        <p:spPr>
          <a:xfrm>
            <a:off x="11020425" y="3474687"/>
            <a:ext cx="419100" cy="4191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5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④</a:t>
            </a:r>
            <a:endParaRPr sz="2650">
              <a:latin typeface="Arial"/>
            </a:endParaRPr>
          </a:p>
        </p:txBody>
      </p:sp>
      <p:sp>
        <p:nvSpPr>
          <p:cNvPr id="366" name="Google Shape;366;p20"/>
          <p:cNvSpPr/>
          <p:nvPr/>
        </p:nvSpPr>
        <p:spPr>
          <a:xfrm>
            <a:off x="14116050" y="3217487"/>
            <a:ext cx="3314700" cy="1808700"/>
          </a:xfrm>
          <a:prstGeom prst="roundRect">
            <a:avLst>
              <a:gd name="adj" fmla="val 0"/>
            </a:avLst>
          </a:prstGeom>
          <a:solidFill>
            <a:srgbClr val="1A1F2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367" name="Google Shape;367;p20"/>
          <p:cNvSpPr/>
          <p:nvPr/>
        </p:nvSpPr>
        <p:spPr>
          <a:xfrm>
            <a:off x="14335125" y="3474687"/>
            <a:ext cx="419100" cy="4191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5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⑤</a:t>
            </a:r>
            <a:endParaRPr sz="2650">
              <a:latin typeface="Arial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857250" y="666752"/>
            <a:ext cx="4942566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8  ·</a:t>
            </a:r>
            <a:r>
              <a:rPr lang="en-US" b="1" u="none" strike="noStrike" cap="none">
                <a:solidFill>
                  <a:schemeClr val="accent1"/>
                </a:solidFill>
              </a:rPr>
              <a:t>  G O - T O - M A R K E T / Р О С Т</a:t>
            </a:r>
            <a:endParaRPr>
              <a:latin typeface="Arial"/>
            </a:endParaRPr>
          </a:p>
        </p:txBody>
      </p:sp>
      <p:sp>
        <p:nvSpPr>
          <p:cNvPr id="369" name="Google Shape;369;p20"/>
          <p:cNvSpPr txBox="1"/>
          <p:nvPr/>
        </p:nvSpPr>
        <p:spPr>
          <a:xfrm>
            <a:off x="857250" y="1028606"/>
            <a:ext cx="11958525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Петля роста: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Basic </a:t>
            </a:r>
            <a:r>
              <a:rPr lang="en-US" sz="480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→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 PRO </a:t>
            </a:r>
            <a:r>
              <a:rPr lang="en-US" sz="480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→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реферал</a:t>
            </a:r>
            <a:endParaRPr>
              <a:latin typeface="Arial"/>
            </a:endParaRPr>
          </a:p>
        </p:txBody>
      </p:sp>
      <p:sp>
        <p:nvSpPr>
          <p:cNvPr id="370" name="Google Shape;370;p20"/>
          <p:cNvSpPr txBox="1"/>
          <p:nvPr/>
        </p:nvSpPr>
        <p:spPr>
          <a:xfrm>
            <a:off x="2183820" y="5769041"/>
            <a:ext cx="5618019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VK / Telegram-сообщества общепита: 30 контактов, reply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2"/>
                </a:solidFill>
              </a:rPr>
              <a:t> 15%</a:t>
            </a:r>
            <a:endParaRPr>
              <a:latin typeface="Arial"/>
            </a:endParaRPr>
          </a:p>
        </p:txBody>
      </p:sp>
      <p:sp>
        <p:nvSpPr>
          <p:cNvPr id="371" name="Google Shape;371;p20"/>
          <p:cNvSpPr txBox="1"/>
          <p:nvPr/>
        </p:nvSpPr>
        <p:spPr>
          <a:xfrm>
            <a:off x="10603920" y="5769041"/>
            <a:ext cx="5506003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2GIS / Яндекс Карты — персонализированные письма по кафе</a:t>
            </a:r>
            <a:endParaRPr>
              <a:latin typeface="Arial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2180927" y="6730685"/>
            <a:ext cx="5380579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Кейсы первых клиентов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→</a:t>
            </a:r>
            <a:r>
              <a:rPr lang="en-US" u="none" strike="noStrike" cap="none">
                <a:solidFill>
                  <a:schemeClr val="tx2"/>
                </a:solidFill>
              </a:rPr>
              <a:t> контент-петля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→</a:t>
            </a:r>
            <a:r>
              <a:rPr lang="en-US" u="none" strike="noStrike" cap="none">
                <a:solidFill>
                  <a:schemeClr val="tx2"/>
                </a:solidFill>
              </a:rPr>
              <a:t> входящие лиды</a:t>
            </a:r>
            <a:endParaRPr>
              <a:latin typeface="Arial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10601027" y="6730685"/>
            <a:ext cx="4924349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Реферальный оффер: +1 мес AI+ за приведённого друга</a:t>
            </a:r>
            <a:endParaRPr>
              <a:latin typeface="Arial"/>
            </a:endParaRPr>
          </a:p>
        </p:txBody>
      </p:sp>
      <p:sp>
        <p:nvSpPr>
          <p:cNvPr id="374" name="Google Shape;374;p20"/>
          <p:cNvSpPr txBox="1"/>
          <p:nvPr/>
        </p:nvSpPr>
        <p:spPr>
          <a:xfrm>
            <a:off x="2251192" y="7692328"/>
            <a:ext cx="4938635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SEO: «шаблон меню для кафе»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→ </a:t>
            </a:r>
            <a:r>
              <a:rPr lang="en-US" u="none" strike="noStrike" cap="none">
                <a:solidFill>
                  <a:schemeClr val="tx2"/>
                </a:solidFill>
              </a:rPr>
              <a:t>органический трафик</a:t>
            </a:r>
            <a:endParaRPr>
              <a:latin typeface="Arial"/>
            </a:endParaRPr>
          </a:p>
        </p:txBody>
      </p:sp>
      <p:sp>
        <p:nvSpPr>
          <p:cNvPr id="375" name="Google Shape;375;p20"/>
          <p:cNvSpPr txBox="1"/>
          <p:nvPr/>
        </p:nvSpPr>
        <p:spPr>
          <a:xfrm>
            <a:off x="10361451" y="7692328"/>
            <a:ext cx="6385723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Снизить CAC до минимума: продукт «продаёт себя» через WOW-эффект</a:t>
            </a:r>
            <a:endParaRPr>
              <a:latin typeface="Arial"/>
            </a:endParaRPr>
          </a:p>
        </p:txBody>
      </p:sp>
      <p:sp>
        <p:nvSpPr>
          <p:cNvPr id="376" name="Google Shape;376;p20"/>
          <p:cNvSpPr txBox="1"/>
          <p:nvPr/>
        </p:nvSpPr>
        <p:spPr>
          <a:xfrm>
            <a:off x="1076325" y="4008084"/>
            <a:ext cx="1930231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Бесплатный Basic</a:t>
            </a:r>
            <a:endParaRPr>
              <a:latin typeface="Arial"/>
            </a:endParaRPr>
          </a:p>
        </p:txBody>
      </p:sp>
      <p:sp>
        <p:nvSpPr>
          <p:cNvPr id="377" name="Google Shape;377;p20"/>
          <p:cNvSpPr txBox="1"/>
          <p:nvPr/>
        </p:nvSpPr>
        <p:spPr>
          <a:xfrm>
            <a:off x="1076325" y="4320182"/>
            <a:ext cx="2934723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Владелец пробует конструктор без</a:t>
            </a:r>
            <a:endParaRPr>
              <a:latin typeface="Arial"/>
            </a:endParaRPr>
          </a:p>
        </p:txBody>
      </p:sp>
      <p:sp>
        <p:nvSpPr>
          <p:cNvPr id="378" name="Google Shape;378;p20"/>
          <p:cNvSpPr txBox="1"/>
          <p:nvPr/>
        </p:nvSpPr>
        <p:spPr>
          <a:xfrm>
            <a:off x="1076325" y="4553545"/>
            <a:ext cx="1362027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риска и оплаты.</a:t>
            </a:r>
            <a:endParaRPr>
              <a:latin typeface="Arial"/>
            </a:endParaRPr>
          </a:p>
        </p:txBody>
      </p:sp>
      <p:sp>
        <p:nvSpPr>
          <p:cNvPr id="379" name="Google Shape;379;p20"/>
          <p:cNvSpPr txBox="1"/>
          <p:nvPr/>
        </p:nvSpPr>
        <p:spPr>
          <a:xfrm>
            <a:off x="4391025" y="4008084"/>
            <a:ext cx="2646722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WOW-эффект за 15 минут</a:t>
            </a:r>
            <a:endParaRPr>
              <a:latin typeface="Arial"/>
            </a:endParaRPr>
          </a:p>
        </p:txBody>
      </p:sp>
      <p:sp>
        <p:nvSpPr>
          <p:cNvPr id="380" name="Google Shape;380;p20"/>
          <p:cNvSpPr txBox="1"/>
          <p:nvPr/>
        </p:nvSpPr>
        <p:spPr>
          <a:xfrm>
            <a:off x="4391025" y="4320182"/>
            <a:ext cx="2547008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Табло уже показывает меню —</a:t>
            </a:r>
            <a:endParaRPr>
              <a:latin typeface="Arial"/>
            </a:endParaRPr>
          </a:p>
        </p:txBody>
      </p:sp>
      <p:sp>
        <p:nvSpPr>
          <p:cNvPr id="381" name="Google Shape;381;p20"/>
          <p:cNvSpPr txBox="1"/>
          <p:nvPr/>
        </p:nvSpPr>
        <p:spPr>
          <a:xfrm>
            <a:off x="4391025" y="4553545"/>
            <a:ext cx="1588221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ценность увидена.</a:t>
            </a:r>
            <a:endParaRPr>
              <a:latin typeface="Arial"/>
            </a:endParaRPr>
          </a:p>
        </p:txBody>
      </p:sp>
      <p:sp>
        <p:nvSpPr>
          <p:cNvPr id="382" name="Google Shape;382;p20"/>
          <p:cNvSpPr txBox="1"/>
          <p:nvPr/>
        </p:nvSpPr>
        <p:spPr>
          <a:xfrm>
            <a:off x="7705725" y="4008084"/>
            <a:ext cx="1562785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Апгрейд в PRO</a:t>
            </a:r>
            <a:endParaRPr>
              <a:latin typeface="Arial"/>
            </a:endParaRPr>
          </a:p>
        </p:txBody>
      </p:sp>
      <p:sp>
        <p:nvSpPr>
          <p:cNvPr id="383" name="Google Shape;383;p20"/>
          <p:cNvSpPr txBox="1"/>
          <p:nvPr/>
        </p:nvSpPr>
        <p:spPr>
          <a:xfrm>
            <a:off x="7705725" y="4320182"/>
            <a:ext cx="2551340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2 499 </a:t>
            </a:r>
            <a:r>
              <a:rPr lang="en-US" sz="1312" b="0" i="0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r>
              <a:rPr lang="en-US" sz="1312" b="0" i="0" u="none" strike="noStrike" cap="none">
                <a:solidFill>
                  <a:schemeClr val="tx2"/>
                </a:solidFill>
              </a:rPr>
              <a:t> разово — за Wi-Fi и все</a:t>
            </a:r>
            <a:endParaRPr>
              <a:latin typeface="Arial"/>
            </a:endParaRPr>
          </a:p>
        </p:txBody>
      </p:sp>
      <p:sp>
        <p:nvSpPr>
          <p:cNvPr id="384" name="Google Shape;384;p20"/>
          <p:cNvSpPr txBox="1"/>
          <p:nvPr/>
        </p:nvSpPr>
        <p:spPr>
          <a:xfrm>
            <a:off x="7705725" y="4553545"/>
            <a:ext cx="850129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шаблоны.</a:t>
            </a:r>
            <a:endParaRPr>
              <a:latin typeface="Arial"/>
            </a:endParaRPr>
          </a:p>
        </p:txBody>
      </p:sp>
      <p:sp>
        <p:nvSpPr>
          <p:cNvPr id="385" name="Google Shape;385;p20"/>
          <p:cNvSpPr txBox="1"/>
          <p:nvPr/>
        </p:nvSpPr>
        <p:spPr>
          <a:xfrm>
            <a:off x="11020425" y="4008084"/>
            <a:ext cx="979713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Реферал</a:t>
            </a:r>
            <a:endParaRPr>
              <a:latin typeface="Arial"/>
            </a:endParaRPr>
          </a:p>
        </p:txBody>
      </p:sp>
      <p:sp>
        <p:nvSpPr>
          <p:cNvPr id="386" name="Google Shape;386;p20"/>
          <p:cNvSpPr txBox="1"/>
          <p:nvPr/>
        </p:nvSpPr>
        <p:spPr>
          <a:xfrm>
            <a:off x="11020425" y="4320182"/>
            <a:ext cx="2544844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Владелец советует знакомому</a:t>
            </a:r>
            <a:endParaRPr>
              <a:latin typeface="Arial"/>
            </a:endParaRPr>
          </a:p>
        </p:txBody>
      </p:sp>
      <p:sp>
        <p:nvSpPr>
          <p:cNvPr id="387" name="Google Shape;387;p20"/>
          <p:cNvSpPr txBox="1"/>
          <p:nvPr/>
        </p:nvSpPr>
        <p:spPr>
          <a:xfrm>
            <a:off x="11020425" y="4553545"/>
            <a:ext cx="512421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кафе.</a:t>
            </a:r>
            <a:endParaRPr>
              <a:latin typeface="Arial"/>
            </a:endParaRPr>
          </a:p>
        </p:txBody>
      </p:sp>
      <p:sp>
        <p:nvSpPr>
          <p:cNvPr id="388" name="Google Shape;388;p20"/>
          <p:cNvSpPr txBox="1"/>
          <p:nvPr/>
        </p:nvSpPr>
        <p:spPr>
          <a:xfrm>
            <a:off x="14335125" y="4008084"/>
            <a:ext cx="2048648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Новый Basic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→</a:t>
            </a:r>
            <a:r>
              <a:rPr lang="en-US" b="1" u="none" strike="noStrike" cap="none">
                <a:solidFill>
                  <a:schemeClr val="tx1"/>
                </a:solidFill>
              </a:rPr>
              <a:t> PRO</a:t>
            </a:r>
            <a:endParaRPr>
              <a:latin typeface="Arial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14335125" y="4322080"/>
            <a:ext cx="2692528" cy="220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2" b="0" i="0" u="none" strike="noStrike" cap="none">
                <a:solidFill>
                  <a:schemeClr val="tx2"/>
                </a:solidFill>
              </a:rPr>
              <a:t>Петля замыкается и ускоряется.</a:t>
            </a:r>
            <a:endParaRPr>
              <a:latin typeface="Arial"/>
            </a:endParaRPr>
          </a:p>
        </p:txBody>
      </p:sp>
      <p:sp>
        <p:nvSpPr>
          <p:cNvPr id="390" name="Google Shape;390;p20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391" name="Google Shape;391;p20"/>
          <p:cNvSpPr txBox="1"/>
          <p:nvPr/>
        </p:nvSpPr>
        <p:spPr>
          <a:xfrm>
            <a:off x="16884746" y="9771268"/>
            <a:ext cx="622208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08 / 13</a:t>
            </a:r>
            <a:endParaRPr>
              <a:latin typeface="Arial"/>
            </a:endParaRPr>
          </a:p>
        </p:txBody>
      </p:sp>
      <p:sp>
        <p:nvSpPr>
          <p:cNvPr id="392" name="Google Shape;392;p20"/>
          <p:cNvSpPr txBox="1"/>
          <p:nvPr/>
        </p:nvSpPr>
        <p:spPr>
          <a:xfrm>
            <a:off x="4090987" y="4032507"/>
            <a:ext cx="219075" cy="200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5"/>
                </a:solidFill>
                <a:latin typeface="Arial"/>
                <a:sym typeface="Arial"/>
              </a:rPr>
              <a:t>→</a:t>
            </a:r>
            <a:endParaRPr>
              <a:latin typeface="Arial"/>
            </a:endParaRPr>
          </a:p>
        </p:txBody>
      </p:sp>
      <p:sp>
        <p:nvSpPr>
          <p:cNvPr id="393" name="Google Shape;393;p20"/>
          <p:cNvSpPr txBox="1"/>
          <p:nvPr/>
        </p:nvSpPr>
        <p:spPr>
          <a:xfrm>
            <a:off x="7405687" y="4032507"/>
            <a:ext cx="219075" cy="200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5"/>
                </a:solidFill>
                <a:latin typeface="Arial"/>
                <a:sym typeface="Arial"/>
              </a:rPr>
              <a:t>→</a:t>
            </a:r>
            <a:endParaRPr>
              <a:latin typeface="Arial"/>
            </a:endParaRPr>
          </a:p>
        </p:txBody>
      </p:sp>
      <p:sp>
        <p:nvSpPr>
          <p:cNvPr id="394" name="Google Shape;394;p20"/>
          <p:cNvSpPr txBox="1"/>
          <p:nvPr/>
        </p:nvSpPr>
        <p:spPr>
          <a:xfrm>
            <a:off x="10720387" y="4032507"/>
            <a:ext cx="219075" cy="200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5"/>
                </a:solidFill>
                <a:latin typeface="Arial"/>
                <a:sym typeface="Arial"/>
              </a:rPr>
              <a:t>→</a:t>
            </a:r>
            <a:endParaRPr>
              <a:latin typeface="Arial"/>
            </a:endParaRPr>
          </a:p>
        </p:txBody>
      </p:sp>
      <p:sp>
        <p:nvSpPr>
          <p:cNvPr id="395" name="Google Shape;395;p20"/>
          <p:cNvSpPr txBox="1"/>
          <p:nvPr/>
        </p:nvSpPr>
        <p:spPr>
          <a:xfrm>
            <a:off x="14035087" y="4032507"/>
            <a:ext cx="219075" cy="200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5"/>
                </a:solidFill>
                <a:latin typeface="Arial"/>
                <a:sym typeface="Arial"/>
              </a:rPr>
              <a:t>→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1"/>
          <p:cNvSpPr/>
          <p:nvPr/>
        </p:nvSpPr>
        <p:spPr>
          <a:xfrm>
            <a:off x="857250" y="3093773"/>
            <a:ext cx="8561069" cy="1186193"/>
          </a:xfrm>
          <a:prstGeom prst="roundRect">
            <a:avLst>
              <a:gd name="adj" fmla="val 1287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1095375" y="3293798"/>
            <a:ext cx="381000" cy="3810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404" name="Google Shape;404;p21"/>
          <p:cNvSpPr/>
          <p:nvPr/>
        </p:nvSpPr>
        <p:spPr>
          <a:xfrm>
            <a:off x="8460396" y="3545065"/>
            <a:ext cx="719797" cy="28361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1"/>
                </a:solidFill>
              </a:rPr>
              <a:t>готово</a:t>
            </a:r>
            <a:endParaRPr>
              <a:latin typeface="Arial"/>
            </a:endParaRPr>
          </a:p>
        </p:txBody>
      </p:sp>
      <p:sp>
        <p:nvSpPr>
          <p:cNvPr id="405" name="Google Shape;405;p21"/>
          <p:cNvSpPr/>
          <p:nvPr/>
        </p:nvSpPr>
        <p:spPr>
          <a:xfrm>
            <a:off x="857250" y="4451417"/>
            <a:ext cx="8561069" cy="1186193"/>
          </a:xfrm>
          <a:prstGeom prst="roundRect">
            <a:avLst>
              <a:gd name="adj" fmla="val 1287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1095375" y="4651442"/>
            <a:ext cx="381000" cy="3810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8460396" y="4902708"/>
            <a:ext cx="719797" cy="28361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1"/>
                </a:solidFill>
              </a:rPr>
              <a:t>готово</a:t>
            </a:r>
            <a:endParaRPr>
              <a:latin typeface="Arial"/>
            </a:endParaRPr>
          </a:p>
        </p:txBody>
      </p:sp>
      <p:sp>
        <p:nvSpPr>
          <p:cNvPr id="408" name="Google Shape;408;p21"/>
          <p:cNvSpPr/>
          <p:nvPr/>
        </p:nvSpPr>
        <p:spPr>
          <a:xfrm>
            <a:off x="857250" y="5809060"/>
            <a:ext cx="8561069" cy="1186194"/>
          </a:xfrm>
          <a:prstGeom prst="rect">
            <a:avLst/>
          </a:prstGeom>
          <a:solidFill>
            <a:srgbClr val="1A1F2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1095375" y="6009085"/>
            <a:ext cx="381000" cy="3810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410" name="Google Shape;410;p21"/>
          <p:cNvSpPr/>
          <p:nvPr/>
        </p:nvSpPr>
        <p:spPr>
          <a:xfrm>
            <a:off x="8460396" y="6260351"/>
            <a:ext cx="719797" cy="28361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1"/>
                </a:solidFill>
              </a:rPr>
              <a:t>готово</a:t>
            </a:r>
            <a:endParaRPr>
              <a:latin typeface="Arial"/>
            </a:endParaRPr>
          </a:p>
        </p:txBody>
      </p:sp>
      <p:sp>
        <p:nvSpPr>
          <p:cNvPr id="411" name="Google Shape;411;p21"/>
          <p:cNvSpPr/>
          <p:nvPr/>
        </p:nvSpPr>
        <p:spPr>
          <a:xfrm>
            <a:off x="857250" y="7166704"/>
            <a:ext cx="8561069" cy="1186193"/>
          </a:xfrm>
          <a:prstGeom prst="roundRect">
            <a:avLst>
              <a:gd name="adj" fmla="val 1287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2" name="Google Shape;412;p21"/>
          <p:cNvSpPr/>
          <p:nvPr/>
        </p:nvSpPr>
        <p:spPr>
          <a:xfrm>
            <a:off x="1095375" y="7366729"/>
            <a:ext cx="381000" cy="38100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✓</a:t>
            </a:r>
            <a:endParaRPr>
              <a:latin typeface="Arial"/>
            </a:endParaRPr>
          </a:p>
        </p:txBody>
      </p:sp>
      <p:sp>
        <p:nvSpPr>
          <p:cNvPr id="413" name="Google Shape;413;p21"/>
          <p:cNvSpPr/>
          <p:nvPr/>
        </p:nvSpPr>
        <p:spPr>
          <a:xfrm>
            <a:off x="8321949" y="7617996"/>
            <a:ext cx="858245" cy="283610"/>
          </a:xfrm>
          <a:prstGeom prst="roundRect">
            <a:avLst>
              <a:gd name="adj" fmla="val 8000"/>
            </a:avLst>
          </a:prstGeom>
          <a:solidFill>
            <a:srgbClr val="1B35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chemeClr val="accent1"/>
                </a:solidFill>
              </a:rPr>
              <a:t>в работе</a:t>
            </a:r>
            <a:endParaRPr>
              <a:latin typeface="Arial"/>
            </a:endParaRPr>
          </a:p>
        </p:txBody>
      </p:sp>
      <p:sp>
        <p:nvSpPr>
          <p:cNvPr id="414" name="Google Shape;414;p21"/>
          <p:cNvSpPr/>
          <p:nvPr/>
        </p:nvSpPr>
        <p:spPr>
          <a:xfrm>
            <a:off x="9656094" y="3674798"/>
            <a:ext cx="3787200" cy="1078500"/>
          </a:xfrm>
          <a:prstGeom prst="roundRect">
            <a:avLst>
              <a:gd name="adj" fmla="val 14156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5" name="Google Shape;415;p21"/>
          <p:cNvSpPr/>
          <p:nvPr/>
        </p:nvSpPr>
        <p:spPr>
          <a:xfrm>
            <a:off x="13614685" y="3674798"/>
            <a:ext cx="3787200" cy="1078500"/>
          </a:xfrm>
          <a:prstGeom prst="roundRect">
            <a:avLst>
              <a:gd name="adj" fmla="val 14156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6" name="Google Shape;416;p21"/>
          <p:cNvSpPr/>
          <p:nvPr/>
        </p:nvSpPr>
        <p:spPr>
          <a:xfrm>
            <a:off x="9656094" y="4924859"/>
            <a:ext cx="3787200" cy="1078500"/>
          </a:xfrm>
          <a:prstGeom prst="roundRect">
            <a:avLst>
              <a:gd name="adj" fmla="val 14156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7" name="Google Shape;417;p21"/>
          <p:cNvSpPr/>
          <p:nvPr/>
        </p:nvSpPr>
        <p:spPr>
          <a:xfrm>
            <a:off x="13614685" y="4924859"/>
            <a:ext cx="3787200" cy="1078500"/>
          </a:xfrm>
          <a:prstGeom prst="roundRect">
            <a:avLst>
              <a:gd name="adj" fmla="val 14156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8" name="Google Shape;418;p21"/>
          <p:cNvSpPr/>
          <p:nvPr/>
        </p:nvSpPr>
        <p:spPr>
          <a:xfrm>
            <a:off x="9656094" y="6174921"/>
            <a:ext cx="7745700" cy="1678800"/>
          </a:xfrm>
          <a:prstGeom prst="roundRect">
            <a:avLst>
              <a:gd name="adj" fmla="val 11360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19" name="Google Shape;419;p21"/>
          <p:cNvSpPr txBox="1"/>
          <p:nvPr/>
        </p:nvSpPr>
        <p:spPr>
          <a:xfrm>
            <a:off x="857250" y="666752"/>
            <a:ext cx="4968545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0 9  ·</a:t>
            </a:r>
            <a:r>
              <a:rPr lang="en-US" b="1" u="none" strike="noStrike" cap="none">
                <a:solidFill>
                  <a:schemeClr val="accent1"/>
                </a:solidFill>
              </a:rPr>
              <a:t>  Т Р Е К Ш Н / В А Л И Д А Ц И Я</a:t>
            </a:r>
            <a:endParaRPr>
              <a:latin typeface="Arial"/>
            </a:endParaRPr>
          </a:p>
        </p:txBody>
      </p:sp>
      <p:sp>
        <p:nvSpPr>
          <p:cNvPr id="420" name="Google Shape;420;p21"/>
          <p:cNvSpPr txBox="1"/>
          <p:nvPr/>
        </p:nvSpPr>
        <p:spPr>
          <a:xfrm>
            <a:off x="857250" y="1028606"/>
            <a:ext cx="7704734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Что уже подтверждено</a:t>
            </a:r>
            <a:endParaRPr>
              <a:latin typeface="Arial"/>
            </a:endParaRPr>
          </a:p>
        </p:txBody>
      </p:sp>
      <p:sp>
        <p:nvSpPr>
          <p:cNvPr id="421" name="Google Shape;421;p21"/>
          <p:cNvSpPr txBox="1"/>
          <p:nvPr/>
        </p:nvSpPr>
        <p:spPr>
          <a:xfrm>
            <a:off x="1647825" y="3293796"/>
            <a:ext cx="2372888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Конкурентный анализ</a:t>
            </a:r>
            <a:endParaRPr>
              <a:latin typeface="Arial"/>
            </a:endParaRPr>
          </a:p>
        </p:txBody>
      </p:sp>
      <p:sp>
        <p:nvSpPr>
          <p:cNvPr id="422" name="Google Shape;422;p21"/>
          <p:cNvSpPr txBox="1"/>
          <p:nvPr/>
        </p:nvSpPr>
        <p:spPr>
          <a:xfrm>
            <a:off x="1647825" y="3592275"/>
            <a:ext cx="6336673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4 основных конкурента: Yodeck, Screenly, PiSignage, Anthias — ни один не</a:t>
            </a:r>
            <a:endParaRPr>
              <a:latin typeface="Arial"/>
            </a:endParaRPr>
          </a:p>
        </p:txBody>
      </p:sp>
      <p:sp>
        <p:nvSpPr>
          <p:cNvPr id="423" name="Google Shape;423;p21"/>
          <p:cNvSpPr txBox="1"/>
          <p:nvPr/>
        </p:nvSpPr>
        <p:spPr>
          <a:xfrm>
            <a:off x="1647825" y="3847783"/>
            <a:ext cx="2785996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работает офлайн «из коробки».</a:t>
            </a:r>
            <a:endParaRPr>
              <a:latin typeface="Arial"/>
            </a:endParaRPr>
          </a:p>
        </p:txBody>
      </p:sp>
      <p:sp>
        <p:nvSpPr>
          <p:cNvPr id="424" name="Google Shape;424;p21"/>
          <p:cNvSpPr txBox="1"/>
          <p:nvPr/>
        </p:nvSpPr>
        <p:spPr>
          <a:xfrm>
            <a:off x="1647825" y="4651440"/>
            <a:ext cx="263652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Ценовой тест (sales test)</a:t>
            </a:r>
            <a:endParaRPr>
              <a:latin typeface="Arial"/>
            </a:endParaRPr>
          </a:p>
        </p:txBody>
      </p:sp>
      <p:sp>
        <p:nvSpPr>
          <p:cNvPr id="425" name="Google Shape;425;p21"/>
          <p:cNvSpPr txBox="1"/>
          <p:nvPr/>
        </p:nvSpPr>
        <p:spPr>
          <a:xfrm>
            <a:off x="1647825" y="4949919"/>
            <a:ext cx="6375265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10 контактов из общепита, проверена готовность платить 2 499 </a:t>
            </a:r>
            <a:r>
              <a:rPr lang="en-US" sz="1387" b="0" i="0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r>
              <a:rPr lang="en-US" sz="1387" b="0" i="0" u="none" strike="noStrike" cap="none">
                <a:solidFill>
                  <a:schemeClr val="tx2"/>
                </a:solidFill>
              </a:rPr>
              <a:t> разово.</a:t>
            </a:r>
            <a:endParaRPr>
              <a:latin typeface="Arial"/>
            </a:endParaRPr>
          </a:p>
        </p:txBody>
      </p:sp>
      <p:sp>
        <p:nvSpPr>
          <p:cNvPr id="426" name="Google Shape;426;p21"/>
          <p:cNvSpPr txBox="1"/>
          <p:nvPr/>
        </p:nvSpPr>
        <p:spPr>
          <a:xfrm>
            <a:off x="1647825" y="6009083"/>
            <a:ext cx="2158460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Финансовая модель</a:t>
            </a:r>
            <a:endParaRPr>
              <a:latin typeface="Arial"/>
            </a:endParaRPr>
          </a:p>
        </p:txBody>
      </p:sp>
      <p:sp>
        <p:nvSpPr>
          <p:cNvPr id="427" name="Google Shape;427;p21"/>
          <p:cNvSpPr txBox="1"/>
          <p:nvPr/>
        </p:nvSpPr>
        <p:spPr>
          <a:xfrm>
            <a:off x="1647825" y="6307563"/>
            <a:ext cx="6414208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Базовый сценарий: 132 000 </a:t>
            </a:r>
            <a:r>
              <a:rPr lang="en-US" sz="1387" b="0" i="0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r>
              <a:rPr lang="en-US" sz="1387" b="0" i="0" u="none" strike="noStrike" cap="none">
                <a:solidFill>
                  <a:schemeClr val="tx2"/>
                </a:solidFill>
              </a:rPr>
              <a:t> за 12 мес., маржа 83%, прибыльны с первого</a:t>
            </a:r>
            <a:endParaRPr>
              <a:latin typeface="Arial"/>
            </a:endParaRPr>
          </a:p>
        </p:txBody>
      </p:sp>
      <p:sp>
        <p:nvSpPr>
          <p:cNvPr id="428" name="Google Shape;428;p21"/>
          <p:cNvSpPr txBox="1"/>
          <p:nvPr/>
        </p:nvSpPr>
        <p:spPr>
          <a:xfrm>
            <a:off x="1647825" y="6563070"/>
            <a:ext cx="738935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месяца.</a:t>
            </a:r>
            <a:endParaRPr>
              <a:latin typeface="Arial"/>
            </a:endParaRPr>
          </a:p>
        </p:txBody>
      </p:sp>
      <p:sp>
        <p:nvSpPr>
          <p:cNvPr id="429" name="Google Shape;429;p21"/>
          <p:cNvSpPr txBox="1"/>
          <p:nvPr/>
        </p:nvSpPr>
        <p:spPr>
          <a:xfrm>
            <a:off x="1647825" y="7366727"/>
            <a:ext cx="1886026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MVP-функционал</a:t>
            </a:r>
            <a:endParaRPr>
              <a:latin typeface="Arial"/>
            </a:endParaRPr>
          </a:p>
        </p:txBody>
      </p:sp>
      <p:sp>
        <p:nvSpPr>
          <p:cNvPr id="430" name="Google Shape;430;p21"/>
          <p:cNvSpPr txBox="1"/>
          <p:nvPr/>
        </p:nvSpPr>
        <p:spPr>
          <a:xfrm>
            <a:off x="1647825" y="7665206"/>
            <a:ext cx="6335265" cy="233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7" b="0" i="0" u="none" strike="noStrike" cap="none">
                <a:solidFill>
                  <a:schemeClr val="tx2"/>
                </a:solidFill>
              </a:rPr>
              <a:t>Веб-конструктор, генерация .img, автозапуск RPi, Wi-Fi-редактирование.</a:t>
            </a:r>
            <a:endParaRPr>
              <a:latin typeface="Arial"/>
            </a:endParaRPr>
          </a:p>
        </p:txBody>
      </p:sp>
      <p:sp>
        <p:nvSpPr>
          <p:cNvPr id="431" name="Google Shape;431;p21"/>
          <p:cNvSpPr txBox="1"/>
          <p:nvPr/>
        </p:nvSpPr>
        <p:spPr>
          <a:xfrm>
            <a:off x="9894220" y="3893873"/>
            <a:ext cx="4731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chemeClr val="accent1"/>
                </a:solidFill>
              </a:rPr>
              <a:t>10</a:t>
            </a:r>
            <a:endParaRPr>
              <a:latin typeface="Arial"/>
            </a:endParaRPr>
          </a:p>
        </p:txBody>
      </p:sp>
      <p:sp>
        <p:nvSpPr>
          <p:cNvPr id="432" name="Google Shape;432;p21"/>
          <p:cNvSpPr txBox="1"/>
          <p:nvPr/>
        </p:nvSpPr>
        <p:spPr>
          <a:xfrm>
            <a:off x="9894220" y="4329092"/>
            <a:ext cx="17676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контактов в sales test</a:t>
            </a:r>
            <a:endParaRPr>
              <a:latin typeface="Arial"/>
            </a:endParaRPr>
          </a:p>
        </p:txBody>
      </p:sp>
      <p:sp>
        <p:nvSpPr>
          <p:cNvPr id="433" name="Google Shape;433;p21"/>
          <p:cNvSpPr txBox="1"/>
          <p:nvPr/>
        </p:nvSpPr>
        <p:spPr>
          <a:xfrm>
            <a:off x="13852810" y="3893873"/>
            <a:ext cx="7899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chemeClr val="accent1"/>
                </a:solidFill>
              </a:rPr>
              <a:t>83%</a:t>
            </a:r>
            <a:endParaRPr>
              <a:latin typeface="Arial"/>
            </a:endParaRPr>
          </a:p>
        </p:txBody>
      </p:sp>
      <p:sp>
        <p:nvSpPr>
          <p:cNvPr id="434" name="Google Shape;434;p21"/>
          <p:cNvSpPr txBox="1"/>
          <p:nvPr/>
        </p:nvSpPr>
        <p:spPr>
          <a:xfrm>
            <a:off x="13852810" y="4329092"/>
            <a:ext cx="28809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валовая маржа (базовый сценарий)</a:t>
            </a:r>
            <a:endParaRPr>
              <a:latin typeface="Arial"/>
            </a:endParaRPr>
          </a:p>
        </p:txBody>
      </p:sp>
      <p:sp>
        <p:nvSpPr>
          <p:cNvPr id="435" name="Google Shape;435;p21"/>
          <p:cNvSpPr txBox="1"/>
          <p:nvPr/>
        </p:nvSpPr>
        <p:spPr>
          <a:xfrm>
            <a:off x="9894220" y="5143935"/>
            <a:ext cx="2976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chemeClr val="accent6"/>
                </a:solidFill>
              </a:rPr>
              <a:t>3</a:t>
            </a:r>
            <a:endParaRPr>
              <a:latin typeface="Arial"/>
            </a:endParaRPr>
          </a:p>
        </p:txBody>
      </p:sp>
      <p:sp>
        <p:nvSpPr>
          <p:cNvPr id="436" name="Google Shape;436;p21"/>
          <p:cNvSpPr txBox="1"/>
          <p:nvPr/>
        </p:nvSpPr>
        <p:spPr>
          <a:xfrm>
            <a:off x="9894220" y="5579154"/>
            <a:ext cx="32667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кафе Москвы — первые установки (план)</a:t>
            </a:r>
            <a:endParaRPr>
              <a:latin typeface="Arial"/>
            </a:endParaRPr>
          </a:p>
        </p:txBody>
      </p:sp>
      <p:sp>
        <p:nvSpPr>
          <p:cNvPr id="437" name="Google Shape;437;p21"/>
          <p:cNvSpPr txBox="1"/>
          <p:nvPr/>
        </p:nvSpPr>
        <p:spPr>
          <a:xfrm>
            <a:off x="13852810" y="5143935"/>
            <a:ext cx="942600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chemeClr val="accent6"/>
                </a:solidFill>
              </a:rPr>
              <a:t>200+</a:t>
            </a:r>
            <a:endParaRPr>
              <a:latin typeface="Arial"/>
            </a:endParaRPr>
          </a:p>
        </p:txBody>
      </p:sp>
      <p:sp>
        <p:nvSpPr>
          <p:cNvPr id="438" name="Google Shape;438;p21"/>
          <p:cNvSpPr txBox="1"/>
          <p:nvPr/>
        </p:nvSpPr>
        <p:spPr>
          <a:xfrm>
            <a:off x="13852810" y="5579154"/>
            <a:ext cx="27126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уников/мес из SEO к 6-му месяцу</a:t>
            </a:r>
            <a:endParaRPr>
              <a:latin typeface="Arial"/>
            </a:endParaRPr>
          </a:p>
        </p:txBody>
      </p:sp>
      <p:sp>
        <p:nvSpPr>
          <p:cNvPr id="439" name="Google Shape;439;p21"/>
          <p:cNvSpPr txBox="1"/>
          <p:nvPr/>
        </p:nvSpPr>
        <p:spPr>
          <a:xfrm>
            <a:off x="10027570" y="6565444"/>
            <a:ext cx="18705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6"/>
                </a:solidFill>
              </a:rPr>
              <a:t>План проверки </a:t>
            </a:r>
            <a:r>
              <a:rPr lang="en-US" b="1" u="none" strike="noStrike" cap="none">
                <a:solidFill>
                  <a:schemeClr val="accent6"/>
                </a:solidFill>
                <a:latin typeface="Arial"/>
                <a:sym typeface="Arial"/>
              </a:rPr>
              <a:t>→</a:t>
            </a:r>
            <a:endParaRPr>
              <a:latin typeface="Arial"/>
            </a:endParaRPr>
          </a:p>
        </p:txBody>
      </p:sp>
      <p:sp>
        <p:nvSpPr>
          <p:cNvPr id="440" name="Google Shape;440;p21"/>
          <p:cNvSpPr txBox="1"/>
          <p:nvPr/>
        </p:nvSpPr>
        <p:spPr>
          <a:xfrm>
            <a:off x="10027570" y="6947173"/>
            <a:ext cx="7047000" cy="2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3 реальных клиента с кейсами ·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2"/>
                </a:solidFill>
              </a:rPr>
              <a:t>5 реферальных покупок за 2 мес. · NPS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2"/>
                </a:solidFill>
              </a:rPr>
              <a:t> 8 от</a:t>
            </a:r>
            <a:endParaRPr>
              <a:latin typeface="Arial"/>
            </a:endParaRPr>
          </a:p>
        </p:txBody>
      </p:sp>
      <p:sp>
        <p:nvSpPr>
          <p:cNvPr id="441" name="Google Shape;441;p21"/>
          <p:cNvSpPr txBox="1"/>
          <p:nvPr/>
        </p:nvSpPr>
        <p:spPr>
          <a:xfrm>
            <a:off x="10027570" y="7220352"/>
            <a:ext cx="2534700" cy="2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владельцев активных табло</a:t>
            </a:r>
            <a:endParaRPr>
              <a:latin typeface="Arial"/>
            </a:endParaRPr>
          </a:p>
        </p:txBody>
      </p:sp>
      <p:sp>
        <p:nvSpPr>
          <p:cNvPr id="442" name="Google Shape;442;p21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443" name="Google Shape;443;p21"/>
          <p:cNvSpPr txBox="1"/>
          <p:nvPr/>
        </p:nvSpPr>
        <p:spPr>
          <a:xfrm>
            <a:off x="16891062" y="9771268"/>
            <a:ext cx="615894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09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2"/>
          <p:cNvSpPr/>
          <p:nvPr/>
        </p:nvSpPr>
        <p:spPr>
          <a:xfrm>
            <a:off x="857250" y="3356547"/>
            <a:ext cx="5359400" cy="3153523"/>
          </a:xfrm>
          <a:prstGeom prst="roundRect">
            <a:avLst>
              <a:gd name="adj" fmla="val 60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51" name="Google Shape;451;p22"/>
          <p:cNvSpPr/>
          <p:nvPr/>
        </p:nvSpPr>
        <p:spPr>
          <a:xfrm>
            <a:off x="6464300" y="3356547"/>
            <a:ext cx="5359500" cy="3153600"/>
          </a:xfrm>
          <a:prstGeom prst="roundRect">
            <a:avLst>
              <a:gd name="adj" fmla="val 6040"/>
            </a:avLst>
          </a:prstGeom>
          <a:solidFill>
            <a:srgbClr val="1A1F27"/>
          </a:solidFill>
          <a:ln w="19050" cap="flat" cmpd="sng">
            <a:solidFill>
              <a:srgbClr val="2BDD9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52" name="Google Shape;452;p22"/>
          <p:cNvSpPr/>
          <p:nvPr/>
        </p:nvSpPr>
        <p:spPr>
          <a:xfrm>
            <a:off x="12071350" y="3356547"/>
            <a:ext cx="5359400" cy="3153523"/>
          </a:xfrm>
          <a:prstGeom prst="roundRect">
            <a:avLst>
              <a:gd name="adj" fmla="val 6048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53" name="Google Shape;453;p22"/>
          <p:cNvSpPr/>
          <p:nvPr/>
        </p:nvSpPr>
        <p:spPr>
          <a:xfrm>
            <a:off x="857250" y="6757721"/>
            <a:ext cx="16573500" cy="1332402"/>
          </a:xfrm>
          <a:prstGeom prst="roundRect">
            <a:avLst>
              <a:gd name="adj" fmla="val 1431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54" name="Google Shape;454;p22"/>
          <p:cNvSpPr txBox="1"/>
          <p:nvPr/>
        </p:nvSpPr>
        <p:spPr>
          <a:xfrm>
            <a:off x="857250" y="666752"/>
            <a:ext cx="4438387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1 0  ·</a:t>
            </a:r>
            <a:r>
              <a:rPr lang="en-US" b="1" u="none" strike="noStrike" cap="none">
                <a:solidFill>
                  <a:schemeClr val="accent1"/>
                </a:solidFill>
              </a:rPr>
              <a:t>  Ф И Н А Н С О В Ы Й  П Л А Н</a:t>
            </a:r>
            <a:endParaRPr>
              <a:latin typeface="Arial"/>
            </a:endParaRPr>
          </a:p>
        </p:txBody>
      </p:sp>
      <p:sp>
        <p:nvSpPr>
          <p:cNvPr id="455" name="Google Shape;455;p22"/>
          <p:cNvSpPr txBox="1"/>
          <p:nvPr/>
        </p:nvSpPr>
        <p:spPr>
          <a:xfrm>
            <a:off x="857250" y="1028606"/>
            <a:ext cx="9135465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Три сценария на 12 месяцев</a:t>
            </a:r>
            <a:endParaRPr>
              <a:latin typeface="Arial"/>
            </a:endParaRPr>
          </a:p>
        </p:txBody>
      </p:sp>
      <p:sp>
        <p:nvSpPr>
          <p:cNvPr id="456" name="Google Shape;456;p22"/>
          <p:cNvSpPr txBox="1"/>
          <p:nvPr/>
        </p:nvSpPr>
        <p:spPr>
          <a:xfrm>
            <a:off x="1171575" y="3651824"/>
            <a:ext cx="2304782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КОНСЕРВАТИВНЫЙ</a:t>
            </a:r>
            <a:endParaRPr>
              <a:latin typeface="Arial"/>
            </a:endParaRPr>
          </a:p>
        </p:txBody>
      </p:sp>
      <p:sp>
        <p:nvSpPr>
          <p:cNvPr id="457" name="Google Shape;457;p22"/>
          <p:cNvSpPr txBox="1"/>
          <p:nvPr/>
        </p:nvSpPr>
        <p:spPr>
          <a:xfrm>
            <a:off x="1171575" y="3972813"/>
            <a:ext cx="2768876" cy="498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u="none" strike="noStrike" cap="none">
                <a:solidFill>
                  <a:schemeClr val="tx1"/>
                </a:solidFill>
              </a:rPr>
              <a:t>67 000 </a:t>
            </a:r>
            <a:r>
              <a:rPr lang="en-US" sz="3300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tx2"/>
                </a:solidFill>
              </a:rPr>
              <a:t> / 12 мес</a:t>
            </a:r>
            <a:endParaRPr>
              <a:latin typeface="Arial"/>
            </a:endParaRPr>
          </a:p>
        </p:txBody>
      </p:sp>
      <p:sp>
        <p:nvSpPr>
          <p:cNvPr id="458" name="Google Shape;458;p22"/>
          <p:cNvSpPr txBox="1"/>
          <p:nvPr/>
        </p:nvSpPr>
        <p:spPr>
          <a:xfrm>
            <a:off x="1171575" y="4640893"/>
            <a:ext cx="852401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Прибыль</a:t>
            </a:r>
            <a:endParaRPr>
              <a:latin typeface="Arial"/>
            </a:endParaRPr>
          </a:p>
        </p:txBody>
      </p:sp>
      <p:sp>
        <p:nvSpPr>
          <p:cNvPr id="459" name="Google Shape;459;p22"/>
          <p:cNvSpPr txBox="1"/>
          <p:nvPr/>
        </p:nvSpPr>
        <p:spPr>
          <a:xfrm>
            <a:off x="4895223" y="4635826"/>
            <a:ext cx="1083325" cy="235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46 000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460" name="Google Shape;460;p22"/>
          <p:cNvSpPr txBox="1"/>
          <p:nvPr/>
        </p:nvSpPr>
        <p:spPr>
          <a:xfrm>
            <a:off x="1171575" y="5114237"/>
            <a:ext cx="672150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Маржа</a:t>
            </a:r>
            <a:endParaRPr>
              <a:latin typeface="Arial"/>
            </a:endParaRPr>
          </a:p>
        </p:txBody>
      </p:sp>
      <p:sp>
        <p:nvSpPr>
          <p:cNvPr id="461" name="Google Shape;461;p22"/>
          <p:cNvSpPr txBox="1"/>
          <p:nvPr/>
        </p:nvSpPr>
        <p:spPr>
          <a:xfrm>
            <a:off x="5353260" y="5109169"/>
            <a:ext cx="625278" cy="24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57%</a:t>
            </a:r>
            <a:endParaRPr>
              <a:latin typeface="Arial"/>
            </a:endParaRPr>
          </a:p>
        </p:txBody>
      </p:sp>
      <p:sp>
        <p:nvSpPr>
          <p:cNvPr id="462" name="Google Shape;462;p22"/>
          <p:cNvSpPr txBox="1"/>
          <p:nvPr/>
        </p:nvSpPr>
        <p:spPr>
          <a:xfrm>
            <a:off x="1171575" y="5587580"/>
            <a:ext cx="1120968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Покупатели</a:t>
            </a:r>
            <a:endParaRPr>
              <a:latin typeface="Arial"/>
            </a:endParaRPr>
          </a:p>
        </p:txBody>
      </p:sp>
      <p:sp>
        <p:nvSpPr>
          <p:cNvPr id="463" name="Google Shape;463;p22"/>
          <p:cNvSpPr txBox="1"/>
          <p:nvPr/>
        </p:nvSpPr>
        <p:spPr>
          <a:xfrm>
            <a:off x="5566801" y="5587580"/>
            <a:ext cx="411727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~22</a:t>
            </a:r>
            <a:endParaRPr>
              <a:latin typeface="Arial"/>
            </a:endParaRPr>
          </a:p>
        </p:txBody>
      </p:sp>
      <p:sp>
        <p:nvSpPr>
          <p:cNvPr id="464" name="Google Shape;464;p22"/>
          <p:cNvSpPr txBox="1"/>
          <p:nvPr/>
        </p:nvSpPr>
        <p:spPr>
          <a:xfrm>
            <a:off x="1171575" y="6002056"/>
            <a:ext cx="245503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рост пользователей −10%/мес</a:t>
            </a:r>
            <a:endParaRPr>
              <a:latin typeface="Arial"/>
            </a:endParaRPr>
          </a:p>
        </p:txBody>
      </p:sp>
      <p:sp>
        <p:nvSpPr>
          <p:cNvPr id="465" name="Google Shape;465;p22"/>
          <p:cNvSpPr txBox="1"/>
          <p:nvPr/>
        </p:nvSpPr>
        <p:spPr>
          <a:xfrm>
            <a:off x="6788150" y="3661349"/>
            <a:ext cx="1471345" cy="261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БАЗОВЫЙ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★</a:t>
            </a:r>
            <a:endParaRPr>
              <a:latin typeface="Arial"/>
            </a:endParaRPr>
          </a:p>
        </p:txBody>
      </p:sp>
      <p:sp>
        <p:nvSpPr>
          <p:cNvPr id="466" name="Google Shape;466;p22"/>
          <p:cNvSpPr txBox="1"/>
          <p:nvPr/>
        </p:nvSpPr>
        <p:spPr>
          <a:xfrm>
            <a:off x="6788150" y="3984148"/>
            <a:ext cx="3042542" cy="498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u="none" strike="noStrike" cap="none">
                <a:solidFill>
                  <a:schemeClr val="accent1"/>
                </a:solidFill>
              </a:rPr>
              <a:t>132 000 </a:t>
            </a:r>
            <a:r>
              <a:rPr lang="en-US" sz="3300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tx2"/>
                </a:solidFill>
              </a:rPr>
              <a:t> / 12 мес</a:t>
            </a:r>
            <a:endParaRPr>
              <a:latin typeface="Arial"/>
            </a:endParaRPr>
          </a:p>
        </p:txBody>
      </p:sp>
      <p:sp>
        <p:nvSpPr>
          <p:cNvPr id="467" name="Google Shape;467;p22"/>
          <p:cNvSpPr txBox="1"/>
          <p:nvPr/>
        </p:nvSpPr>
        <p:spPr>
          <a:xfrm>
            <a:off x="6788150" y="4652228"/>
            <a:ext cx="852401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Прибыль</a:t>
            </a:r>
            <a:endParaRPr>
              <a:latin typeface="Arial"/>
            </a:endParaRPr>
          </a:p>
        </p:txBody>
      </p:sp>
      <p:sp>
        <p:nvSpPr>
          <p:cNvPr id="468" name="Google Shape;468;p22"/>
          <p:cNvSpPr txBox="1"/>
          <p:nvPr/>
        </p:nvSpPr>
        <p:spPr>
          <a:xfrm>
            <a:off x="10398633" y="4647160"/>
            <a:ext cx="1177435" cy="235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108 000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469" name="Google Shape;469;p22"/>
          <p:cNvSpPr txBox="1"/>
          <p:nvPr/>
        </p:nvSpPr>
        <p:spPr>
          <a:xfrm>
            <a:off x="6788150" y="5125571"/>
            <a:ext cx="672151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Маржа</a:t>
            </a:r>
            <a:endParaRPr>
              <a:latin typeface="Arial"/>
            </a:endParaRPr>
          </a:p>
        </p:txBody>
      </p:sp>
      <p:sp>
        <p:nvSpPr>
          <p:cNvPr id="470" name="Google Shape;470;p22"/>
          <p:cNvSpPr txBox="1"/>
          <p:nvPr/>
        </p:nvSpPr>
        <p:spPr>
          <a:xfrm>
            <a:off x="10760043" y="5120504"/>
            <a:ext cx="816026" cy="24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83,3%</a:t>
            </a:r>
            <a:endParaRPr>
              <a:latin typeface="Arial"/>
            </a:endParaRPr>
          </a:p>
        </p:txBody>
      </p:sp>
      <p:sp>
        <p:nvSpPr>
          <p:cNvPr id="471" name="Google Shape;471;p22"/>
          <p:cNvSpPr txBox="1"/>
          <p:nvPr/>
        </p:nvSpPr>
        <p:spPr>
          <a:xfrm>
            <a:off x="6788150" y="5598914"/>
            <a:ext cx="1120968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Покупатели</a:t>
            </a:r>
            <a:endParaRPr>
              <a:latin typeface="Arial"/>
            </a:endParaRPr>
          </a:p>
        </p:txBody>
      </p:sp>
      <p:sp>
        <p:nvSpPr>
          <p:cNvPr id="472" name="Google Shape;472;p22"/>
          <p:cNvSpPr txBox="1"/>
          <p:nvPr/>
        </p:nvSpPr>
        <p:spPr>
          <a:xfrm>
            <a:off x="11159070" y="5598914"/>
            <a:ext cx="416976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~45</a:t>
            </a:r>
            <a:endParaRPr>
              <a:latin typeface="Arial"/>
            </a:endParaRPr>
          </a:p>
        </p:txBody>
      </p:sp>
      <p:sp>
        <p:nvSpPr>
          <p:cNvPr id="473" name="Google Shape;473;p22"/>
          <p:cNvSpPr txBox="1"/>
          <p:nvPr/>
        </p:nvSpPr>
        <p:spPr>
          <a:xfrm>
            <a:off x="6788150" y="6013390"/>
            <a:ext cx="2055895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принят как рабочий план</a:t>
            </a:r>
            <a:endParaRPr>
              <a:latin typeface="Arial"/>
            </a:endParaRPr>
          </a:p>
        </p:txBody>
      </p:sp>
      <p:sp>
        <p:nvSpPr>
          <p:cNvPr id="474" name="Google Shape;474;p22"/>
          <p:cNvSpPr txBox="1"/>
          <p:nvPr/>
        </p:nvSpPr>
        <p:spPr>
          <a:xfrm>
            <a:off x="12385675" y="3651824"/>
            <a:ext cx="2208165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ОПТИМИСТИЧНЫЙ</a:t>
            </a:r>
            <a:endParaRPr>
              <a:latin typeface="Arial"/>
            </a:endParaRPr>
          </a:p>
        </p:txBody>
      </p:sp>
      <p:sp>
        <p:nvSpPr>
          <p:cNvPr id="475" name="Google Shape;475;p22"/>
          <p:cNvSpPr txBox="1"/>
          <p:nvPr/>
        </p:nvSpPr>
        <p:spPr>
          <a:xfrm>
            <a:off x="12385675" y="3972813"/>
            <a:ext cx="3069789" cy="498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u="none" strike="noStrike" cap="none">
                <a:solidFill>
                  <a:schemeClr val="tx1"/>
                </a:solidFill>
              </a:rPr>
              <a:t>272 000 </a:t>
            </a:r>
            <a:r>
              <a:rPr lang="en-US" sz="3300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r>
              <a:rPr lang="en-US" b="1" u="none" strike="noStrike" cap="none">
                <a:solidFill>
                  <a:schemeClr val="tx2"/>
                </a:solidFill>
              </a:rPr>
              <a:t> / 12 мес</a:t>
            </a:r>
            <a:endParaRPr>
              <a:latin typeface="Arial"/>
            </a:endParaRPr>
          </a:p>
        </p:txBody>
      </p:sp>
      <p:sp>
        <p:nvSpPr>
          <p:cNvPr id="476" name="Google Shape;476;p22"/>
          <p:cNvSpPr txBox="1"/>
          <p:nvPr/>
        </p:nvSpPr>
        <p:spPr>
          <a:xfrm>
            <a:off x="12385675" y="4640893"/>
            <a:ext cx="852402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Прибыль</a:t>
            </a:r>
            <a:endParaRPr>
              <a:latin typeface="Arial"/>
            </a:endParaRPr>
          </a:p>
        </p:txBody>
      </p:sp>
      <p:sp>
        <p:nvSpPr>
          <p:cNvPr id="477" name="Google Shape;477;p22"/>
          <p:cNvSpPr txBox="1"/>
          <p:nvPr/>
        </p:nvSpPr>
        <p:spPr>
          <a:xfrm>
            <a:off x="15992605" y="4635826"/>
            <a:ext cx="1200055" cy="235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242 000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478" name="Google Shape;478;p22"/>
          <p:cNvSpPr txBox="1"/>
          <p:nvPr/>
        </p:nvSpPr>
        <p:spPr>
          <a:xfrm>
            <a:off x="12385675" y="5114237"/>
            <a:ext cx="672151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Маржа</a:t>
            </a:r>
            <a:endParaRPr>
              <a:latin typeface="Arial"/>
            </a:endParaRPr>
          </a:p>
        </p:txBody>
      </p:sp>
      <p:sp>
        <p:nvSpPr>
          <p:cNvPr id="479" name="Google Shape;479;p22"/>
          <p:cNvSpPr txBox="1"/>
          <p:nvPr/>
        </p:nvSpPr>
        <p:spPr>
          <a:xfrm>
            <a:off x="16451898" y="5109169"/>
            <a:ext cx="740740" cy="24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≈</a:t>
            </a:r>
            <a:r>
              <a:rPr lang="en-US" b="1" u="none" strike="noStrike" cap="none">
                <a:solidFill>
                  <a:schemeClr val="tx1"/>
                </a:solidFill>
              </a:rPr>
              <a:t> 100%</a:t>
            </a:r>
            <a:endParaRPr>
              <a:latin typeface="Arial"/>
            </a:endParaRPr>
          </a:p>
        </p:txBody>
      </p:sp>
      <p:sp>
        <p:nvSpPr>
          <p:cNvPr id="480" name="Google Shape;480;p22"/>
          <p:cNvSpPr txBox="1"/>
          <p:nvPr/>
        </p:nvSpPr>
        <p:spPr>
          <a:xfrm>
            <a:off x="12385675" y="5587580"/>
            <a:ext cx="1120970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Покупатели</a:t>
            </a:r>
            <a:endParaRPr>
              <a:latin typeface="Arial"/>
            </a:endParaRPr>
          </a:p>
        </p:txBody>
      </p:sp>
      <p:sp>
        <p:nvSpPr>
          <p:cNvPr id="481" name="Google Shape;481;p22"/>
          <p:cNvSpPr txBox="1"/>
          <p:nvPr/>
        </p:nvSpPr>
        <p:spPr>
          <a:xfrm>
            <a:off x="16796463" y="5587580"/>
            <a:ext cx="396163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~79</a:t>
            </a:r>
            <a:endParaRPr>
              <a:latin typeface="Arial"/>
            </a:endParaRPr>
          </a:p>
        </p:txBody>
      </p:sp>
      <p:sp>
        <p:nvSpPr>
          <p:cNvPr id="482" name="Google Shape;482;p22"/>
          <p:cNvSpPr txBox="1"/>
          <p:nvPr/>
        </p:nvSpPr>
        <p:spPr>
          <a:xfrm>
            <a:off x="12385675" y="6002056"/>
            <a:ext cx="2452775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рост пользователей +10%/мес</a:t>
            </a:r>
            <a:endParaRPr>
              <a:latin typeface="Arial"/>
            </a:endParaRPr>
          </a:p>
        </p:txBody>
      </p:sp>
      <p:sp>
        <p:nvSpPr>
          <p:cNvPr id="483" name="Google Shape;483;p22"/>
          <p:cNvSpPr txBox="1"/>
          <p:nvPr/>
        </p:nvSpPr>
        <p:spPr>
          <a:xfrm>
            <a:off x="1133475" y="6976794"/>
            <a:ext cx="207624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Допущения модели</a:t>
            </a:r>
            <a:endParaRPr>
              <a:latin typeface="Arial"/>
            </a:endParaRPr>
          </a:p>
        </p:txBody>
      </p:sp>
      <p:sp>
        <p:nvSpPr>
          <p:cNvPr id="484" name="Google Shape;484;p22"/>
          <p:cNvSpPr txBox="1"/>
          <p:nvPr/>
        </p:nvSpPr>
        <p:spPr>
          <a:xfrm>
            <a:off x="1133475" y="7356625"/>
            <a:ext cx="15602239" cy="23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Средний чек PRO 2 499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r>
              <a:rPr lang="en-US" u="none" strike="noStrike" cap="none">
                <a:solidFill>
                  <a:schemeClr val="tx2"/>
                </a:solidFill>
              </a:rPr>
              <a:t> · подписка AI+ 499 </a:t>
            </a:r>
            <a:r>
              <a:rPr lang="en-US" u="none" strike="noStrike" cap="none">
                <a:solidFill>
                  <a:schemeClr val="tx2"/>
                </a:solidFill>
                <a:latin typeface="Arial"/>
                <a:sym typeface="Arial"/>
              </a:rPr>
              <a:t>₽</a:t>
            </a:r>
            <a:r>
              <a:rPr lang="en-US" u="none" strike="noStrike" cap="none">
                <a:solidFill>
                  <a:schemeClr val="tx2"/>
                </a:solidFill>
              </a:rPr>
              <a:t>/мес · себестоимость SD-карты и Raspberry Pi учтена · маркетинг на старте — низкобюджетные каналы (сообщества, карты, SEO) ·</a:t>
            </a:r>
            <a:endParaRPr>
              <a:latin typeface="Arial"/>
            </a:endParaRPr>
          </a:p>
        </p:txBody>
      </p:sp>
      <p:sp>
        <p:nvSpPr>
          <p:cNvPr id="485" name="Google Shape;485;p22"/>
          <p:cNvSpPr txBox="1"/>
          <p:nvPr/>
        </p:nvSpPr>
        <p:spPr>
          <a:xfrm>
            <a:off x="1133475" y="7628088"/>
            <a:ext cx="2773643" cy="230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оценка проекта: </a:t>
            </a:r>
            <a:r>
              <a:rPr lang="en-US" b="1" u="none" strike="noStrike" cap="none">
                <a:solidFill>
                  <a:schemeClr val="accent1"/>
                </a:solidFill>
              </a:rPr>
              <a:t>1,0–6,8 млн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486" name="Google Shape;486;p22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487" name="Google Shape;487;p22"/>
          <p:cNvSpPr txBox="1"/>
          <p:nvPr/>
        </p:nvSpPr>
        <p:spPr>
          <a:xfrm>
            <a:off x="16916000" y="9771268"/>
            <a:ext cx="590956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10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3"/>
          <p:cNvSpPr/>
          <p:nvPr/>
        </p:nvSpPr>
        <p:spPr>
          <a:xfrm>
            <a:off x="857250" y="3760044"/>
            <a:ext cx="3147059" cy="2670951"/>
          </a:xfrm>
          <a:prstGeom prst="roundRect">
            <a:avLst>
              <a:gd name="adj" fmla="val 7141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95" name="Google Shape;495;p23"/>
          <p:cNvSpPr/>
          <p:nvPr/>
        </p:nvSpPr>
        <p:spPr>
          <a:xfrm>
            <a:off x="1992629" y="4055319"/>
            <a:ext cx="876300" cy="876300"/>
          </a:xfrm>
          <a:prstGeom prst="roundRect">
            <a:avLst>
              <a:gd name="adj" fmla="val 42434"/>
            </a:avLst>
          </a:prstGeom>
          <a:solidFill>
            <a:srgbClr val="2BDD9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7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5"/>
                </a:solidFill>
              </a:rPr>
              <a:t>СС</a:t>
            </a:r>
            <a:endParaRPr>
              <a:latin typeface="Arial"/>
            </a:endParaRPr>
          </a:p>
        </p:txBody>
      </p:sp>
      <p:sp>
        <p:nvSpPr>
          <p:cNvPr id="496" name="Google Shape;496;p23"/>
          <p:cNvSpPr/>
          <p:nvPr/>
        </p:nvSpPr>
        <p:spPr>
          <a:xfrm>
            <a:off x="4213859" y="3760044"/>
            <a:ext cx="3147059" cy="2670951"/>
          </a:xfrm>
          <a:prstGeom prst="roundRect">
            <a:avLst>
              <a:gd name="adj" fmla="val 7141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97" name="Google Shape;497;p23"/>
          <p:cNvSpPr/>
          <p:nvPr/>
        </p:nvSpPr>
        <p:spPr>
          <a:xfrm>
            <a:off x="5349239" y="4165333"/>
            <a:ext cx="876300" cy="876299"/>
          </a:xfrm>
          <a:prstGeom prst="roundRect">
            <a:avLst>
              <a:gd name="adj" fmla="val 42434"/>
            </a:avLst>
          </a:prstGeom>
          <a:solidFill>
            <a:srgbClr val="5EA8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7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rgbClr val="0A1B33"/>
                </a:solidFill>
              </a:rPr>
              <a:t>ОК</a:t>
            </a:r>
            <a:endParaRPr>
              <a:latin typeface="Arial"/>
            </a:endParaRPr>
          </a:p>
        </p:txBody>
      </p:sp>
      <p:sp>
        <p:nvSpPr>
          <p:cNvPr id="498" name="Google Shape;498;p23"/>
          <p:cNvSpPr/>
          <p:nvPr/>
        </p:nvSpPr>
        <p:spPr>
          <a:xfrm>
            <a:off x="7570469" y="3760044"/>
            <a:ext cx="3147059" cy="2670951"/>
          </a:xfrm>
          <a:prstGeom prst="roundRect">
            <a:avLst>
              <a:gd name="adj" fmla="val 7141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499" name="Google Shape;499;p23"/>
          <p:cNvSpPr/>
          <p:nvPr/>
        </p:nvSpPr>
        <p:spPr>
          <a:xfrm>
            <a:off x="8705850" y="4165333"/>
            <a:ext cx="876300" cy="876299"/>
          </a:xfrm>
          <a:prstGeom prst="roundRect">
            <a:avLst>
              <a:gd name="adj" fmla="val 42434"/>
            </a:avLst>
          </a:prstGeom>
          <a:solidFill>
            <a:srgbClr val="FFB45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7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rgbClr val="33230A"/>
                </a:solidFill>
              </a:rPr>
              <a:t>ВА</a:t>
            </a:r>
            <a:endParaRPr>
              <a:latin typeface="Arial"/>
            </a:endParaRPr>
          </a:p>
        </p:txBody>
      </p:sp>
      <p:sp>
        <p:nvSpPr>
          <p:cNvPr id="500" name="Google Shape;500;p23"/>
          <p:cNvSpPr/>
          <p:nvPr/>
        </p:nvSpPr>
        <p:spPr>
          <a:xfrm>
            <a:off x="10927079" y="3760044"/>
            <a:ext cx="3147059" cy="2670951"/>
          </a:xfrm>
          <a:prstGeom prst="roundRect">
            <a:avLst>
              <a:gd name="adj" fmla="val 7141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01" name="Google Shape;501;p23"/>
          <p:cNvSpPr/>
          <p:nvPr/>
        </p:nvSpPr>
        <p:spPr>
          <a:xfrm>
            <a:off x="12062460" y="4165333"/>
            <a:ext cx="876300" cy="876299"/>
          </a:xfrm>
          <a:prstGeom prst="roundRect">
            <a:avLst>
              <a:gd name="adj" fmla="val 43130"/>
            </a:avLst>
          </a:prstGeom>
          <a:solidFill>
            <a:srgbClr val="B48C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7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rgbClr val="1D0F38"/>
                </a:solidFill>
              </a:rPr>
              <a:t>МТ</a:t>
            </a:r>
            <a:endParaRPr>
              <a:latin typeface="Arial"/>
            </a:endParaRPr>
          </a:p>
        </p:txBody>
      </p:sp>
      <p:sp>
        <p:nvSpPr>
          <p:cNvPr id="502" name="Google Shape;502;p23"/>
          <p:cNvSpPr/>
          <p:nvPr/>
        </p:nvSpPr>
        <p:spPr>
          <a:xfrm>
            <a:off x="14283689" y="3760044"/>
            <a:ext cx="3147060" cy="2670951"/>
          </a:xfrm>
          <a:prstGeom prst="roundRect">
            <a:avLst>
              <a:gd name="adj" fmla="val 7141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03" name="Google Shape;503;p23"/>
          <p:cNvSpPr/>
          <p:nvPr/>
        </p:nvSpPr>
        <p:spPr>
          <a:xfrm>
            <a:off x="15419071" y="4055319"/>
            <a:ext cx="876300" cy="876300"/>
          </a:xfrm>
          <a:prstGeom prst="roundRect">
            <a:avLst>
              <a:gd name="adj" fmla="val 42434"/>
            </a:avLst>
          </a:prstGeom>
          <a:solidFill>
            <a:srgbClr val="4DD4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7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rgbClr val="062B33"/>
                </a:solidFill>
              </a:rPr>
              <a:t>ПИ</a:t>
            </a:r>
            <a:endParaRPr>
              <a:latin typeface="Arial"/>
            </a:endParaRPr>
          </a:p>
        </p:txBody>
      </p:sp>
      <p:sp>
        <p:nvSpPr>
          <p:cNvPr id="504" name="Google Shape;504;p23"/>
          <p:cNvSpPr/>
          <p:nvPr/>
        </p:nvSpPr>
        <p:spPr>
          <a:xfrm>
            <a:off x="857250" y="6716745"/>
            <a:ext cx="16573500" cy="1065131"/>
          </a:xfrm>
          <a:prstGeom prst="roundRect">
            <a:avLst>
              <a:gd name="adj" fmla="val 16121"/>
            </a:avLst>
          </a:prstGeom>
          <a:solidFill>
            <a:srgbClr val="151920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05" name="Google Shape;505;p23"/>
          <p:cNvSpPr txBox="1"/>
          <p:nvPr/>
        </p:nvSpPr>
        <p:spPr>
          <a:xfrm>
            <a:off x="857250" y="666752"/>
            <a:ext cx="2487054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1 1  ·</a:t>
            </a:r>
            <a:r>
              <a:rPr lang="en-US" b="1" u="none" strike="noStrike" cap="none">
                <a:solidFill>
                  <a:schemeClr val="accent1"/>
                </a:solidFill>
              </a:rPr>
              <a:t>  К О М А Н Д А</a:t>
            </a:r>
            <a:endParaRPr>
              <a:latin typeface="Arial"/>
            </a:endParaRPr>
          </a:p>
        </p:txBody>
      </p:sp>
      <p:sp>
        <p:nvSpPr>
          <p:cNvPr id="506" name="Google Shape;506;p23"/>
          <p:cNvSpPr txBox="1"/>
          <p:nvPr/>
        </p:nvSpPr>
        <p:spPr>
          <a:xfrm>
            <a:off x="857250" y="1028606"/>
            <a:ext cx="11698829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Пять человек,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которые это сделают</a:t>
            </a:r>
            <a:endParaRPr>
              <a:latin typeface="Arial"/>
            </a:endParaRPr>
          </a:p>
        </p:txBody>
      </p:sp>
      <p:sp>
        <p:nvSpPr>
          <p:cNvPr id="507" name="Google Shape;507;p23"/>
          <p:cNvSpPr txBox="1"/>
          <p:nvPr/>
        </p:nvSpPr>
        <p:spPr>
          <a:xfrm>
            <a:off x="1717400" y="5103066"/>
            <a:ext cx="1502978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Савельев С.И.</a:t>
            </a:r>
            <a:endParaRPr>
              <a:latin typeface="Arial"/>
            </a:endParaRPr>
          </a:p>
        </p:txBody>
      </p:sp>
      <p:sp>
        <p:nvSpPr>
          <p:cNvPr id="508" name="Google Shape;508;p23"/>
          <p:cNvSpPr txBox="1"/>
          <p:nvPr/>
        </p:nvSpPr>
        <p:spPr>
          <a:xfrm>
            <a:off x="1607476" y="5397247"/>
            <a:ext cx="1722805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Тимлид · Дизайнер</a:t>
            </a:r>
            <a:endParaRPr>
              <a:latin typeface="Arial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1582724" y="5712562"/>
            <a:ext cx="1772297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Продукт, шаблоны, UX</a:t>
            </a:r>
            <a:endParaRPr>
              <a:latin typeface="Arial"/>
            </a:endParaRPr>
          </a:p>
        </p:txBody>
      </p:sp>
      <p:sp>
        <p:nvSpPr>
          <p:cNvPr id="510" name="Google Shape;510;p23"/>
          <p:cNvSpPr txBox="1"/>
          <p:nvPr/>
        </p:nvSpPr>
        <p:spPr>
          <a:xfrm>
            <a:off x="1907979" y="5932589"/>
            <a:ext cx="1121802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конструктора</a:t>
            </a:r>
            <a:endParaRPr>
              <a:latin typeface="Arial"/>
            </a:endParaRPr>
          </a:p>
        </p:txBody>
      </p:sp>
      <p:sp>
        <p:nvSpPr>
          <p:cNvPr id="511" name="Google Shape;511;p23"/>
          <p:cNvSpPr txBox="1"/>
          <p:nvPr/>
        </p:nvSpPr>
        <p:spPr>
          <a:xfrm>
            <a:off x="5011799" y="5213081"/>
            <a:ext cx="1627394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Овчаренко К.С.</a:t>
            </a:r>
            <a:endParaRPr>
              <a:latin typeface="Arial"/>
            </a:endParaRPr>
          </a:p>
        </p:txBody>
      </p:sp>
      <p:sp>
        <p:nvSpPr>
          <p:cNvPr id="512" name="Google Shape;512;p23"/>
          <p:cNvSpPr txBox="1"/>
          <p:nvPr/>
        </p:nvSpPr>
        <p:spPr>
          <a:xfrm>
            <a:off x="4645013" y="5507261"/>
            <a:ext cx="2360943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Архитектор · Разработчик</a:t>
            </a:r>
            <a:endParaRPr>
              <a:latin typeface="Arial"/>
            </a:endParaRPr>
          </a:p>
        </p:txBody>
      </p:sp>
      <p:sp>
        <p:nvSpPr>
          <p:cNvPr id="513" name="Google Shape;513;p23"/>
          <p:cNvSpPr txBox="1"/>
          <p:nvPr/>
        </p:nvSpPr>
        <p:spPr>
          <a:xfrm>
            <a:off x="4584286" y="5822575"/>
            <a:ext cx="2482514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Генерация .img, веб-платформа</a:t>
            </a:r>
            <a:endParaRPr>
              <a:latin typeface="Arial"/>
            </a:endParaRPr>
          </a:p>
        </p:txBody>
      </p:sp>
      <p:sp>
        <p:nvSpPr>
          <p:cNvPr id="514" name="Google Shape;514;p23"/>
          <p:cNvSpPr txBox="1"/>
          <p:nvPr/>
        </p:nvSpPr>
        <p:spPr>
          <a:xfrm>
            <a:off x="8348104" y="5213081"/>
            <a:ext cx="166799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Валянский А.М.</a:t>
            </a:r>
            <a:endParaRPr>
              <a:latin typeface="Arial"/>
            </a:endParaRPr>
          </a:p>
        </p:txBody>
      </p:sp>
      <p:sp>
        <p:nvSpPr>
          <p:cNvPr id="515" name="Google Shape;515;p23"/>
          <p:cNvSpPr txBox="1"/>
          <p:nvPr/>
        </p:nvSpPr>
        <p:spPr>
          <a:xfrm>
            <a:off x="8582583" y="5507261"/>
            <a:ext cx="1199026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Разработчик</a:t>
            </a:r>
            <a:endParaRPr>
              <a:latin typeface="Arial"/>
            </a:endParaRPr>
          </a:p>
        </p:txBody>
      </p:sp>
      <p:sp>
        <p:nvSpPr>
          <p:cNvPr id="516" name="Google Shape;516;p23"/>
          <p:cNvSpPr txBox="1"/>
          <p:nvPr/>
        </p:nvSpPr>
        <p:spPr>
          <a:xfrm>
            <a:off x="7869863" y="5822575"/>
            <a:ext cx="2624588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Wi-Fi-редактирование, прошивки</a:t>
            </a:r>
            <a:endParaRPr>
              <a:latin typeface="Arial"/>
            </a:endParaRPr>
          </a:p>
        </p:txBody>
      </p:sp>
      <p:sp>
        <p:nvSpPr>
          <p:cNvPr id="517" name="Google Shape;517;p23"/>
          <p:cNvSpPr txBox="1"/>
          <p:nvPr/>
        </p:nvSpPr>
        <p:spPr>
          <a:xfrm>
            <a:off x="11897038" y="5213081"/>
            <a:ext cx="1283349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Миняев Т.А.</a:t>
            </a:r>
            <a:endParaRPr>
              <a:latin typeface="Arial"/>
            </a:endParaRPr>
          </a:p>
        </p:txBody>
      </p:sp>
      <p:sp>
        <p:nvSpPr>
          <p:cNvPr id="518" name="Google Shape;518;p23"/>
          <p:cNvSpPr txBox="1"/>
          <p:nvPr/>
        </p:nvSpPr>
        <p:spPr>
          <a:xfrm>
            <a:off x="11988739" y="5507261"/>
            <a:ext cx="1100098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Маркетолог</a:t>
            </a:r>
            <a:endParaRPr>
              <a:latin typeface="Arial"/>
            </a:endParaRPr>
          </a:p>
        </p:txBody>
      </p:sp>
      <p:sp>
        <p:nvSpPr>
          <p:cNvPr id="519" name="Google Shape;519;p23"/>
          <p:cNvSpPr txBox="1"/>
          <p:nvPr/>
        </p:nvSpPr>
        <p:spPr>
          <a:xfrm>
            <a:off x="11329026" y="5822575"/>
            <a:ext cx="2419495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Каналы, sales test, сообщества</a:t>
            </a:r>
            <a:endParaRPr>
              <a:latin typeface="Arial"/>
            </a:endParaRPr>
          </a:p>
        </p:txBody>
      </p:sp>
      <p:sp>
        <p:nvSpPr>
          <p:cNvPr id="520" name="Google Shape;520;p23"/>
          <p:cNvSpPr txBox="1"/>
          <p:nvPr/>
        </p:nvSpPr>
        <p:spPr>
          <a:xfrm>
            <a:off x="15186750" y="5103066"/>
            <a:ext cx="1417166" cy="265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Паркаев И.Д.</a:t>
            </a:r>
            <a:endParaRPr>
              <a:latin typeface="Arial"/>
            </a:endParaRPr>
          </a:p>
        </p:txBody>
      </p:sp>
      <p:sp>
        <p:nvSpPr>
          <p:cNvPr id="521" name="Google Shape;521;p23"/>
          <p:cNvSpPr txBox="1"/>
          <p:nvPr/>
        </p:nvSpPr>
        <p:spPr>
          <a:xfrm>
            <a:off x="15435882" y="5397247"/>
            <a:ext cx="918875" cy="227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8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Аналитик</a:t>
            </a:r>
            <a:endParaRPr>
              <a:latin typeface="Arial"/>
            </a:endParaRPr>
          </a:p>
        </p:txBody>
      </p:sp>
      <p:sp>
        <p:nvSpPr>
          <p:cNvPr id="522" name="Google Shape;522;p23"/>
          <p:cNvSpPr txBox="1"/>
          <p:nvPr/>
        </p:nvSpPr>
        <p:spPr>
          <a:xfrm>
            <a:off x="14785202" y="5712562"/>
            <a:ext cx="2220205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Метрики, финмодель, юнит-</a:t>
            </a:r>
            <a:endParaRPr>
              <a:latin typeface="Arial"/>
            </a:endParaRPr>
          </a:p>
        </p:txBody>
      </p:sp>
      <p:sp>
        <p:nvSpPr>
          <p:cNvPr id="523" name="Google Shape;523;p23"/>
          <p:cNvSpPr txBox="1"/>
          <p:nvPr/>
        </p:nvSpPr>
        <p:spPr>
          <a:xfrm>
            <a:off x="15448446" y="5932589"/>
            <a:ext cx="893757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экономика</a:t>
            </a:r>
            <a:endParaRPr>
              <a:latin typeface="Arial"/>
            </a:endParaRPr>
          </a:p>
        </p:txBody>
      </p:sp>
      <p:sp>
        <p:nvSpPr>
          <p:cNvPr id="524" name="Google Shape;524;p23"/>
          <p:cNvSpPr txBox="1"/>
          <p:nvPr/>
        </p:nvSpPr>
        <p:spPr>
          <a:xfrm>
            <a:off x="1152525" y="6954868"/>
            <a:ext cx="1752123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2 семестра</a:t>
            </a:r>
            <a:endParaRPr>
              <a:latin typeface="Arial"/>
            </a:endParaRPr>
          </a:p>
        </p:txBody>
      </p:sp>
      <p:sp>
        <p:nvSpPr>
          <p:cNvPr id="525" name="Google Shape;525;p23"/>
          <p:cNvSpPr txBox="1"/>
          <p:nvPr/>
        </p:nvSpPr>
        <p:spPr>
          <a:xfrm>
            <a:off x="1152525" y="7344550"/>
            <a:ext cx="2458468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работаем над проектом вместе</a:t>
            </a:r>
            <a:endParaRPr>
              <a:latin typeface="Arial"/>
            </a:endParaRPr>
          </a:p>
        </p:txBody>
      </p:sp>
      <p:sp>
        <p:nvSpPr>
          <p:cNvPr id="526" name="Google Shape;526;p23"/>
          <p:cNvSpPr txBox="1"/>
          <p:nvPr/>
        </p:nvSpPr>
        <p:spPr>
          <a:xfrm>
            <a:off x="5191125" y="6954868"/>
            <a:ext cx="1573816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5 человек</a:t>
            </a:r>
            <a:endParaRPr>
              <a:latin typeface="Arial"/>
            </a:endParaRPr>
          </a:p>
        </p:txBody>
      </p:sp>
      <p:sp>
        <p:nvSpPr>
          <p:cNvPr id="527" name="Google Shape;527;p23"/>
          <p:cNvSpPr txBox="1"/>
          <p:nvPr/>
        </p:nvSpPr>
        <p:spPr>
          <a:xfrm>
            <a:off x="5191125" y="7344550"/>
            <a:ext cx="3856115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полный цикл: продукт, код, маркетинг, аналитика</a:t>
            </a:r>
            <a:endParaRPr>
              <a:latin typeface="Arial"/>
            </a:endParaRPr>
          </a:p>
        </p:txBody>
      </p:sp>
      <p:sp>
        <p:nvSpPr>
          <p:cNvPr id="528" name="Google Shape;528;p23"/>
          <p:cNvSpPr txBox="1"/>
          <p:nvPr/>
        </p:nvSpPr>
        <p:spPr>
          <a:xfrm>
            <a:off x="9229725" y="6954868"/>
            <a:ext cx="717136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MVP</a:t>
            </a:r>
            <a:endParaRPr>
              <a:latin typeface="Arial"/>
            </a:endParaRPr>
          </a:p>
        </p:txBody>
      </p:sp>
      <p:sp>
        <p:nvSpPr>
          <p:cNvPr id="529" name="Google Shape;529;p23"/>
          <p:cNvSpPr txBox="1"/>
          <p:nvPr/>
        </p:nvSpPr>
        <p:spPr>
          <a:xfrm>
            <a:off x="9229725" y="7344550"/>
            <a:ext cx="2866773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построен полностью своими силами</a:t>
            </a:r>
            <a:endParaRPr>
              <a:latin typeface="Arial"/>
            </a:endParaRPr>
          </a:p>
        </p:txBody>
      </p:sp>
      <p:sp>
        <p:nvSpPr>
          <p:cNvPr id="530" name="Google Shape;530;p23"/>
          <p:cNvSpPr txBox="1"/>
          <p:nvPr/>
        </p:nvSpPr>
        <p:spPr>
          <a:xfrm>
            <a:off x="13268325" y="6954868"/>
            <a:ext cx="685705" cy="378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7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1"/>
                </a:solidFill>
              </a:rPr>
              <a:t>v1.0</a:t>
            </a:r>
            <a:endParaRPr>
              <a:latin typeface="Arial"/>
            </a:endParaRPr>
          </a:p>
        </p:txBody>
      </p:sp>
      <p:sp>
        <p:nvSpPr>
          <p:cNvPr id="531" name="Google Shape;531;p23"/>
          <p:cNvSpPr txBox="1"/>
          <p:nvPr/>
        </p:nvSpPr>
        <p:spPr>
          <a:xfrm>
            <a:off x="13268325" y="7344550"/>
            <a:ext cx="3087585" cy="20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 dirty="0" err="1">
                <a:solidFill>
                  <a:schemeClr val="tx2"/>
                </a:solidFill>
              </a:rPr>
              <a:t>цель</a:t>
            </a:r>
            <a:r>
              <a:rPr lang="en-US" u="none" strike="noStrike" cap="none" dirty="0">
                <a:solidFill>
                  <a:schemeClr val="tx2"/>
                </a:solidFill>
              </a:rPr>
              <a:t>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на</a:t>
            </a:r>
            <a:r>
              <a:rPr lang="en-US" u="none" strike="noStrike" cap="none" dirty="0">
                <a:solidFill>
                  <a:schemeClr val="tx2"/>
                </a:solidFill>
              </a:rPr>
              <a:t>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инвестиции</a:t>
            </a:r>
            <a:r>
              <a:rPr lang="en-US" u="none" strike="noStrike" cap="none" dirty="0">
                <a:solidFill>
                  <a:schemeClr val="tx2"/>
                </a:solidFill>
              </a:rPr>
              <a:t>: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публичный</a:t>
            </a:r>
            <a:r>
              <a:rPr lang="en-US" u="none" strike="noStrike" cap="none" dirty="0">
                <a:solidFill>
                  <a:schemeClr val="tx2"/>
                </a:solidFill>
              </a:rPr>
              <a:t> </a:t>
            </a:r>
            <a:r>
              <a:rPr lang="en-US" u="none" strike="noStrike" cap="none" dirty="0" err="1">
                <a:solidFill>
                  <a:schemeClr val="tx2"/>
                </a:solidFill>
              </a:rPr>
              <a:t>запуск</a:t>
            </a:r>
            <a:endParaRPr dirty="0">
              <a:latin typeface="Arial"/>
            </a:endParaRPr>
          </a:p>
        </p:txBody>
      </p:sp>
      <p:sp>
        <p:nvSpPr>
          <p:cNvPr id="532" name="Google Shape;532;p23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533" name="Google Shape;533;p23"/>
          <p:cNvSpPr txBox="1"/>
          <p:nvPr/>
        </p:nvSpPr>
        <p:spPr>
          <a:xfrm>
            <a:off x="16947412" y="9771268"/>
            <a:ext cx="559544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11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4"/>
          <p:cNvSpPr/>
          <p:nvPr/>
        </p:nvSpPr>
        <p:spPr>
          <a:xfrm>
            <a:off x="857250" y="3579680"/>
            <a:ext cx="7329487" cy="4287310"/>
          </a:xfrm>
          <a:prstGeom prst="roundRect">
            <a:avLst>
              <a:gd name="adj" fmla="val 5332"/>
            </a:avLst>
          </a:prstGeom>
          <a:solidFill>
            <a:srgbClr val="1A1F27"/>
          </a:solidFill>
          <a:ln w="19050" cap="flat" cmpd="sng">
            <a:solidFill>
              <a:srgbClr val="2BDD9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1" name="Google Shape;541;p24"/>
          <p:cNvSpPr/>
          <p:nvPr/>
        </p:nvSpPr>
        <p:spPr>
          <a:xfrm>
            <a:off x="8472487" y="3800555"/>
            <a:ext cx="8958300" cy="848400"/>
          </a:xfrm>
          <a:prstGeom prst="roundRect">
            <a:avLst>
              <a:gd name="adj" fmla="val 1799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2" name="Google Shape;542;p24"/>
          <p:cNvSpPr/>
          <p:nvPr/>
        </p:nvSpPr>
        <p:spPr>
          <a:xfrm>
            <a:off x="8472487" y="4801480"/>
            <a:ext cx="8958300" cy="846600"/>
          </a:xfrm>
          <a:prstGeom prst="roundRect">
            <a:avLst>
              <a:gd name="adj" fmla="val 1803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3" name="Google Shape;543;p24"/>
          <p:cNvSpPr/>
          <p:nvPr/>
        </p:nvSpPr>
        <p:spPr>
          <a:xfrm>
            <a:off x="8472487" y="5800508"/>
            <a:ext cx="8958300" cy="846600"/>
          </a:xfrm>
          <a:prstGeom prst="roundRect">
            <a:avLst>
              <a:gd name="adj" fmla="val 1803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4" name="Google Shape;544;p24"/>
          <p:cNvSpPr/>
          <p:nvPr/>
        </p:nvSpPr>
        <p:spPr>
          <a:xfrm>
            <a:off x="8472487" y="6799535"/>
            <a:ext cx="8958300" cy="846600"/>
          </a:xfrm>
          <a:prstGeom prst="roundRect">
            <a:avLst>
              <a:gd name="adj" fmla="val 18035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5" name="Google Shape;545;p24"/>
          <p:cNvSpPr/>
          <p:nvPr/>
        </p:nvSpPr>
        <p:spPr>
          <a:xfrm>
            <a:off x="8729662" y="4334755"/>
            <a:ext cx="8443800" cy="114300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6" name="Google Shape;546;p24"/>
          <p:cNvSpPr/>
          <p:nvPr/>
        </p:nvSpPr>
        <p:spPr>
          <a:xfrm>
            <a:off x="8729662" y="4334755"/>
            <a:ext cx="3377700" cy="1143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7" name="Google Shape;547;p24"/>
          <p:cNvSpPr/>
          <p:nvPr/>
        </p:nvSpPr>
        <p:spPr>
          <a:xfrm>
            <a:off x="8729662" y="5333783"/>
            <a:ext cx="8443800" cy="114300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8" name="Google Shape;548;p24"/>
          <p:cNvSpPr/>
          <p:nvPr/>
        </p:nvSpPr>
        <p:spPr>
          <a:xfrm>
            <a:off x="8729662" y="5333783"/>
            <a:ext cx="2111100" cy="1143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49" name="Google Shape;549;p24"/>
          <p:cNvSpPr/>
          <p:nvPr/>
        </p:nvSpPr>
        <p:spPr>
          <a:xfrm>
            <a:off x="8729662" y="6332810"/>
            <a:ext cx="8443800" cy="114300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50" name="Google Shape;550;p24"/>
          <p:cNvSpPr/>
          <p:nvPr/>
        </p:nvSpPr>
        <p:spPr>
          <a:xfrm>
            <a:off x="8729662" y="6332810"/>
            <a:ext cx="1688700" cy="1143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51" name="Google Shape;551;p24"/>
          <p:cNvSpPr/>
          <p:nvPr/>
        </p:nvSpPr>
        <p:spPr>
          <a:xfrm>
            <a:off x="8729662" y="7331837"/>
            <a:ext cx="8443800" cy="114300"/>
          </a:xfrm>
          <a:prstGeom prst="rect">
            <a:avLst/>
          </a:prstGeom>
          <a:solidFill>
            <a:srgbClr val="15192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52" name="Google Shape;552;p24"/>
          <p:cNvSpPr/>
          <p:nvPr/>
        </p:nvSpPr>
        <p:spPr>
          <a:xfrm>
            <a:off x="8729662" y="7331837"/>
            <a:ext cx="1266600" cy="1143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53" name="Google Shape;553;p24"/>
          <p:cNvSpPr txBox="1"/>
          <p:nvPr/>
        </p:nvSpPr>
        <p:spPr>
          <a:xfrm>
            <a:off x="857250" y="666752"/>
            <a:ext cx="5627999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1 2  · </a:t>
            </a:r>
            <a:r>
              <a:rPr lang="en-US" b="1" u="none" strike="noStrike" cap="none">
                <a:solidFill>
                  <a:schemeClr val="accent1"/>
                </a:solidFill>
              </a:rPr>
              <a:t> И Н В Е С Т И Ц И О Н Н Ы Й  О Ф Ф Е Р</a:t>
            </a:r>
            <a:endParaRPr>
              <a:latin typeface="Arial"/>
            </a:endParaRPr>
          </a:p>
        </p:txBody>
      </p:sp>
      <p:sp>
        <p:nvSpPr>
          <p:cNvPr id="554" name="Google Shape;554;p24"/>
          <p:cNvSpPr txBox="1"/>
          <p:nvPr/>
        </p:nvSpPr>
        <p:spPr>
          <a:xfrm>
            <a:off x="857250" y="1028606"/>
            <a:ext cx="10347358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tx1"/>
                </a:solidFill>
              </a:rPr>
              <a:t>Ищем </a:t>
            </a:r>
            <a:r>
              <a:rPr lang="en-US" sz="4800" b="1" i="0" u="none" strike="noStrike" cap="none">
                <a:solidFill>
                  <a:schemeClr val="accent1"/>
                </a:solidFill>
              </a:rPr>
              <a:t>250 000 </a:t>
            </a:r>
            <a:r>
              <a:rPr lang="en-US" sz="480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r>
              <a:rPr lang="en-US" sz="4800" b="1" i="0" u="none" strike="noStrike" cap="none">
                <a:solidFill>
                  <a:schemeClr val="tx1"/>
                </a:solidFill>
              </a:rPr>
              <a:t> на 6–9 месяцев</a:t>
            </a:r>
            <a:endParaRPr>
              <a:latin typeface="Arial"/>
            </a:endParaRPr>
          </a:p>
        </p:txBody>
      </p:sp>
      <p:sp>
        <p:nvSpPr>
          <p:cNvPr id="555" name="Google Shape;555;p24"/>
          <p:cNvSpPr txBox="1"/>
          <p:nvPr/>
        </p:nvSpPr>
        <p:spPr>
          <a:xfrm>
            <a:off x="1257300" y="3979732"/>
            <a:ext cx="106516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О Ф Ф Е Р</a:t>
            </a:r>
            <a:endParaRPr>
              <a:latin typeface="Arial"/>
            </a:endParaRPr>
          </a:p>
        </p:txBody>
      </p:sp>
      <p:sp>
        <p:nvSpPr>
          <p:cNvPr id="556" name="Google Shape;556;p24"/>
          <p:cNvSpPr txBox="1"/>
          <p:nvPr/>
        </p:nvSpPr>
        <p:spPr>
          <a:xfrm>
            <a:off x="1257300" y="4319775"/>
            <a:ext cx="4414952" cy="102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0" b="1" i="0" u="none" strike="noStrike" cap="none">
                <a:solidFill>
                  <a:schemeClr val="accent1"/>
                </a:solidFill>
              </a:rPr>
              <a:t>250 000 </a:t>
            </a:r>
            <a:r>
              <a:rPr lang="en-US" sz="6300" b="1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57" name="Google Shape;557;p24"/>
          <p:cNvSpPr txBox="1"/>
          <p:nvPr/>
        </p:nvSpPr>
        <p:spPr>
          <a:xfrm>
            <a:off x="1257300" y="5305996"/>
            <a:ext cx="4798201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конвертируемый займ / ресурсная поддержка</a:t>
            </a:r>
            <a:endParaRPr>
              <a:latin typeface="Arial"/>
            </a:endParaRPr>
          </a:p>
        </p:txBody>
      </p:sp>
      <p:sp>
        <p:nvSpPr>
          <p:cNvPr id="558" name="Google Shape;558;p24"/>
          <p:cNvSpPr txBox="1"/>
          <p:nvPr/>
        </p:nvSpPr>
        <p:spPr>
          <a:xfrm>
            <a:off x="1257300" y="5801965"/>
            <a:ext cx="73990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Стадия</a:t>
            </a:r>
            <a:endParaRPr>
              <a:latin typeface="Arial"/>
            </a:endParaRPr>
          </a:p>
        </p:txBody>
      </p:sp>
      <p:sp>
        <p:nvSpPr>
          <p:cNvPr id="559" name="Google Shape;559;p24"/>
          <p:cNvSpPr txBox="1"/>
          <p:nvPr/>
        </p:nvSpPr>
        <p:spPr>
          <a:xfrm>
            <a:off x="6896872" y="5801965"/>
            <a:ext cx="966026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Pre-Seed</a:t>
            </a:r>
            <a:endParaRPr>
              <a:latin typeface="Arial"/>
            </a:endParaRPr>
          </a:p>
        </p:txBody>
      </p:sp>
      <p:sp>
        <p:nvSpPr>
          <p:cNvPr id="560" name="Google Shape;560;p24"/>
          <p:cNvSpPr txBox="1"/>
          <p:nvPr/>
        </p:nvSpPr>
        <p:spPr>
          <a:xfrm>
            <a:off x="1257300" y="6246784"/>
            <a:ext cx="1784985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Оценка pre-money</a:t>
            </a:r>
            <a:endParaRPr>
              <a:latin typeface="Arial"/>
            </a:endParaRPr>
          </a:p>
        </p:txBody>
      </p:sp>
      <p:sp>
        <p:nvSpPr>
          <p:cNvPr id="561" name="Google Shape;561;p24"/>
          <p:cNvSpPr txBox="1"/>
          <p:nvPr/>
        </p:nvSpPr>
        <p:spPr>
          <a:xfrm>
            <a:off x="6810970" y="6246784"/>
            <a:ext cx="1051940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750 000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62" name="Google Shape;562;p24"/>
          <p:cNvSpPr txBox="1"/>
          <p:nvPr/>
        </p:nvSpPr>
        <p:spPr>
          <a:xfrm>
            <a:off x="1257300" y="6691604"/>
            <a:ext cx="911542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Горизонт</a:t>
            </a:r>
            <a:endParaRPr>
              <a:latin typeface="Arial"/>
            </a:endParaRPr>
          </a:p>
        </p:txBody>
      </p:sp>
      <p:sp>
        <p:nvSpPr>
          <p:cNvPr id="563" name="Google Shape;563;p24"/>
          <p:cNvSpPr txBox="1"/>
          <p:nvPr/>
        </p:nvSpPr>
        <p:spPr>
          <a:xfrm>
            <a:off x="6561580" y="6691604"/>
            <a:ext cx="1301497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6–9 месяцев</a:t>
            </a:r>
            <a:endParaRPr>
              <a:latin typeface="Arial"/>
            </a:endParaRPr>
          </a:p>
        </p:txBody>
      </p:sp>
      <p:sp>
        <p:nvSpPr>
          <p:cNvPr id="564" name="Google Shape;564;p24"/>
          <p:cNvSpPr txBox="1"/>
          <p:nvPr/>
        </p:nvSpPr>
        <p:spPr>
          <a:xfrm>
            <a:off x="1257300" y="7136423"/>
            <a:ext cx="533209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Доля</a:t>
            </a:r>
            <a:endParaRPr>
              <a:latin typeface="Arial"/>
            </a:endParaRPr>
          </a:p>
        </p:txBody>
      </p:sp>
      <p:sp>
        <p:nvSpPr>
          <p:cNvPr id="565" name="Google Shape;565;p24"/>
          <p:cNvSpPr txBox="1"/>
          <p:nvPr/>
        </p:nvSpPr>
        <p:spPr>
          <a:xfrm>
            <a:off x="6471474" y="7136423"/>
            <a:ext cx="1391411" cy="2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обсуждается</a:t>
            </a:r>
            <a:endParaRPr>
              <a:latin typeface="Arial"/>
            </a:endParaRPr>
          </a:p>
        </p:txBody>
      </p:sp>
      <p:sp>
        <p:nvSpPr>
          <p:cNvPr id="566" name="Google Shape;566;p24"/>
          <p:cNvSpPr txBox="1"/>
          <p:nvPr/>
        </p:nvSpPr>
        <p:spPr>
          <a:xfrm>
            <a:off x="8729662" y="4000578"/>
            <a:ext cx="1677600" cy="2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40% · 100 000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67" name="Google Shape;567;p24"/>
          <p:cNvSpPr txBox="1"/>
          <p:nvPr/>
        </p:nvSpPr>
        <p:spPr>
          <a:xfrm>
            <a:off x="14649096" y="4000578"/>
            <a:ext cx="2600700" cy="2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Разработка (MVP </a:t>
            </a:r>
            <a:r>
              <a:rPr lang="en-US" b="1" u="none" strike="noStrike" cap="none">
                <a:solidFill>
                  <a:schemeClr val="tx1"/>
                </a:solidFill>
                <a:latin typeface="Arial"/>
                <a:sym typeface="Arial"/>
              </a:rPr>
              <a:t>→</a:t>
            </a:r>
            <a:r>
              <a:rPr lang="en-US" b="1" u="none" strike="noStrike" cap="none">
                <a:solidFill>
                  <a:schemeClr val="tx1"/>
                </a:solidFill>
              </a:rPr>
              <a:t> v1.0)</a:t>
            </a:r>
            <a:endParaRPr>
              <a:latin typeface="Arial"/>
            </a:endParaRPr>
          </a:p>
        </p:txBody>
      </p:sp>
      <p:sp>
        <p:nvSpPr>
          <p:cNvPr id="568" name="Google Shape;568;p24"/>
          <p:cNvSpPr txBox="1"/>
          <p:nvPr/>
        </p:nvSpPr>
        <p:spPr>
          <a:xfrm>
            <a:off x="8729662" y="5001503"/>
            <a:ext cx="1546200" cy="2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25% · 62 500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69" name="Google Shape;569;p24"/>
          <p:cNvSpPr txBox="1"/>
          <p:nvPr/>
        </p:nvSpPr>
        <p:spPr>
          <a:xfrm>
            <a:off x="14888719" y="5001503"/>
            <a:ext cx="2361300" cy="2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Маркетинг и sales test</a:t>
            </a:r>
            <a:endParaRPr>
              <a:latin typeface="Arial"/>
            </a:endParaRPr>
          </a:p>
        </p:txBody>
      </p:sp>
      <p:sp>
        <p:nvSpPr>
          <p:cNvPr id="570" name="Google Shape;570;p24"/>
          <p:cNvSpPr txBox="1"/>
          <p:nvPr/>
        </p:nvSpPr>
        <p:spPr>
          <a:xfrm>
            <a:off x="8729662" y="6000530"/>
            <a:ext cx="1564800" cy="2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20% · 50 000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71" name="Google Shape;571;p24"/>
          <p:cNvSpPr txBox="1"/>
          <p:nvPr/>
        </p:nvSpPr>
        <p:spPr>
          <a:xfrm>
            <a:off x="14076991" y="6000530"/>
            <a:ext cx="3172800" cy="2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Инфраструктура (VPS, домен)</a:t>
            </a:r>
            <a:endParaRPr>
              <a:latin typeface="Arial"/>
            </a:endParaRPr>
          </a:p>
        </p:txBody>
      </p:sp>
      <p:sp>
        <p:nvSpPr>
          <p:cNvPr id="572" name="Google Shape;572;p24"/>
          <p:cNvSpPr txBox="1"/>
          <p:nvPr/>
        </p:nvSpPr>
        <p:spPr>
          <a:xfrm>
            <a:off x="8729662" y="6999558"/>
            <a:ext cx="1501800" cy="2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15% · 37 500 </a:t>
            </a:r>
            <a:r>
              <a:rPr lang="en-US" b="1" u="none" strike="noStrike" cap="none">
                <a:solidFill>
                  <a:schemeClr val="accent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573" name="Google Shape;573;p24"/>
          <p:cNvSpPr txBox="1"/>
          <p:nvPr/>
        </p:nvSpPr>
        <p:spPr>
          <a:xfrm>
            <a:off x="14681857" y="6999558"/>
            <a:ext cx="2568000" cy="2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1"/>
                </a:solidFill>
              </a:rPr>
              <a:t>Операционные расходы</a:t>
            </a:r>
            <a:endParaRPr>
              <a:latin typeface="Arial"/>
            </a:endParaRPr>
          </a:p>
        </p:txBody>
      </p:sp>
      <p:sp>
        <p:nvSpPr>
          <p:cNvPr id="574" name="Google Shape;574;p24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575" name="Google Shape;575;p24"/>
          <p:cNvSpPr txBox="1"/>
          <p:nvPr/>
        </p:nvSpPr>
        <p:spPr>
          <a:xfrm>
            <a:off x="16922148" y="9771268"/>
            <a:ext cx="584804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12 / 13</a:t>
            </a:r>
            <a:endParaRPr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25"/>
          <p:cNvSpPr/>
          <p:nvPr/>
        </p:nvSpPr>
        <p:spPr>
          <a:xfrm>
            <a:off x="857250" y="7497536"/>
            <a:ext cx="16573500" cy="1060500"/>
          </a:xfrm>
          <a:prstGeom prst="roundRect">
            <a:avLst>
              <a:gd name="adj" fmla="val 16193"/>
            </a:avLst>
          </a:prstGeom>
          <a:solidFill>
            <a:srgbClr val="122F27"/>
          </a:solidFill>
          <a:ln w="10150" cap="flat" cmpd="sng">
            <a:solidFill>
              <a:srgbClr val="2BDD9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3" name="Google Shape;583;p25"/>
          <p:cNvSpPr/>
          <p:nvPr/>
        </p:nvSpPr>
        <p:spPr>
          <a:xfrm>
            <a:off x="13949557" y="7756804"/>
            <a:ext cx="3147900" cy="541800"/>
          </a:xfrm>
          <a:prstGeom prst="roundRect">
            <a:avLst>
              <a:gd name="adj" fmla="val 20251"/>
            </a:avLst>
          </a:prstGeom>
          <a:solidFill>
            <a:srgbClr val="2BDD9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5"/>
                </a:solidFill>
              </a:rPr>
              <a:t>PiConstruct — питч 2025</a:t>
            </a:r>
            <a:endParaRPr>
              <a:latin typeface="Arial"/>
            </a:endParaRPr>
          </a:p>
        </p:txBody>
      </p:sp>
      <p:sp>
        <p:nvSpPr>
          <p:cNvPr id="584" name="Google Shape;584;p25"/>
          <p:cNvSpPr/>
          <p:nvPr/>
        </p:nvSpPr>
        <p:spPr>
          <a:xfrm>
            <a:off x="857250" y="3254700"/>
            <a:ext cx="3972000" cy="3271800"/>
          </a:xfrm>
          <a:prstGeom prst="roundRect">
            <a:avLst>
              <a:gd name="adj" fmla="val 480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5" name="Google Shape;585;p25"/>
          <p:cNvSpPr/>
          <p:nvPr/>
        </p:nvSpPr>
        <p:spPr>
          <a:xfrm>
            <a:off x="1133475" y="3261908"/>
            <a:ext cx="3419400" cy="360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6" name="Google Shape;586;p25"/>
          <p:cNvSpPr/>
          <p:nvPr/>
        </p:nvSpPr>
        <p:spPr>
          <a:xfrm>
            <a:off x="5057775" y="3244826"/>
            <a:ext cx="3972000" cy="3271800"/>
          </a:xfrm>
          <a:prstGeom prst="roundRect">
            <a:avLst>
              <a:gd name="adj" fmla="val 480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7" name="Google Shape;587;p25"/>
          <p:cNvSpPr/>
          <p:nvPr/>
        </p:nvSpPr>
        <p:spPr>
          <a:xfrm>
            <a:off x="5334000" y="3262246"/>
            <a:ext cx="3419400" cy="378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8" name="Google Shape;588;p25"/>
          <p:cNvSpPr/>
          <p:nvPr/>
        </p:nvSpPr>
        <p:spPr>
          <a:xfrm>
            <a:off x="9258300" y="3254701"/>
            <a:ext cx="3972000" cy="3271800"/>
          </a:xfrm>
          <a:prstGeom prst="roundRect">
            <a:avLst>
              <a:gd name="adj" fmla="val 480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89" name="Google Shape;589;p25"/>
          <p:cNvSpPr/>
          <p:nvPr/>
        </p:nvSpPr>
        <p:spPr>
          <a:xfrm>
            <a:off x="9534525" y="3259936"/>
            <a:ext cx="3419400" cy="261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90" name="Google Shape;590;p25"/>
          <p:cNvSpPr/>
          <p:nvPr/>
        </p:nvSpPr>
        <p:spPr>
          <a:xfrm>
            <a:off x="13458825" y="3254701"/>
            <a:ext cx="3972000" cy="3271800"/>
          </a:xfrm>
          <a:prstGeom prst="roundRect">
            <a:avLst>
              <a:gd name="adj" fmla="val 4802"/>
            </a:avLst>
          </a:prstGeom>
          <a:solidFill>
            <a:srgbClr val="1A1F27"/>
          </a:solidFill>
          <a:ln w="10150" cap="flat" cmpd="sng">
            <a:solidFill>
              <a:srgbClr val="2A31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91" name="Google Shape;591;p25"/>
          <p:cNvSpPr/>
          <p:nvPr/>
        </p:nvSpPr>
        <p:spPr>
          <a:xfrm>
            <a:off x="13735050" y="3259936"/>
            <a:ext cx="3419400" cy="261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592" name="Google Shape;592;p25"/>
          <p:cNvSpPr txBox="1"/>
          <p:nvPr/>
        </p:nvSpPr>
        <p:spPr>
          <a:xfrm>
            <a:off x="857250" y="666752"/>
            <a:ext cx="4466463" cy="27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4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tx2"/>
                </a:solidFill>
              </a:rPr>
              <a:t>1 3  · </a:t>
            </a:r>
            <a:r>
              <a:rPr lang="en-US" b="1" u="none" strike="noStrike" cap="none">
                <a:solidFill>
                  <a:schemeClr val="accent1"/>
                </a:solidFill>
              </a:rPr>
              <a:t> Э Т А П Ы  И  К О Н Т А К Т Ы</a:t>
            </a:r>
            <a:endParaRPr>
              <a:latin typeface="Arial"/>
            </a:endParaRPr>
          </a:p>
        </p:txBody>
      </p:sp>
      <p:sp>
        <p:nvSpPr>
          <p:cNvPr id="593" name="Google Shape;593;p25"/>
          <p:cNvSpPr txBox="1"/>
          <p:nvPr/>
        </p:nvSpPr>
        <p:spPr>
          <a:xfrm>
            <a:off x="857250" y="1028606"/>
            <a:ext cx="12503150" cy="80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chemeClr val="tx1"/>
                </a:solidFill>
              </a:rPr>
              <a:t>Что</a:t>
            </a:r>
            <a:r>
              <a:rPr lang="en-US" sz="4800" b="1" i="0" u="none" strike="noStrike" cap="none" dirty="0">
                <a:solidFill>
                  <a:schemeClr val="tx1"/>
                </a:solidFill>
              </a:rPr>
              <a:t> </a:t>
            </a:r>
            <a:r>
              <a:rPr lang="en-US" sz="4800" b="1" i="0" u="none" strike="noStrike" cap="none" dirty="0" err="1">
                <a:solidFill>
                  <a:schemeClr val="tx1"/>
                </a:solidFill>
              </a:rPr>
              <a:t>будет</a:t>
            </a:r>
            <a:r>
              <a:rPr lang="en-US" sz="4800" b="1" i="0" u="none" strike="noStrike" cap="none" dirty="0">
                <a:solidFill>
                  <a:schemeClr val="tx1"/>
                </a:solidFill>
              </a:rPr>
              <a:t> </a:t>
            </a:r>
            <a:r>
              <a:rPr lang="en-US" sz="4800" b="1" i="0" u="none" strike="noStrike" cap="none" dirty="0" err="1">
                <a:solidFill>
                  <a:schemeClr val="tx1"/>
                </a:solidFill>
              </a:rPr>
              <a:t>сделано</a:t>
            </a:r>
            <a:r>
              <a:rPr lang="en-US" sz="4800" b="1" i="0" u="none" strike="noStrike" cap="none" dirty="0">
                <a:solidFill>
                  <a:schemeClr val="tx1"/>
                </a:solidFill>
              </a:rPr>
              <a:t> </a:t>
            </a:r>
            <a:r>
              <a:rPr lang="ru-RU" sz="4800" b="1" dirty="0">
                <a:solidFill>
                  <a:schemeClr val="accent1"/>
                </a:solidFill>
              </a:rPr>
              <a:t>за счет</a:t>
            </a:r>
            <a:r>
              <a:rPr lang="en-US" sz="4800" b="1" i="0" u="none" strike="noStrike" cap="none" dirty="0">
                <a:solidFill>
                  <a:schemeClr val="accent1"/>
                </a:solidFill>
              </a:rPr>
              <a:t> </a:t>
            </a:r>
            <a:r>
              <a:rPr lang="en-US" sz="4800" b="1" i="0" u="none" strike="noStrike" cap="none" dirty="0" err="1">
                <a:solidFill>
                  <a:schemeClr val="accent1"/>
                </a:solidFill>
              </a:rPr>
              <a:t>инвестици</a:t>
            </a:r>
            <a:r>
              <a:rPr lang="ru-RU" sz="4800" b="1" i="0" u="none" strike="noStrike" cap="none" dirty="0">
                <a:solidFill>
                  <a:schemeClr val="accent1"/>
                </a:solidFill>
              </a:rPr>
              <a:t>й</a:t>
            </a:r>
            <a:endParaRPr dirty="0">
              <a:latin typeface="Arial"/>
            </a:endParaRPr>
          </a:p>
        </p:txBody>
      </p:sp>
      <p:sp>
        <p:nvSpPr>
          <p:cNvPr id="594" name="Google Shape;594;p25"/>
          <p:cNvSpPr txBox="1"/>
          <p:nvPr/>
        </p:nvSpPr>
        <p:spPr>
          <a:xfrm>
            <a:off x="1190625" y="7754707"/>
            <a:ext cx="5994300" cy="3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Запустим табло в каждом кафе </a:t>
            </a:r>
            <a:r>
              <a:rPr lang="en-US" u="none" strike="noStrike" cap="none">
                <a:solidFill>
                  <a:schemeClr val="accent1"/>
                </a:solidFill>
              </a:rPr>
              <a:t>без IT-отдела</a:t>
            </a:r>
            <a:endParaRPr>
              <a:latin typeface="Arial"/>
            </a:endParaRPr>
          </a:p>
        </p:txBody>
      </p:sp>
      <p:sp>
        <p:nvSpPr>
          <p:cNvPr id="595" name="Google Shape;595;p25"/>
          <p:cNvSpPr txBox="1"/>
          <p:nvPr/>
        </p:nvSpPr>
        <p:spPr>
          <a:xfrm>
            <a:off x="1190625" y="8086269"/>
            <a:ext cx="11084100" cy="2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2"/>
                </a:solidFill>
              </a:rPr>
              <a:t>Команда №1 · ЭФБО-04-23 · РТУ МИРЭА, ИПТИП · Овчаренко К.С. · Миняев Т.А. · Паркаев И.Д. · Савельев С.И. · Валянский А.М.</a:t>
            </a:r>
            <a:endParaRPr>
              <a:latin typeface="Arial"/>
            </a:endParaRPr>
          </a:p>
        </p:txBody>
      </p:sp>
      <p:sp>
        <p:nvSpPr>
          <p:cNvPr id="596" name="Google Shape;596;p25"/>
          <p:cNvSpPr txBox="1"/>
          <p:nvPr/>
        </p:nvSpPr>
        <p:spPr>
          <a:xfrm>
            <a:off x="1152525" y="3800002"/>
            <a:ext cx="865174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МЕС 1–2</a:t>
            </a:r>
            <a:endParaRPr>
              <a:latin typeface="Arial"/>
            </a:endParaRPr>
          </a:p>
        </p:txBody>
      </p:sp>
      <p:sp>
        <p:nvSpPr>
          <p:cNvPr id="597" name="Google Shape;597;p25"/>
          <p:cNvSpPr txBox="1"/>
          <p:nvPr/>
        </p:nvSpPr>
        <p:spPr>
          <a:xfrm>
            <a:off x="1400175" y="4221341"/>
            <a:ext cx="2357909" cy="255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1"/>
                </a:solidFill>
              </a:rPr>
              <a:t> 1 оплата PRO </a:t>
            </a:r>
            <a:r>
              <a:rPr lang="en-US" sz="1439" u="none" strike="noStrike" cap="none">
                <a:solidFill>
                  <a:schemeClr val="tx2"/>
                </a:solidFill>
              </a:rPr>
              <a:t>— первые</a:t>
            </a:r>
            <a:endParaRPr>
              <a:latin typeface="Arial"/>
            </a:endParaRPr>
          </a:p>
        </p:txBody>
      </p:sp>
      <p:sp>
        <p:nvSpPr>
          <p:cNvPr id="598" name="Google Shape;598;p25"/>
          <p:cNvSpPr txBox="1"/>
          <p:nvPr/>
        </p:nvSpPr>
        <p:spPr>
          <a:xfrm>
            <a:off x="1400175" y="4492791"/>
            <a:ext cx="947222" cy="242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9" b="0" i="0" u="none" strike="noStrike" cap="none">
                <a:solidFill>
                  <a:schemeClr val="tx2"/>
                </a:solidFill>
              </a:rPr>
              <a:t>платящие</a:t>
            </a:r>
            <a:endParaRPr>
              <a:latin typeface="Arial"/>
            </a:endParaRPr>
          </a:p>
        </p:txBody>
      </p:sp>
      <p:sp>
        <p:nvSpPr>
          <p:cNvPr id="599" name="Google Shape;599;p25"/>
          <p:cNvSpPr txBox="1"/>
          <p:nvPr/>
        </p:nvSpPr>
        <p:spPr>
          <a:xfrm>
            <a:off x="1152525" y="4262583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00" name="Google Shape;600;p25"/>
          <p:cNvSpPr txBox="1"/>
          <p:nvPr/>
        </p:nvSpPr>
        <p:spPr>
          <a:xfrm>
            <a:off x="1400175" y="4914284"/>
            <a:ext cx="2068991" cy="25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</a:rPr>
              <a:t>Reply 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sz="1500" b="0" i="0" u="none" strike="noStrike" cap="none" dirty="0">
                <a:solidFill>
                  <a:schemeClr val="tx1"/>
                </a:solidFill>
              </a:rPr>
              <a:t> 15% </a:t>
            </a:r>
            <a:r>
              <a:rPr lang="en-US" sz="1439" b="0" i="0" u="none" strike="noStrike" cap="none" dirty="0">
                <a:solidFill>
                  <a:schemeClr val="tx2"/>
                </a:solidFill>
              </a:rPr>
              <a:t>в </a:t>
            </a:r>
            <a:r>
              <a:rPr lang="en-US" sz="1439" b="0" i="0" u="none" strike="noStrike" cap="none" dirty="0" err="1">
                <a:solidFill>
                  <a:schemeClr val="tx2"/>
                </a:solidFill>
              </a:rPr>
              <a:t>каналах</a:t>
            </a:r>
            <a:endParaRPr dirty="0">
              <a:latin typeface="Arial"/>
            </a:endParaRPr>
          </a:p>
        </p:txBody>
      </p:sp>
      <p:sp>
        <p:nvSpPr>
          <p:cNvPr id="601" name="Google Shape;601;p25"/>
          <p:cNvSpPr txBox="1"/>
          <p:nvPr/>
        </p:nvSpPr>
        <p:spPr>
          <a:xfrm>
            <a:off x="1400175" y="5180400"/>
            <a:ext cx="1241281" cy="242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9" b="0" i="0" u="none" strike="noStrike" cap="none" dirty="0" err="1">
                <a:solidFill>
                  <a:schemeClr val="tx2"/>
                </a:solidFill>
              </a:rPr>
              <a:t>привлечения</a:t>
            </a:r>
            <a:endParaRPr dirty="0">
              <a:latin typeface="Arial"/>
            </a:endParaRPr>
          </a:p>
        </p:txBody>
      </p:sp>
      <p:sp>
        <p:nvSpPr>
          <p:cNvPr id="602" name="Google Shape;602;p25"/>
          <p:cNvSpPr txBox="1"/>
          <p:nvPr/>
        </p:nvSpPr>
        <p:spPr>
          <a:xfrm>
            <a:off x="1152563" y="4959830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03" name="Google Shape;603;p25"/>
          <p:cNvSpPr txBox="1"/>
          <p:nvPr/>
        </p:nvSpPr>
        <p:spPr>
          <a:xfrm>
            <a:off x="1400175" y="5601894"/>
            <a:ext cx="2639390" cy="25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 dirty="0" err="1">
                <a:solidFill>
                  <a:schemeClr val="tx1"/>
                </a:solidFill>
              </a:rPr>
              <a:t>Доработка</a:t>
            </a:r>
            <a:r>
              <a:rPr lang="en-US" u="none" strike="noStrike" cap="none" dirty="0">
                <a:solidFill>
                  <a:schemeClr val="tx1"/>
                </a:solidFill>
              </a:rPr>
              <a:t> </a:t>
            </a:r>
            <a:r>
              <a:rPr lang="en-US" u="none" strike="noStrike" cap="none" dirty="0" err="1">
                <a:solidFill>
                  <a:schemeClr val="tx1"/>
                </a:solidFill>
              </a:rPr>
              <a:t>конструктора</a:t>
            </a:r>
            <a:r>
              <a:rPr lang="en-US" u="none" strike="noStrike" cap="none" dirty="0">
                <a:solidFill>
                  <a:schemeClr val="tx1"/>
                </a:solidFill>
              </a:rPr>
              <a:t> </a:t>
            </a:r>
            <a:r>
              <a:rPr lang="en-US" sz="1439" u="none" strike="noStrike" cap="none" dirty="0" err="1">
                <a:solidFill>
                  <a:schemeClr val="tx2"/>
                </a:solidFill>
              </a:rPr>
              <a:t>до</a:t>
            </a:r>
            <a:endParaRPr dirty="0">
              <a:latin typeface="Arial"/>
            </a:endParaRPr>
          </a:p>
        </p:txBody>
      </p:sp>
      <p:sp>
        <p:nvSpPr>
          <p:cNvPr id="604" name="Google Shape;604;p25"/>
          <p:cNvSpPr txBox="1"/>
          <p:nvPr/>
        </p:nvSpPr>
        <p:spPr>
          <a:xfrm>
            <a:off x="1400175" y="5866200"/>
            <a:ext cx="1097726" cy="242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9" b="0" i="0" u="none" strike="noStrike" cap="none">
                <a:solidFill>
                  <a:schemeClr val="tx2"/>
                </a:solidFill>
              </a:rPr>
              <a:t>версии v1.0</a:t>
            </a:r>
            <a:endParaRPr>
              <a:latin typeface="Arial"/>
            </a:endParaRPr>
          </a:p>
        </p:txBody>
      </p:sp>
      <p:sp>
        <p:nvSpPr>
          <p:cNvPr id="605" name="Google Shape;605;p25"/>
          <p:cNvSpPr txBox="1"/>
          <p:nvPr/>
        </p:nvSpPr>
        <p:spPr>
          <a:xfrm>
            <a:off x="1152525" y="5657076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06" name="Google Shape;606;p25"/>
          <p:cNvSpPr txBox="1"/>
          <p:nvPr/>
        </p:nvSpPr>
        <p:spPr>
          <a:xfrm>
            <a:off x="5353050" y="3786794"/>
            <a:ext cx="6543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МЕС 3</a:t>
            </a:r>
            <a:endParaRPr>
              <a:latin typeface="Arial"/>
            </a:endParaRPr>
          </a:p>
        </p:txBody>
      </p:sp>
      <p:sp>
        <p:nvSpPr>
          <p:cNvPr id="607" name="Google Shape;607;p25"/>
          <p:cNvSpPr txBox="1"/>
          <p:nvPr/>
        </p:nvSpPr>
        <p:spPr>
          <a:xfrm>
            <a:off x="5582550" y="4220396"/>
            <a:ext cx="2146500" cy="2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1"/>
                </a:solidFill>
              </a:rPr>
              <a:t> 3 платящих клиента</a:t>
            </a:r>
            <a:endParaRPr>
              <a:latin typeface="Arial"/>
            </a:endParaRPr>
          </a:p>
        </p:txBody>
      </p:sp>
      <p:sp>
        <p:nvSpPr>
          <p:cNvPr id="608" name="Google Shape;608;p25"/>
          <p:cNvSpPr txBox="1"/>
          <p:nvPr/>
        </p:nvSpPr>
        <p:spPr>
          <a:xfrm>
            <a:off x="5600700" y="4913326"/>
            <a:ext cx="24819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MVP в публичном доступе</a:t>
            </a:r>
            <a:endParaRPr>
              <a:latin typeface="Arial"/>
            </a:endParaRPr>
          </a:p>
        </p:txBody>
      </p:sp>
      <p:sp>
        <p:nvSpPr>
          <p:cNvPr id="609" name="Google Shape;609;p25"/>
          <p:cNvSpPr txBox="1"/>
          <p:nvPr/>
        </p:nvSpPr>
        <p:spPr>
          <a:xfrm>
            <a:off x="5353050" y="4952772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10" name="Google Shape;610;p25"/>
          <p:cNvSpPr txBox="1"/>
          <p:nvPr/>
        </p:nvSpPr>
        <p:spPr>
          <a:xfrm>
            <a:off x="5600700" y="5628176"/>
            <a:ext cx="30744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Запуск реферальной программы</a:t>
            </a:r>
            <a:endParaRPr>
              <a:latin typeface="Arial"/>
            </a:endParaRPr>
          </a:p>
        </p:txBody>
      </p:sp>
      <p:sp>
        <p:nvSpPr>
          <p:cNvPr id="611" name="Google Shape;611;p25"/>
          <p:cNvSpPr txBox="1"/>
          <p:nvPr/>
        </p:nvSpPr>
        <p:spPr>
          <a:xfrm>
            <a:off x="5353050" y="5667647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12" name="Google Shape;612;p25"/>
          <p:cNvSpPr txBox="1"/>
          <p:nvPr/>
        </p:nvSpPr>
        <p:spPr>
          <a:xfrm>
            <a:off x="9616350" y="3782152"/>
            <a:ext cx="8964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МЕС 4–5</a:t>
            </a:r>
            <a:endParaRPr>
              <a:latin typeface="Arial"/>
            </a:endParaRPr>
          </a:p>
        </p:txBody>
      </p:sp>
      <p:sp>
        <p:nvSpPr>
          <p:cNvPr id="613" name="Google Shape;613;p25"/>
          <p:cNvSpPr txBox="1"/>
          <p:nvPr/>
        </p:nvSpPr>
        <p:spPr>
          <a:xfrm>
            <a:off x="9816388" y="4199350"/>
            <a:ext cx="2675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2–3 кейса клиентов </a:t>
            </a:r>
            <a:r>
              <a:rPr lang="en-US" sz="1439" u="none" strike="noStrike" cap="none">
                <a:solidFill>
                  <a:schemeClr val="tx2"/>
                </a:solidFill>
              </a:rPr>
              <a:t>с фото и</a:t>
            </a:r>
            <a:endParaRPr>
              <a:latin typeface="Arial"/>
            </a:endParaRPr>
          </a:p>
        </p:txBody>
      </p:sp>
      <p:sp>
        <p:nvSpPr>
          <p:cNvPr id="614" name="Google Shape;614;p25"/>
          <p:cNvSpPr txBox="1"/>
          <p:nvPr/>
        </p:nvSpPr>
        <p:spPr>
          <a:xfrm>
            <a:off x="9801225" y="4492795"/>
            <a:ext cx="877800" cy="2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9" b="0" i="0" u="none" strike="noStrike" cap="none">
                <a:solidFill>
                  <a:schemeClr val="tx2"/>
                </a:solidFill>
              </a:rPr>
              <a:t>цифрами</a:t>
            </a:r>
            <a:endParaRPr>
              <a:latin typeface="Arial"/>
            </a:endParaRPr>
          </a:p>
        </p:txBody>
      </p:sp>
      <p:sp>
        <p:nvSpPr>
          <p:cNvPr id="615" name="Google Shape;615;p25"/>
          <p:cNvSpPr txBox="1"/>
          <p:nvPr/>
        </p:nvSpPr>
        <p:spPr>
          <a:xfrm>
            <a:off x="9616300" y="4237908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16" name="Google Shape;616;p25"/>
          <p:cNvSpPr txBox="1"/>
          <p:nvPr/>
        </p:nvSpPr>
        <p:spPr>
          <a:xfrm>
            <a:off x="9801175" y="4921275"/>
            <a:ext cx="27060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</a:rPr>
              <a:t>NPS </a:t>
            </a:r>
            <a:r>
              <a:rPr lang="en-US" sz="1500" b="0" i="0" u="none" strike="noStrike" cap="none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sz="1500" b="0" i="0" u="none" strike="noStrike" cap="none">
                <a:solidFill>
                  <a:schemeClr val="tx1"/>
                </a:solidFill>
              </a:rPr>
              <a:t> 8 </a:t>
            </a:r>
            <a:r>
              <a:rPr lang="en-US" sz="1439" b="0" i="0" u="none" strike="noStrike" cap="none">
                <a:solidFill>
                  <a:schemeClr val="tx2"/>
                </a:solidFill>
              </a:rPr>
              <a:t>от владельцев табло</a:t>
            </a:r>
            <a:endParaRPr>
              <a:latin typeface="Arial"/>
            </a:endParaRPr>
          </a:p>
        </p:txBody>
      </p:sp>
      <p:sp>
        <p:nvSpPr>
          <p:cNvPr id="617" name="Google Shape;617;p25"/>
          <p:cNvSpPr txBox="1"/>
          <p:nvPr/>
        </p:nvSpPr>
        <p:spPr>
          <a:xfrm>
            <a:off x="9616338" y="4959858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18" name="Google Shape;618;p25"/>
          <p:cNvSpPr txBox="1"/>
          <p:nvPr/>
        </p:nvSpPr>
        <p:spPr>
          <a:xfrm>
            <a:off x="9807075" y="5600947"/>
            <a:ext cx="28746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Контент-петля: кейсы </a:t>
            </a: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→</a:t>
            </a:r>
            <a:r>
              <a:rPr lang="en-US" u="none" strike="noStrike" cap="none">
                <a:solidFill>
                  <a:schemeClr val="tx1"/>
                </a:solidFill>
              </a:rPr>
              <a:t> лиды</a:t>
            </a:r>
            <a:endParaRPr>
              <a:latin typeface="Arial"/>
            </a:endParaRPr>
          </a:p>
        </p:txBody>
      </p:sp>
      <p:sp>
        <p:nvSpPr>
          <p:cNvPr id="619" name="Google Shape;619;p25"/>
          <p:cNvSpPr txBox="1"/>
          <p:nvPr/>
        </p:nvSpPr>
        <p:spPr>
          <a:xfrm>
            <a:off x="9616300" y="5643192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20" name="Google Shape;620;p25"/>
          <p:cNvSpPr txBox="1"/>
          <p:nvPr/>
        </p:nvSpPr>
        <p:spPr>
          <a:xfrm>
            <a:off x="13735050" y="3779964"/>
            <a:ext cx="652200" cy="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>
                <a:solidFill>
                  <a:schemeClr val="accent1"/>
                </a:solidFill>
              </a:rPr>
              <a:t>МЕС 6</a:t>
            </a:r>
            <a:endParaRPr>
              <a:latin typeface="Arial"/>
            </a:endParaRPr>
          </a:p>
        </p:txBody>
      </p:sp>
      <p:sp>
        <p:nvSpPr>
          <p:cNvPr id="621" name="Google Shape;621;p25"/>
          <p:cNvSpPr txBox="1"/>
          <p:nvPr/>
        </p:nvSpPr>
        <p:spPr>
          <a:xfrm>
            <a:off x="13954125" y="4168413"/>
            <a:ext cx="14031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MRR </a:t>
            </a: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1"/>
                </a:solidFill>
              </a:rPr>
              <a:t> 3 992 </a:t>
            </a: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₽</a:t>
            </a:r>
            <a:endParaRPr>
              <a:latin typeface="Arial"/>
            </a:endParaRPr>
          </a:p>
        </p:txBody>
      </p:sp>
      <p:sp>
        <p:nvSpPr>
          <p:cNvPr id="622" name="Google Shape;622;p25"/>
          <p:cNvSpPr txBox="1"/>
          <p:nvPr/>
        </p:nvSpPr>
        <p:spPr>
          <a:xfrm>
            <a:off x="13754063" y="4203220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23" name="Google Shape;623;p25"/>
          <p:cNvSpPr txBox="1"/>
          <p:nvPr/>
        </p:nvSpPr>
        <p:spPr>
          <a:xfrm>
            <a:off x="13949550" y="4859913"/>
            <a:ext cx="2781600" cy="2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  <a:latin typeface="Arial"/>
                <a:sym typeface="Arial"/>
              </a:rPr>
              <a:t>≥</a:t>
            </a:r>
            <a:r>
              <a:rPr lang="en-US" u="none" strike="noStrike" cap="none">
                <a:solidFill>
                  <a:schemeClr val="tx1"/>
                </a:solidFill>
              </a:rPr>
              <a:t> 8 платящих пользователей</a:t>
            </a:r>
            <a:endParaRPr>
              <a:latin typeface="Arial"/>
            </a:endParaRPr>
          </a:p>
        </p:txBody>
      </p:sp>
      <p:sp>
        <p:nvSpPr>
          <p:cNvPr id="624" name="Google Shape;624;p25"/>
          <p:cNvSpPr txBox="1"/>
          <p:nvPr/>
        </p:nvSpPr>
        <p:spPr>
          <a:xfrm>
            <a:off x="13754125" y="4902067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25" name="Google Shape;625;p25"/>
          <p:cNvSpPr txBox="1"/>
          <p:nvPr/>
        </p:nvSpPr>
        <p:spPr>
          <a:xfrm>
            <a:off x="13954200" y="5600894"/>
            <a:ext cx="31872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tx1"/>
                </a:solidFill>
              </a:rPr>
              <a:t>Готовность к следующему раунду</a:t>
            </a:r>
            <a:endParaRPr>
              <a:latin typeface="Arial"/>
            </a:endParaRPr>
          </a:p>
        </p:txBody>
      </p:sp>
      <p:sp>
        <p:nvSpPr>
          <p:cNvPr id="626" name="Google Shape;626;p25"/>
          <p:cNvSpPr txBox="1"/>
          <p:nvPr/>
        </p:nvSpPr>
        <p:spPr>
          <a:xfrm>
            <a:off x="13754113" y="5640363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27" name="Google Shape;627;p25"/>
          <p:cNvSpPr txBox="1"/>
          <p:nvPr/>
        </p:nvSpPr>
        <p:spPr>
          <a:xfrm>
            <a:off x="857250" y="9771268"/>
            <a:ext cx="1934299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u="none" strike="noStrike" cap="none" dirty="0" err="1">
                <a:solidFill>
                  <a:schemeClr val="accent1"/>
                </a:solidFill>
              </a:rPr>
              <a:t>PiConstruct</a:t>
            </a:r>
            <a:r>
              <a:rPr lang="en-US" u="none" strike="noStrike" cap="none" dirty="0">
                <a:solidFill>
                  <a:schemeClr val="accent3"/>
                </a:solidFill>
              </a:rPr>
              <a:t> </a:t>
            </a:r>
            <a:r>
              <a:rPr lang="en-US" u="none" strike="noStrike" cap="none" dirty="0" err="1">
                <a:solidFill>
                  <a:schemeClr val="accent3"/>
                </a:solidFill>
              </a:rPr>
              <a:t>питч-дек</a:t>
            </a:r>
            <a:endParaRPr dirty="0">
              <a:latin typeface="Arial"/>
            </a:endParaRPr>
          </a:p>
        </p:txBody>
      </p:sp>
      <p:sp>
        <p:nvSpPr>
          <p:cNvPr id="628" name="Google Shape;628;p25"/>
          <p:cNvSpPr txBox="1"/>
          <p:nvPr/>
        </p:nvSpPr>
        <p:spPr>
          <a:xfrm>
            <a:off x="16920371" y="9771268"/>
            <a:ext cx="586584" cy="2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3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none" strike="noStrike" cap="none">
                <a:solidFill>
                  <a:schemeClr val="accent3"/>
                </a:solidFill>
              </a:rPr>
              <a:t>13 / 13</a:t>
            </a:r>
            <a:endParaRPr>
              <a:latin typeface="Arial"/>
            </a:endParaRPr>
          </a:p>
        </p:txBody>
      </p:sp>
      <p:sp>
        <p:nvSpPr>
          <p:cNvPr id="629" name="Google Shape;629;p25"/>
          <p:cNvSpPr txBox="1"/>
          <p:nvPr/>
        </p:nvSpPr>
        <p:spPr>
          <a:xfrm>
            <a:off x="5353050" y="4237897"/>
            <a:ext cx="200100" cy="1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chemeClr val="accent1"/>
                </a:solidFill>
                <a:latin typeface="Arial"/>
                <a:sym typeface="Arial"/>
              </a:rPr>
              <a:t>◆</a:t>
            </a:r>
            <a:endParaRPr>
              <a:latin typeface="Arial"/>
            </a:endParaRPr>
          </a:p>
        </p:txBody>
      </p:sp>
      <p:sp>
        <p:nvSpPr>
          <p:cNvPr id="630" name="Google Shape;630;p25"/>
          <p:cNvSpPr/>
          <p:nvPr/>
        </p:nvSpPr>
        <p:spPr>
          <a:xfrm>
            <a:off x="9534600" y="3248221"/>
            <a:ext cx="3419400" cy="378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  <p:sp>
        <p:nvSpPr>
          <p:cNvPr id="631" name="Google Shape;631;p25"/>
          <p:cNvSpPr/>
          <p:nvPr/>
        </p:nvSpPr>
        <p:spPr>
          <a:xfrm>
            <a:off x="13735200" y="3248221"/>
            <a:ext cx="3419400" cy="37800"/>
          </a:xfrm>
          <a:prstGeom prst="rect">
            <a:avLst/>
          </a:prstGeom>
          <a:solidFill>
            <a:srgbClr val="2BDD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Construct">
      <a:dk1>
        <a:srgbClr val="000000"/>
      </a:dk1>
      <a:lt1>
        <a:srgbClr val="F2F5F7"/>
      </a:lt1>
      <a:dk2>
        <a:srgbClr val="1A1F27"/>
      </a:dk2>
      <a:lt2>
        <a:srgbClr val="9AA7B4"/>
      </a:lt2>
      <a:accent1>
        <a:srgbClr val="2BDD93"/>
      </a:accent1>
      <a:accent2>
        <a:srgbClr val="FFB454"/>
      </a:accent2>
      <a:accent3>
        <a:srgbClr val="5C6773"/>
      </a:accent3>
      <a:accent4>
        <a:srgbClr val="6B7683"/>
      </a:accent4>
      <a:accent5>
        <a:srgbClr val="06281B"/>
      </a:accent5>
      <a:accent6>
        <a:srgbClr val="5EA8FF"/>
      </a:accent6>
      <a:hlink>
        <a:srgbClr val="E06C75"/>
      </a:hlink>
      <a:folHlink>
        <a:srgbClr val="2BDD93"/>
      </a:folHlink>
    </a:clrScheme>
    <a:fontScheme name="Office">
      <a:majorFont>
        <a:latin typeface="Rubi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ubi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PiConstruct">
      <a:dk1>
        <a:srgbClr val="000000"/>
      </a:dk1>
      <a:lt1>
        <a:srgbClr val="F2F5F7"/>
      </a:lt1>
      <a:dk2>
        <a:srgbClr val="1A1F27"/>
      </a:dk2>
      <a:lt2>
        <a:srgbClr val="9AA7B4"/>
      </a:lt2>
      <a:accent1>
        <a:srgbClr val="2BDD93"/>
      </a:accent1>
      <a:accent2>
        <a:srgbClr val="FFB454"/>
      </a:accent2>
      <a:accent3>
        <a:srgbClr val="5C6773"/>
      </a:accent3>
      <a:accent4>
        <a:srgbClr val="6B7683"/>
      </a:accent4>
      <a:accent5>
        <a:srgbClr val="06281B"/>
      </a:accent5>
      <a:accent6>
        <a:srgbClr val="5EA8FF"/>
      </a:accent6>
      <a:hlink>
        <a:srgbClr val="E06C75"/>
      </a:hlink>
      <a:folHlink>
        <a:srgbClr val="2BDD93"/>
      </a:folHlink>
    </a:clrScheme>
    <a:fontScheme name="Office">
      <a:majorFont>
        <a:latin typeface="Rubi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ubi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3517</Words>
  <Application>Microsoft Office PowerPoint</Application>
  <PresentationFormat>Произвольный</PresentationFormat>
  <Paragraphs>824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ilya</dc:creator>
  <cp:lastModifiedBy>ilya</cp:lastModifiedBy>
  <cp:revision>2</cp:revision>
  <dcterms:modified xsi:type="dcterms:W3CDTF">2026-09-27T18:12:12Z</dcterms:modified>
</cp:coreProperties>
</file>