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Тема: планирование международного расширения. Выбран рынок Казахстана: Алматы и Астана на первом этапе. Курс пересчёта — 5,41 тенге за рубль, официальный курс НБ РК на 19.10.2026.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Сравнили четыре дружественных направления по пяти параметрам. Беларусь набирает больше всего, но рынок мал и условия почти как в РФ — тема санкций и адаптации не прорабатывается. Казахстан — лучший из рынков, где выход действительно меняет модель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БНС РК за 2025 год. Треть рынка — Алматы и Астана. TAM/SAM/SOM считали снизу: точки × цена Pro. SAM — верхняя граница: статистика не выделяет сетевые заведения.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требование — меню как визуальная информация размещается на государственном языке, ст. 21 Закона «О языках». В текущих файлах шрифта Rubik нет 14 казахских глифов — проверено по таблице символов. Персональные данные граждан РК храним на сервере в 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Цены — паритет с РФ по курсу 5,41 с округлением вниз. Против медиаплеера табло дешевле на 63 510 тенге; Pro окупается за 1,7–2,7 месяца подписки на QR-меню. Каналы: 2GIS и WhatsApp, Instagram, партнёр, выставки HoReCa.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Этап 1: дилерский договор, без зарубежного юрлица. Клиент платит партнёру в тенге через Kaspi, партнёр раз в квартал переводит ИП 70% в рублях через банк, работающий с РФ. Этап 2: ТОО и Astana Hub — когда бухгалтерия окупается, то есть от 10 прямых продаж в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фазы. Переход к следующей — только после контрольной точки. Фаза 0 стартует сразу: FoodExpo в ноябре. Пилот — три кафе в Алматы бесплатно в обмен на кейсы. Продажи — девять месяцев, цель 15 Pro и 3 AI+.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Воронка outreach по показателям РФ: 10% ответов, 40% демо, 50% оплат — 7 продаж. Партнёр — 8 продаж. Поступления после УСН — 28 210 ₽, расходы на перевод и сервер — 27 818 ₽: результат около нуля, к концу периода — плюс 2 763 ₽ в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Риски внесены в риск-реестр под номерами 10–14. Ключевые — банковские расчёты и зависимость от одного партнёра. Железо через границу не возим: Raspberry Pi клиент покупает в Казахстане, мы экспортируем только образ.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рынок выбран по данным, продукт адаптирован под законы и инфраструктуру, вход двухэтапный и без зарубежного юрлица на старте. Ближайший шаг — до конца января 2027 года подписать дилерский договор и выпустить двуязычные шаблоны.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ПРАКТИЧЕСКОЕ ЗАНЯТИЕ №13 · МЕЖДУНАРОДНОЕ РАСШИРЕНИЕ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FFFFFF"/>
                </a:solidFill>
                <a:latin typeface="Segoe UI Semibold"/>
              </a:rPr>
              <a:t>PiConstruct выходит </a:t>
            </a:r>
            <a:r>
              <a:rPr sz="4800" b="0">
                <a:solidFill>
                  <a:srgbClr val="2BDD93"/>
                </a:solidFill>
                <a:latin typeface="Segoe UI Semibold"/>
              </a:rPr>
              <a:t>в Казахстан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CFD8"/>
                </a:solidFill>
                <a:latin typeface="Segoe UI"/>
              </a:rPr>
              <a:t>Цифровые табло для кафе без подписки и без интернета — меню на казахском и русском, обновление с телефона за 30 секунд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6791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2BDD93"/>
                </a:solidFill>
                <a:latin typeface="Segoe UI Semibold"/>
              </a:rPr>
              <a:t>19 588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645151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заведений общепита в РК на конец 2025 года (БНС)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37033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386791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2BDD93"/>
                </a:solidFill>
                <a:latin typeface="Segoe UI Semibold"/>
              </a:rPr>
              <a:t>+17,5%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4645151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рост числа заведений за год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7033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86791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2BDD93"/>
                </a:solidFill>
                <a:latin typeface="Segoe UI Semibold"/>
              </a:rPr>
              <a:t>13 490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645151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цена Pro — разовая покупка (паритет с 2 499 ₽)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7" y="37033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7" y="386791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2BDD93"/>
                </a:solidFill>
                <a:latin typeface="Segoe UI Semibold"/>
              </a:rPr>
              <a:t>5,41 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7" y="4645151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за 1 ₽ — курс НБ РК на 19.10.2026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899F"/>
                </a:solidFill>
                <a:latin typeface="Segoe UI"/>
              </a:rPr>
              <a:t>Команда №1: Савельев С. · Овчаренко К. · Валянский А. · Миняев Т. · Паркаев 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1 · ВЫБОР РЫНКА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Почему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7269480" cy="39319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Параметр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64592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Казахстан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164592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Узбекистан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64592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Беларусь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1645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ОАЭ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2194560"/>
            <a:ext cx="690372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194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Языковой барьер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9456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19456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19456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21945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2743200"/>
            <a:ext cx="690372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27432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Расчёты с РФ без SWIFT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74320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74320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7432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3291839"/>
            <a:ext cx="690372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329183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Размер и рост общепита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3291839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291839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3291839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291839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3840480"/>
            <a:ext cx="690372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8" y="3840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Стоимость юр. входа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384048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384048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84048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38404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9808" y="4389120"/>
            <a:ext cx="690372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9808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Сегмент «микробизнес без IT»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438912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7448" y="438912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438912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3891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" y="4937759"/>
            <a:ext cx="7178040" cy="548640"/>
          </a:xfrm>
          <a:prstGeom prst="roundRect">
            <a:avLst>
              <a:gd name="adj" fmla="val 15000"/>
            </a:avLst>
          </a:prstGeom>
          <a:solidFill>
            <a:srgbClr val="123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493775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Сумма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4937759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7448" y="4937759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4937759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4888" y="4937759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1600200"/>
            <a:ext cx="3383280" cy="393192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1783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РЕШЕНИЕ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2103120"/>
            <a:ext cx="2926080" cy="32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Казахстан — </a:t>
            </a:r>
            <a:r>
              <a:rPr sz="1250" b="0">
                <a:solidFill>
                  <a:srgbClr val="C9CFD8"/>
                </a:solidFill>
                <a:latin typeface="Segoe UI"/>
              </a:rPr>
              <a:t>лучший из рынков, где выход меняет модель бизнеса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Беларусь — </a:t>
            </a:r>
            <a:r>
              <a:rPr sz="1250" b="0">
                <a:solidFill>
                  <a:srgbClr val="C9CFD8"/>
                </a:solidFill>
                <a:latin typeface="Segoe UI"/>
              </a:rPr>
              <a:t>мал рынок, условия как в РФ: ни диверсификации, ни работы с санкциями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Узбекистан — </a:t>
            </a:r>
            <a:r>
              <a:rPr sz="1250" b="0">
                <a:solidFill>
                  <a:srgbClr val="C9CFD8"/>
                </a:solidFill>
                <a:latin typeface="Segoe UI"/>
              </a:rPr>
              <a:t>полная локализация на узбекский (латиница)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ОАЭ — </a:t>
            </a:r>
            <a:r>
              <a:rPr sz="1250" b="0">
                <a:solidFill>
                  <a:srgbClr val="C9CFD8"/>
                </a:solidFill>
                <a:latin typeface="Segoe UI"/>
              </a:rPr>
              <a:t>дорогая фризона, арабский и английский интерфейс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1 · РЫНОК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Рынок Казахстана: растущий и концентрированный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647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DD93"/>
                </a:solidFill>
                <a:latin typeface="Segoe UI Semibold"/>
              </a:rPr>
              <a:t>2,1 трлн 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048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оборот общепита РК за 2025 год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7647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DD93"/>
                </a:solidFill>
                <a:latin typeface="Segoe UI Semibold"/>
              </a:rPr>
              <a:t>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4048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точек в Алматы (3 522) и Астане (2 761)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08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27355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DD93"/>
                </a:solidFill>
                <a:latin typeface="Segoe UI Semibold"/>
              </a:rPr>
              <a:t>5 987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91363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кафе (+15,1% за год)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3108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327355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DD93"/>
                </a:solidFill>
                <a:latin typeface="Segoe UI Semibold"/>
              </a:rPr>
              <a:t>5 940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91363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столовых (+5,7% за год)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8006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7A899F"/>
                </a:solidFill>
                <a:latin typeface="Segoe UI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12064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Открывающиеся кафе оформляют меню с нуля — окно для продаж. Пилот и продажи без разъездов: два города.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50">
                <a:solidFill>
                  <a:srgbClr val="7A899F"/>
                </a:solidFill>
                <a:latin typeface="Segoe UI"/>
              </a:rPr>
              <a:t>TAM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264,2 млн ₸ ≈ 48,8 млн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414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19 588 заведений общепита РК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081528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2186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50">
                <a:solidFill>
                  <a:srgbClr val="7A899F"/>
                </a:solidFill>
                <a:latin typeface="Segoe UI"/>
              </a:rPr>
              <a:t>SAM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930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160,9 млн ₸ ≈ 29,7 млн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227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11 927 кафе и столовых РК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59" y="4562856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123024"/>
          </a:solidFill>
          <a:ln w="12700">
            <a:solidFill>
              <a:srgbClr val="2BD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59" y="47000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50">
                <a:solidFill>
                  <a:srgbClr val="2BDD93"/>
                </a:solidFill>
                <a:latin typeface="Segoe UI"/>
              </a:rPr>
              <a:t>SOM · 12 мес.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59" y="497433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оборот 231 940 ₸ ≈ 42,9 тыс. 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540410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15 клиентов из 1 845 кафе Алматы и Астаны (0,8%)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Объём = число точек × Pro 13 490 ₸. SOM — из воронки продаж (слайд 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2 · АДАПТАЦИЯ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Интерфейс и техподдержка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760720" cy="4526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ИНТЕРФЕЙС И 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03120"/>
            <a:ext cx="530352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Двуязычные шаблоны: </a:t>
            </a:r>
            <a:r>
              <a:rPr sz="1250" b="0">
                <a:solidFill>
                  <a:srgbClr val="C9CFD8"/>
                </a:solidFill>
                <a:latin typeface="Segoe UI"/>
              </a:rPr>
              <a:t>5 шаблонов общепита, казахский слева/сверху, русский справа/снизу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Шрифт: </a:t>
            </a:r>
            <a:r>
              <a:rPr sz="1250" b="0">
                <a:solidFill>
                  <a:srgbClr val="C9CFD8"/>
                </a:solidFill>
                <a:latin typeface="Segoe UI"/>
              </a:rPr>
              <a:t>в Rubik дизайн-системы нет Ә Ғ Қ Ң Ө Ү Һ (14 глифов) → подмножество cyrillic-ext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Конструктор RU / KZ, </a:t>
            </a:r>
            <a:r>
              <a:rPr sz="1250" b="0">
                <a:solidFill>
                  <a:srgbClr val="C9CFD8"/>
                </a:solidFill>
                <a:latin typeface="Segoe UI"/>
              </a:rPr>
              <a:t>цены в формате «1 500 ₸»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Лицензионные ключи </a:t>
            </a:r>
            <a:r>
              <a:rPr sz="1250" b="0">
                <a:solidFill>
                  <a:srgbClr val="C9CFD8"/>
                </a:solidFill>
                <a:latin typeface="Segoe UI"/>
              </a:rPr>
              <a:t>Pro и AI+ — их продаёт партнёр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Сервер в РК </a:t>
            </a:r>
            <a:r>
              <a:rPr sz="1250" b="0">
                <a:solidFill>
                  <a:srgbClr val="C9CFD8"/>
                </a:solidFill>
                <a:latin typeface="Segoe UI"/>
              </a:rPr>
              <a:t>для аккаунтов: локализация персональных данных (Закон № 94-V)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AI+: </a:t>
            </a:r>
            <a:r>
              <a:rPr sz="1250" b="0">
                <a:solidFill>
                  <a:srgbClr val="C9CFD8"/>
                </a:solidFill>
                <a:latin typeface="Segoe UI"/>
              </a:rPr>
              <a:t>текст меню сразу на двух языках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5074920" cy="2331720"/>
          </a:xfrm>
          <a:prstGeom prst="roundRect">
            <a:avLst>
              <a:gd name="adj" fmla="val 8000"/>
            </a:avLst>
          </a:prstGeom>
          <a:solidFill>
            <a:srgbClr val="0B0D10"/>
          </a:solidFill>
          <a:ln w="12700">
            <a:solidFill>
              <a:srgbClr val="2BD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50">
                <a:solidFill>
                  <a:srgbClr val="7A899F"/>
                </a:solidFill>
                <a:latin typeface="Segoe UI"/>
              </a:rPr>
              <a:t>ПРИМЕР ДВУЯЗЫЧНОГО ТАБЛО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DD93"/>
                </a:solidFill>
                <a:latin typeface="Segoe UI Semibold"/>
              </a:rPr>
              <a:t>МӘЗІР</a:t>
            </a:r>
            <a:r>
              <a:rPr sz="2200" b="0">
                <a:solidFill>
                  <a:srgbClr val="FFFFFF"/>
                </a:solidFill>
                <a:latin typeface="Segoe UI Semibold"/>
              </a:rPr>
              <a:t>  ·  МЕНЮ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Шай</a:t>
            </a:r>
            <a:r>
              <a:rPr sz="1500" b="0">
                <a:solidFill>
                  <a:srgbClr val="C9CFD8"/>
                </a:solidFill>
                <a:latin typeface="Segoe UI"/>
              </a:rPr>
              <a:t>  ·  Чай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606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2BDD93"/>
                </a:solidFill>
                <a:latin typeface="Segoe UI Semibold"/>
              </a:rPr>
              <a:t>500 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017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Кофе</a:t>
            </a:r>
            <a:r>
              <a:rPr sz="1500" b="0">
                <a:solidFill>
                  <a:srgbClr val="C9CFD8"/>
                </a:solidFill>
                <a:latin typeface="Segoe UI"/>
              </a:rPr>
              <a:t>  ·  Кофе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017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2BDD93"/>
                </a:solidFill>
                <a:latin typeface="Segoe UI Semibold"/>
              </a:rPr>
              <a:t>900 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29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Самса</a:t>
            </a:r>
            <a:r>
              <a:rPr sz="1500" b="0">
                <a:solidFill>
                  <a:srgbClr val="C9CFD8"/>
                </a:solidFill>
                <a:latin typeface="Segoe UI"/>
              </a:rPr>
              <a:t>  ·  Самса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429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2BDD93"/>
                </a:solidFill>
                <a:latin typeface="Segoe UI Semibold"/>
              </a:rPr>
              <a:t>600 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069080"/>
            <a:ext cx="5074920" cy="20574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5196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7A899F"/>
                </a:solidFill>
                <a:latin typeface="Segoe UI"/>
              </a:rPr>
              <a:t>ТЕХПОДДЕРЖКА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72000"/>
            <a:ext cx="4617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1-я линия — партнёр: </a:t>
            </a:r>
            <a:r>
              <a:rPr sz="1250" b="0">
                <a:solidFill>
                  <a:srgbClr val="C9CFD8"/>
                </a:solidFill>
                <a:latin typeface="Segoe UI"/>
              </a:rPr>
              <a:t>установка, запись образа, замена железа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2-я линия — команда: </a:t>
            </a:r>
            <a:r>
              <a:rPr sz="1250" b="0">
                <a:solidFill>
                  <a:srgbClr val="C9CFD8"/>
                </a:solidFill>
                <a:latin typeface="Segoe UI"/>
              </a:rPr>
              <a:t>10:00–19:00 по Астане (08:00–17:00 МСК), WhatsApp и Telegram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Перевод ~30 стр.: </a:t>
            </a:r>
            <a:r>
              <a:rPr sz="1250" b="0">
                <a:solidFill>
                  <a:srgbClr val="C9CFD8"/>
                </a:solidFill>
                <a:latin typeface="Segoe UI"/>
              </a:rPr>
              <a:t>45 000 ₸ ≈ 8 318 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2 · ЦЕНЫ И ПРОДВИЖЕНИЕ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Цены в тенге и каналы под страну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577840" cy="192024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Тариф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6459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РФ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45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Казахстан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103120"/>
            <a:ext cx="521208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103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1031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0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103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0 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2560320"/>
            <a:ext cx="5486400" cy="457200"/>
          </a:xfrm>
          <a:prstGeom prst="roundRect">
            <a:avLst>
              <a:gd name="adj" fmla="val 15000"/>
            </a:avLst>
          </a:prstGeom>
          <a:solidFill>
            <a:srgbClr val="123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60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Pro (разово)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5603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2 499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603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2BDD93"/>
                </a:solidFill>
                <a:latin typeface="Segoe UI Semibold"/>
              </a:rPr>
              <a:t>13 490 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017520"/>
            <a:ext cx="521208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30175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AI+ (в месяц)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0175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499 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0175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FD8"/>
                </a:solidFill>
                <a:latin typeface="Segoe UI"/>
              </a:rPr>
              <a:t>2 690 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6616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2 499 × 5,41 = 13 520 ₸ → 13 490 ₸; пересмотр цен при отклонении курса &gt; 10% (&lt; 4,87 или &gt; 5,95 ₸/₽), не чаще раза в квартал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206240"/>
            <a:ext cx="5577840" cy="1810512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251959"/>
            <a:ext cx="3291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Решение для кафе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251959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Стоимость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681727"/>
            <a:ext cx="521208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4681727"/>
            <a:ext cx="3291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QR-меню Dzumba / Poster / QRPay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681727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60–96 тыс. ₸ в год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8" y="5111496"/>
            <a:ext cx="521208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5111496"/>
            <a:ext cx="3291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Медиаплеер + ПО SignageLink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5111496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189 000 ₸ + ПО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5541264"/>
            <a:ext cx="5486400" cy="429768"/>
          </a:xfrm>
          <a:prstGeom prst="roundRect">
            <a:avLst>
              <a:gd name="adj" fmla="val 15000"/>
            </a:avLst>
          </a:prstGeom>
          <a:solidFill>
            <a:srgbClr val="123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541264"/>
            <a:ext cx="3291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Raspberry Pi 5 + PiConstruct 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541264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≈ 125 490 ₸ разово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600200"/>
            <a:ext cx="5212080" cy="4526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ПРОДВИЖЕНИЕ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103120"/>
            <a:ext cx="475488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2GIS + WhatsApp: </a:t>
            </a:r>
            <a:r>
              <a:rPr sz="1250" b="0">
                <a:solidFill>
                  <a:srgbClr val="C9CFD8"/>
                </a:solidFill>
                <a:latin typeface="Segoe UI"/>
              </a:rPr>
              <a:t>outreach 40 кафе в месяц; WhatsApp — основной мессенджер страны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Instagram: </a:t>
            </a:r>
            <a:r>
              <a:rPr sz="1250" b="0">
                <a:solidFill>
                  <a:srgbClr val="C9CFD8"/>
                </a:solidFill>
                <a:latin typeface="Segoe UI"/>
              </a:rPr>
              <a:t>главная соцсеть РК — кейсы пилотных кафе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Партнёр-интегратор: </a:t>
            </a:r>
            <a:r>
              <a:rPr sz="1250" b="0">
                <a:solidFill>
                  <a:srgbClr val="C9CFD8"/>
                </a:solidFill>
                <a:latin typeface="Segoe UI"/>
              </a:rPr>
              <a:t>продаёт ключи вместе с установкой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FoodExpo Qazaqstan </a:t>
            </a:r>
            <a:r>
              <a:rPr sz="1250" b="0">
                <a:solidFill>
                  <a:srgbClr val="C9CFD8"/>
                </a:solidFill>
                <a:latin typeface="Segoe UI"/>
              </a:rPr>
              <a:t>11–13.11.2026, Алматы — база для поиска партнёров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HoReCa Expo Kazakhstan </a:t>
            </a:r>
            <a:r>
              <a:rPr sz="1250" b="0">
                <a:solidFill>
                  <a:srgbClr val="C9CFD8"/>
                </a:solidFill>
                <a:latin typeface="Segoe UI"/>
              </a:rPr>
              <a:t>16–18.06.2027, Астана — демо на стенде партнёра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Сообщение: </a:t>
            </a:r>
            <a:r>
              <a:rPr sz="1250" b="0">
                <a:solidFill>
                  <a:srgbClr val="C9CFD8"/>
                </a:solidFill>
                <a:latin typeface="Segoe UI"/>
              </a:rPr>
              <a:t>«меню на казахском и русском по закону — с телефона за 30 секунд»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Без платной рекламы </a:t>
            </a:r>
            <a:r>
              <a:rPr sz="1250" b="0">
                <a:solidFill>
                  <a:srgbClr val="C9CFD8"/>
                </a:solidFill>
                <a:latin typeface="Segoe UI"/>
              </a:rPr>
              <a:t>на старте — правило 10% недели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3 · ФОРМАТ СОТРУДНИЧЕСТВА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Вход через партнёра, затем своё ТОО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10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Кафе в Алматы / Астане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860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покупает ключ Pro и установку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2286000"/>
            <a:ext cx="411480" cy="320040"/>
          </a:xfrm>
          <a:prstGeom prst="rightArrow">
            <a:avLst/>
          </a:prstGeom>
          <a:solidFill>
            <a:srgbClr val="2BD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3337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тенге · Kaspi 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Партнёр-интегратор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860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дилер POS (iiko, r_keeper, Poster) или магазин Raspberry Pi; оставляет 30%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72400" y="2286000"/>
            <a:ext cx="411480" cy="320040"/>
          </a:xfrm>
          <a:prstGeom prst="rightArrow">
            <a:avLst/>
          </a:prstGeom>
          <a:solidFill>
            <a:srgbClr val="2BD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3337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рубли · Halyk, ForteBank, БЦК, ВТБ КЗ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64592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23024"/>
          </a:solidFill>
          <a:ln w="12700">
            <a:solidFill>
              <a:srgbClr val="2BD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810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ИП в РФ (УСН 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2860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получает 70% в рублях раз в квартал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86200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ЭТАП 1 · ДИЛЕРСКИЙ ДОГОВОР (ФАЗЫ 0–2)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389120"/>
            <a:ext cx="5029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C9CFD8"/>
                </a:solidFill>
                <a:latin typeface="Segoe UI"/>
              </a:rPr>
              <a:t>SWIFT и зарубежное юрлицо не нужны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C9CFD8"/>
                </a:solidFill>
                <a:latin typeface="Segoe UI"/>
              </a:rPr>
              <a:t>Договор неэксклюзивный, расчёты раз в квартал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C9CFD8"/>
                </a:solidFill>
                <a:latin typeface="Segoe UI"/>
              </a:rPr>
              <a:t>Партнёр платит НДС за нерезидента 16% (правила ЕАЭС)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C9CFD8"/>
                </a:solidFill>
                <a:latin typeface="Segoe UI"/>
              </a:rPr>
              <a:t>Комиссия 30% = CAC 4 047 ₸ ≤ ⅓ цены (4 497 ₸)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886200"/>
            <a:ext cx="5376672" cy="2240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4069080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CABDD"/>
                </a:solidFill>
                <a:latin typeface="Segoe UI"/>
              </a:rPr>
              <a:t>ЭТАП 2 · ТОО + ASTANA HUB (ФАЗА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389120"/>
            <a:ext cx="491947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Триггер: </a:t>
            </a:r>
            <a:r>
              <a:rPr sz="1250" b="0">
                <a:solidFill>
                  <a:srgbClr val="C9CFD8"/>
                </a:solidFill>
                <a:latin typeface="Segoe UI"/>
              </a:rPr>
              <a:t>≥ 10 продаж в месяц 3 месяца подряд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Расчёт: </a:t>
            </a:r>
            <a:r>
              <a:rPr sz="1250" b="0">
                <a:solidFill>
                  <a:srgbClr val="C9CFD8"/>
                </a:solidFill>
                <a:latin typeface="Segoe UI"/>
              </a:rPr>
              <a:t>40 000 ₸ бухгалтерии / 3 912 ₸ доп. маржи с прямой продажи ≈ 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Даёт: </a:t>
            </a:r>
            <a:r>
              <a:rPr sz="1250" b="0">
                <a:solidFill>
                  <a:srgbClr val="C9CFD8"/>
                </a:solidFill>
                <a:latin typeface="Segoe UI"/>
              </a:rPr>
              <a:t>прямой Kaspi Pay, полную цену продажи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Требует: </a:t>
            </a:r>
            <a:r>
              <a:rPr sz="1250" b="0">
                <a:solidFill>
                  <a:srgbClr val="C9CFD8"/>
                </a:solidFill>
                <a:latin typeface="Segoe UI"/>
              </a:rPr>
              <a:t>визит за ИИН и ЭЦП, ИКТ-доход ≥ 90%, взнос 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3 · СТРАТЕГИЯ ВЫХОДА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Поэтапный план с контрольными точками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651760" cy="4526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556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0 · Подготовка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ноя 2026 – янв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20 интеграторов → 3 встречи → 1 договор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Локализация, сервер в РК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Раздел /kz лендинга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443484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526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2CABDD"/>
                </a:solidFill>
                <a:latin typeface="Segoe UI"/>
              </a:rPr>
              <a:t>КОНТРОЛЬНАЯ ТОЧКА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80060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договор подписан; шаблоны вычитаны носителем; в РФ — 8 покупок 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600200"/>
            <a:ext cx="2651760" cy="4526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7556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1 · Пилот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фев – апр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5603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3 кафе в Алматы через партнёра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Pro бесплатно + 3 мес. AI+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Еженедельный созвон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443484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8" y="4526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2CABDD"/>
                </a:solidFill>
                <a:latin typeface="Segoe UI"/>
              </a:rPr>
              <a:t>КОНТРОЛЬНАЯ ТОЧКА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480060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≥ 2 из 3 табло обновляются еженедельно; NPS ≥ 8; 2 кейса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600200"/>
            <a:ext cx="2651760" cy="4526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BD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7556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BDD93"/>
                </a:solidFill>
                <a:latin typeface="Segoe UI Semibold"/>
              </a:rPr>
              <a:t>2 · Продажи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май 2027 – янв 2028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5603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Outreach 40 кафе в месяц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Продажи партнёра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HoReCa Expo 16–18.06.2027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443484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526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2CABDD"/>
                </a:solidFill>
                <a:latin typeface="Segoe UI"/>
              </a:rPr>
              <a:t>КОНТРОЛЬНАЯ ТОЧКА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80060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15 Pro, 3 AI+, CAC ≤ 4 497 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1600200"/>
            <a:ext cx="2651760" cy="45262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17556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3 · Закрепление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с 2028 года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256032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ТОО в Астане + Astana Hub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Kaspi Pay напрямую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150" b="0">
                <a:solidFill>
                  <a:srgbClr val="C9CFD8"/>
                </a:solidFill>
                <a:latin typeface="Segoe UI"/>
              </a:rPr>
              <a:t>Карагандинская обл. (1 275 точек)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443484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4526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2CABDD"/>
                </a:solidFill>
                <a:latin typeface="Segoe UI"/>
              </a:rPr>
              <a:t>КОНТРОЛЬНАЯ ТОЧКА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480060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доля прямых продаж ≥ 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3 ·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Первые 12 месяцев: выход в ноль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4846320" cy="2670048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23774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Продажа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645920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645920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075688"/>
            <a:ext cx="448056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Розничная цена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075688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13 490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75688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2 494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505456"/>
            <a:ext cx="448056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505456"/>
            <a:ext cx="23774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Комиссия партнёра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505456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4 047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05456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748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2935224"/>
            <a:ext cx="448056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2935224"/>
            <a:ext cx="23774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Поступает ИП (70%)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935224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9 443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935224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1 745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64991"/>
            <a:ext cx="4754880" cy="429768"/>
          </a:xfrm>
          <a:prstGeom prst="roundRect">
            <a:avLst>
              <a:gd name="adj" fmla="val 15000"/>
            </a:avLst>
          </a:prstGeom>
          <a:solidFill>
            <a:srgbClr val="123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364991"/>
            <a:ext cx="23774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После УСН 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3364991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364991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1 641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3794759"/>
            <a:ext cx="448056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3794759"/>
            <a:ext cx="23774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Для сравнения: Pro в РФ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3794759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794759"/>
            <a:ext cx="82295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2 349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43400"/>
            <a:ext cx="4846320" cy="17830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526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7A899F"/>
                </a:solidFill>
                <a:latin typeface="Segoe UI"/>
              </a:rPr>
              <a:t>ВОРОНКА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846320"/>
            <a:ext cx="4389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Outreach: </a:t>
            </a:r>
            <a:r>
              <a:rPr sz="1250" b="0">
                <a:solidFill>
                  <a:srgbClr val="C9CFD8"/>
                </a:solidFill>
                <a:latin typeface="Segoe UI"/>
              </a:rPr>
              <a:t>360 контактов → 36 ответов → 14 демо → 7 продаж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Партнёр: </a:t>
            </a:r>
            <a:r>
              <a:rPr sz="1250" b="0">
                <a:solidFill>
                  <a:srgbClr val="C9CFD8"/>
                </a:solidFill>
                <a:latin typeface="Segoe UI"/>
              </a:rPr>
              <a:t>1 продажа в месяц с июня 2027 → 8 продаж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2BDD93"/>
                </a:solidFill>
                <a:latin typeface="Segoe UI"/>
              </a:rPr>
              <a:t>▪  </a:t>
            </a:r>
            <a:r>
              <a:rPr sz="1250" b="0">
                <a:solidFill>
                  <a:srgbClr val="FFFFFF"/>
                </a:solidFill>
                <a:latin typeface="Segoe UI Semibold"/>
              </a:rPr>
              <a:t>AI+: </a:t>
            </a:r>
            <a:r>
              <a:rPr sz="1250" b="0">
                <a:solidFill>
                  <a:srgbClr val="C9CFD8"/>
                </a:solidFill>
                <a:latin typeface="Segoe UI"/>
              </a:rPr>
              <a:t>20% покупателей Pro → 11 подписко-месяцев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1600200"/>
            <a:ext cx="2880360" cy="13258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7647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DD93"/>
                </a:solidFill>
                <a:latin typeface="Segoe UI Semibold"/>
              </a:rPr>
              <a:t>28 210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35915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поступления за 12 мес. после УСН (15 Pro)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1600200"/>
            <a:ext cx="2880360" cy="13258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7647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DDA22C"/>
                </a:solidFill>
                <a:latin typeface="Segoe UI Semibold"/>
              </a:rPr>
              <a:t>−27 818 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35915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перевод 8 318 ₽ + сервер в РК 19 500 ₽ (13 мес.)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3063240"/>
            <a:ext cx="2880360" cy="13258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22783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DD93"/>
                </a:solidFill>
                <a:latin typeface="Segoe UI Semibold"/>
              </a:rPr>
              <a:t>+392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822191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результат за 12 месяцев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3063240"/>
            <a:ext cx="2880360" cy="13258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322783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CABDD"/>
                </a:solidFill>
                <a:latin typeface="Segoe UI Semibold"/>
              </a:rPr>
              <a:t>+2 763 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822191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в месяц к концу периода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4526280"/>
            <a:ext cx="5943600" cy="1627632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457200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Сценарий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572000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5720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 Semibold"/>
              </a:rPr>
              <a:t>Итог 12 мес.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52160" y="4956048"/>
            <a:ext cx="55778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852160" y="495604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−50% конверсия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956048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9560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−12 729 ₽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15000" y="5340096"/>
            <a:ext cx="5852160" cy="384048"/>
          </a:xfrm>
          <a:prstGeom prst="roundRect">
            <a:avLst>
              <a:gd name="adj" fmla="val 15000"/>
            </a:avLst>
          </a:prstGeom>
          <a:solidFill>
            <a:srgbClr val="123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534009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Базовый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340096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3400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2BDD93"/>
                </a:solidFill>
                <a:latin typeface="Segoe UI Semibold"/>
              </a:rPr>
              <a:t>+392 ₽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52160" y="5724144"/>
            <a:ext cx="55778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52160" y="57241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+50% конверсия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5724144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57241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FD8"/>
                </a:solidFill>
                <a:latin typeface="Segoe UI"/>
              </a:rPr>
              <a:t>+13 513 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ЗАДАНИЕ 3 · РИСКИ И ВЭД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Риски внешнеэкономической деятельности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0972800" cy="2944368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 Semibold"/>
              </a:rPr>
              <a:t>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645920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 Semibold"/>
              </a:rPr>
              <a:t>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645920"/>
            <a:ext cx="640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 Semibold"/>
              </a:rPr>
              <a:t>Вер.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64592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 Semibold"/>
              </a:rPr>
              <a:t>Влияние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7" y="1645920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 Semibold"/>
              </a:rPr>
              <a:t>Мера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2121408"/>
            <a:ext cx="106070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121408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121408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Банк задерживает рублёвый перевод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121408"/>
            <a:ext cx="640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121408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Высокое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7" y="2121408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2 банка в договоре, предоплата ключей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2596896"/>
            <a:ext cx="106070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2596896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596896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Зависимость от одного партнёра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596896"/>
            <a:ext cx="640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596896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Высокое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2596896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неэксклюзив, 2-й партнёр, свой outreach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3072384"/>
            <a:ext cx="106070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3072384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072384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Язык и персональные данные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072384"/>
            <a:ext cx="640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Низк.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3072384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Среднее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7" y="3072384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казахский по умолчанию, сервер в РК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3547872"/>
            <a:ext cx="106070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8" y="3547872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547872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Курс тенге к рублю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547872"/>
            <a:ext cx="640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547872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Среднее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7" y="3547872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пересмотр цен при ±10% от 5,41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9808" y="4023360"/>
            <a:ext cx="10607040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9808" y="402336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023360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Дорогое железо (Pi 5 ≈ 112 000 ₸)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7488" y="4023360"/>
            <a:ext cx="640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402336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Среднее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7" y="4023360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комплекты партнёра оптом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6177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CABDD"/>
                </a:solidFill>
                <a:latin typeface="Segoe UI"/>
              </a:rPr>
              <a:t>SWIFT, KASPI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512064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клиенты платят внутри РК; рубли — через банки с корсчетами в РФ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55848" y="46177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84448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CABDD"/>
                </a:solidFill>
                <a:latin typeface="Segoe UI"/>
              </a:rPr>
              <a:t>ВАЛЮТНЫЙ КОНТРОЛЬ РФ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2064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учёт контракта — от 10 млн ₽ (181-И); у нас около 30 тыс. ₽ в год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6177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CABDD"/>
                </a:solidFill>
                <a:latin typeface="Segoe UI"/>
              </a:rPr>
              <a:t>НДС ЗА НЕРЕЗИДЕНТА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512064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16% платит партнёр — закладывается в договор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33687" y="46177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62287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CABDD"/>
                </a:solidFill>
                <a:latin typeface="Segoe UI"/>
              </a:rPr>
              <a:t>САНКЦИИ И ЖЕЛЕЗО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7" y="512064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оборудование покупается в РК, экспортируется только .img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300">
                <a:solidFill>
                  <a:srgbClr val="7A899F"/>
                </a:solidFill>
                <a:latin typeface="Segoe UI"/>
              </a:rPr>
              <a:t>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Казахстан — первый зарубежный рынок PiConstruct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</a:t>
            </a:r>
            <a:r>
              <a:rPr sz="1000" b="0">
                <a:solidFill>
                  <a:srgbClr val="7A899F"/>
                </a:solidFill>
                <a:latin typeface="Segoe UI"/>
              </a:rPr>
              <a:t>  ·  ПЗ №13 · выход в Казахстан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РЫНОК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4884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CFD8"/>
                </a:solidFill>
                <a:latin typeface="Segoe UI"/>
              </a:rPr>
              <a:t>19 588 заведений, +17,5% за год, треть — в Алматы и Астане. SAM — 11 927 кафе и столовых, SOM первого года — 15 клиентов.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4592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АДАПТАЦИЯ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4884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CFD8"/>
                </a:solidFill>
                <a:latin typeface="Segoe UI"/>
              </a:rPr>
              <a:t>Казахский в шаблонах и шрифте, сервер в РК, ключи активации. Pro 13 490 ₸, AI+ 2 690 ₸/мес. 2GIS + WhatsApp, Instagram, выставки HoReCa.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64592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7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СТРАТЕГИЯ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214884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CFD8"/>
                </a:solidFill>
                <a:latin typeface="Segoe UI"/>
              </a:rPr>
              <a:t>Партнёр → ТОО + Astana Hub при 10 продажах в месяц. Четыре фазы с контрольными точками, выход в ноль за 12 месяцев, риски №10–14 в реестре.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2628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123024"/>
          </a:solidFill>
          <a:ln w="12700">
            <a:solidFill>
              <a:srgbClr val="2BD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91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2BDD93"/>
                </a:solidFill>
                <a:latin typeface="Segoe UI"/>
              </a:rPr>
              <a:t>БЛИЖАЙШИЙ ШАГ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До 31.01.2027: дилерский договор с интегратором в Алматы, двуязычные шаблоны и сервер в РК — затем пилот в трёх кафе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PiConstruct — ПЗ №13: выход на рынок Казахстана</dc:title>
  <dc:subject/>
  <dc:creator>Команда №1 · PiConstruct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