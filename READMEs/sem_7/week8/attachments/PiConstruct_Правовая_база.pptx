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ПРАКТИЧЕСКОЕ ЗАНЯТИЕ №16 · ЮРИДИЧЕСКИЕ АСПЕКТЫ СТАРТАПА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2588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Rubik"/>
              </a:rPr>
              <a:t>Правовая база PiConstruct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23160"/>
            <a:ext cx="10241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CFD8"/>
                </a:solidFill>
                <a:latin typeface="Rubik"/>
              </a:rPr>
              <a:t>Форма бизнеса, интеллектуальная собственность и договор между сооснователями —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CFD8"/>
                </a:solidFill>
                <a:latin typeface="Rubik"/>
              </a:rPr>
              <a:t>правовые решения для команды из пяти человек на пороге первых продаж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0332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3849624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2BDD93"/>
                </a:solidFill>
                <a:latin typeface="Rubik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5079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FD8"/>
                </a:solidFill>
                <a:latin typeface="Rubik"/>
              </a:rPr>
              <a:t>участников — доли и права пока не зафиксированы юридически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370332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3849624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BDD93"/>
                </a:solidFill>
                <a:latin typeface="Rubik"/>
              </a:rPr>
              <a:t>ИП, затем ООО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45079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FD8"/>
                </a:solidFill>
                <a:latin typeface="Rubik"/>
              </a:rPr>
              <a:t>двухэтапная модель: старт на ИП, ООО — по триггеру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370332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3849624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2BDD93"/>
                </a:solidFill>
                <a:latin typeface="Rubik"/>
              </a:rPr>
              <a:t>42 000 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45079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FD8"/>
                </a:solidFill>
                <a:latin typeface="Rubik"/>
              </a:rPr>
              <a:t>пошлины за товарный знак в 3 классах МКТУ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3688" y="370332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62288" y="3849624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2BDD93"/>
                </a:solidFill>
                <a:latin typeface="Rubik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45079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FD8"/>
                </a:solidFill>
                <a:latin typeface="Rubik"/>
              </a:rPr>
              <a:t>разделов прототипа партнёрского соглашения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669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899F"/>
                </a:solidFill>
                <a:latin typeface="Rubik"/>
              </a:rPr>
              <a:t>Команда №1: Савельев С. · Овчаренко К. · Валянский А. · Миняев Т. · Паркаев 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1 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1 · ПРАВОВАЯ СТРУКТУРА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Выбор формы: почему не сразу ООО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2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7269480" cy="3538727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992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Критерий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099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ИП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17099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ООО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8" y="2185416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9808" y="2203704"/>
            <a:ext cx="29260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Ответственность по долгам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03704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всем имуществом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2203704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в пределах вклада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9808" y="2743200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8" y="2770632"/>
            <a:ext cx="29260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Доли между 5 участниками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770632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нельзя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770632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по вкладу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3310128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3337560"/>
            <a:ext cx="29260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Инвестиции и опционы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337560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нет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3337560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да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9808" y="3877056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9808" y="3904487"/>
            <a:ext cx="29260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Права на ИС и знак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904487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на физлице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904487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на компанию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443983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471416"/>
            <a:ext cx="29260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Стоимость ведения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471416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57 390 ₽/год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4471416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от 5 000 ₽/мес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49808" y="5010912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29600" y="1600200"/>
            <a:ext cx="3383280" cy="3538728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1783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BDD93"/>
                </a:solidFill>
                <a:latin typeface="Rubik"/>
              </a:rPr>
              <a:t>РЕШЕНИЕ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2148840"/>
            <a:ext cx="29260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BDD93"/>
                </a:solidFill>
                <a:latin typeface="Rubik"/>
              </a:rPr>
              <a:t>•  </a:t>
            </a:r>
            <a:r>
              <a:rPr sz="1250">
                <a:solidFill>
                  <a:srgbClr val="2BDD93"/>
                </a:solidFill>
                <a:latin typeface="Rubik"/>
              </a:rPr>
              <a:t>АО избыточно для старта (форма для IPO и крупных раундов)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BDD93"/>
                </a:solidFill>
                <a:latin typeface="Rubik"/>
              </a:rPr>
              <a:t>•  </a:t>
            </a:r>
            <a:r>
              <a:rPr sz="1250">
                <a:solidFill>
                  <a:srgbClr val="2BDD93"/>
                </a:solidFill>
                <a:latin typeface="Rubik"/>
              </a:rPr>
              <a:t>ИП уже встроено в расчёты недели 7 — менять нечего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BDD93"/>
                </a:solidFill>
                <a:latin typeface="Rubik"/>
              </a:rPr>
              <a:t>•  </a:t>
            </a:r>
            <a:r>
              <a:rPr sz="1250">
                <a:solidFill>
                  <a:srgbClr val="2BDD93"/>
                </a:solidFill>
                <a:latin typeface="Rubik"/>
              </a:rPr>
              <a:t>ООО не создаёт ценности при выручке ≈ 0, но обязывает к отчётности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BDD93"/>
                </a:solidFill>
                <a:latin typeface="Rubik"/>
              </a:rPr>
              <a:t>•  </a:t>
            </a:r>
            <a:r>
              <a:rPr sz="1250">
                <a:solidFill>
                  <a:srgbClr val="2BDD93"/>
                </a:solidFill>
                <a:latin typeface="Rubik"/>
              </a:rPr>
              <a:t>Вывод: ИП сейчас, ООО — событийно, по триггеру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1 · 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От ИП к ООО — по триггеру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3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440680" cy="28803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83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ЭТАП 1 · СЕЙЧАС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05740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Rubik"/>
              </a:rPr>
              <a:t>ИП тимлида на УСН «доходы» 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56032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приём платежей РФ и от партнёра в Казахстане — из юнит-экономики недели 7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отчётность минимальна; главный расход — взносы 57 390 ₽/год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минус ИП (нет долей) компенсирует партнёрское соглашение — задание №3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0020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ЭТАП 2 · ПО ТРИГГЕРУ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574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Rubik"/>
              </a:rPr>
              <a:t>ООО: доли по вкладу, УК 10 000 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6032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управляющий — ИП тимлида; ключевые решения — 3/4 голосов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УСН «доходы» 6% — модель недель 7 и 14 не меняется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регистрация через МФЦ — пошлина 0 ₽, юрадрес — жильё участника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709160"/>
            <a:ext cx="11045952" cy="1051560"/>
          </a:xfrm>
          <a:prstGeom prst="roundRect">
            <a:avLst>
              <a:gd name="adj" fmla="val 4000"/>
            </a:avLst>
          </a:prstGeom>
          <a:solidFill>
            <a:srgbClr val="123024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8646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BDD93"/>
                </a:solidFill>
                <a:latin typeface="Rubik"/>
              </a:rPr>
              <a:t>ТРИГГЕР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828032"/>
            <a:ext cx="8321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C9CFD8"/>
                </a:solidFill>
                <a:latin typeface="Rubik"/>
              </a:rPr>
              <a:t>Выручка ≥ 30 000 ₽/мес три месяца подряд (~12 покупок Pro в месяц) — либо инвестор/грант, либо первый наём в штат.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C9CFD8"/>
                </a:solidFill>
                <a:latin typeface="Rubik"/>
              </a:rPr>
              <a:t>При такой выручке бухгалтерия (≈ 5 000 ₽/мес) — около 17% дохода; директор по трудовому договору (+≈ 15 000 ₽/мес) не нужен — управляет ИП.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1 · УПРАВЛЕНИЕ И ОТВЕТСТВЕННОСТЬ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Текущие — большинство, ключевые —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4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440680" cy="246888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830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BDD93"/>
                </a:solidFill>
                <a:latin typeface="Rubik"/>
              </a:rPr>
              <a:t>БОЛЬШИНСТВО ГОЛОСОВ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148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операционный бюджет до 500 000 ₽/квартал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цены в рамках стратегии, найм исполнителей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голоса — пропорционально долям (ст. 32 ФЗ «Об ООО»)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349240" cy="246888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BDD93"/>
                </a:solidFill>
                <a:latin typeface="Rubik"/>
              </a:rPr>
              <a:t>НЕ МЕНЕЕ 3/4 ГОЛОСОВ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приём и выход участников, продажа долей вовне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финансирование с размыванием; ликвидация — единогласно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сделки свыше 500 000 ₽, смена продуктового направления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251960"/>
            <a:ext cx="5440680" cy="178308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434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A899F"/>
                </a:solidFill>
                <a:latin typeface="Rubik"/>
              </a:rPr>
              <a:t>ОТВЕТСТВЕННОСТЬ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4773168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C9CFD8"/>
                </a:solidFill>
                <a:latin typeface="Rubik"/>
              </a:rPr>
              <a:t>•  </a:t>
            </a:r>
            <a:r>
              <a:rPr sz="1150">
                <a:solidFill>
                  <a:srgbClr val="C9CFD8"/>
                </a:solidFill>
                <a:latin typeface="Rubik"/>
              </a:rPr>
              <a:t>ИП (сейчас) — всем личным имуществом: этап короткий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C9CFD8"/>
                </a:solidFill>
                <a:latin typeface="Rubik"/>
              </a:rPr>
              <a:t>•  </a:t>
            </a:r>
            <a:r>
              <a:rPr sz="1150">
                <a:solidFill>
                  <a:srgbClr val="C9CFD8"/>
                </a:solidFill>
                <a:latin typeface="Rubik"/>
              </a:rPr>
              <a:t>ООО — в пределах вкладов; управляющий — субсидиарная при виновном банкротстве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251960"/>
            <a:ext cx="5349240" cy="1783080"/>
          </a:xfrm>
          <a:prstGeom prst="roundRect">
            <a:avLst>
              <a:gd name="adj" fmla="val 4000"/>
            </a:avLst>
          </a:prstGeom>
          <a:solidFill>
            <a:srgbClr val="1E2027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CABDD"/>
                </a:solidFill>
                <a:latin typeface="Rubik"/>
              </a:rPr>
              <a:t>ВЕСТИНГ ДОЛЕЙ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Rubik"/>
              </a:rPr>
              <a:t>4 года · клифф 12 месяцев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193792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FD8"/>
                </a:solidFill>
                <a:latin typeface="Rubik"/>
              </a:rPr>
              <a:t>далее — по 1/48 доли в месяц; при выходе раньше невестированная часть возвращается команде (механика — слайд 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2 · ИНТЕЛЛЕКТУАЛЬНАЯ СОБСТВЕННОСТЬ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Карта активов: что и чем защищаем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5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11045952" cy="397764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99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Актив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70992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Режим охраны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7099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Действие команды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8" y="2167128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9808" y="218541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Код конструктора, сервера, сборщика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185416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авторское право — автоматически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18541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5 договоров отчуждения на ИП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9808" y="2706624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8" y="273405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Дизайн-система и логотип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734056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авторское право + товарный знак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73405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заявка на знак после регистрации ООО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3255264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328269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Образ .img на базе FullPageOS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282696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GPL-3.0 (copyleft)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28269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исходники GPL-пакетов и наши изменения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9808" y="3803903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9808" y="3831335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Бренд: имя, домены,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831335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товарный знак, МКТУ 09/42/35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831335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piconstruct.ru — регистрировать сразу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352543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37997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Персональные данные (лендинг)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379976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ФЗ-152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437997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уведомление РКН — сразу после ИП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49808" y="4901183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9808" y="492861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Контент клиентов (меню)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928616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права клиента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92861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пользовательское соглашение (оферта)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9808" y="5449824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2 · ПЛАН ЗАЩИТЫ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Дорожная карта юридического оформления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6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2651760" cy="3017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83080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Rubik"/>
              </a:rPr>
              <a:t>Ноябрь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77440"/>
            <a:ext cx="22860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ИП, уведомление РКН, домен .ru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соглашение + 5 договоров отчуждения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NDA для переговоров с партнёром (фаза 0 недели 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600200"/>
            <a:ext cx="2651760" cy="3017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2736" y="1783080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Rubik"/>
              </a:rPr>
              <a:t>До онлайн-платежей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2736" y="2377440"/>
            <a:ext cx="22860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пользовательское соглашение (оферта)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условия хранения меню клиентов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публикация оферты на лендинге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600200"/>
            <a:ext cx="2651760" cy="3017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783080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Rubik"/>
              </a:rPr>
              <a:t>Регистрация ООО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377440"/>
            <a:ext cx="22860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переоформление ИС с ИП на ООО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устав + корпоративный договор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пошлина 0 ₽ через МФЦ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1600200"/>
            <a:ext cx="2651760" cy="3017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783080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Rubik"/>
              </a:rPr>
              <a:t>+1–⁠2 месяца · знак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2016" y="2377440"/>
            <a:ext cx="22860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проверка ФИПС и TMview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заявка: 3 класса МКТУ — 42 000 ₽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свидетельство — от 8 до 18 месяцев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46320"/>
            <a:ext cx="11045952" cy="914400"/>
          </a:xfrm>
          <a:prstGeom prst="roundRect">
            <a:avLst>
              <a:gd name="adj" fmla="val 4000"/>
            </a:avLst>
          </a:prstGeom>
          <a:solidFill>
            <a:srgbClr val="123024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9834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BDD93"/>
                </a:solidFill>
                <a:latin typeface="Rubik"/>
              </a:rPr>
              <a:t>ПРАВИЛО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965192"/>
            <a:ext cx="8321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C9CFD8"/>
                </a:solidFill>
                <a:latin typeface="Rubik"/>
              </a:rPr>
              <a:t>Все исключительные права — у компании, не у физлиц: участники — договоры отчуждения (ст. 1234 ГК РФ), сотрудники — служебные произведения (ст. 1295), подрядчики — условие в договоре подряда.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3 · ТИПОВОЙ ДОГОВОР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Партнёрское соглашение: главный риск закрыт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7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440680" cy="4160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830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BDD93"/>
                </a:solidFill>
                <a:latin typeface="Rubik"/>
              </a:rPr>
              <a:t>ПОЧЕМУ ИМЕННО ОНО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148840"/>
            <a:ext cx="493776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BDD93"/>
                </a:solidFill>
                <a:latin typeface="Rubik"/>
              </a:rPr>
              <a:t>•  </a:t>
            </a:r>
            <a:r>
              <a:rPr sz="1200">
                <a:solidFill>
                  <a:srgbClr val="2BDD93"/>
                </a:solidFill>
                <a:latin typeface="Rubik"/>
              </a:rPr>
              <a:t>доли, роли и правила выхода не зафиксированы нигде — а продукт уже продаётся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BDD93"/>
                </a:solidFill>
                <a:latin typeface="Rubik"/>
              </a:rPr>
              <a:t>•  </a:t>
            </a:r>
            <a:r>
              <a:rPr sz="1200">
                <a:solidFill>
                  <a:srgbClr val="2BDD93"/>
                </a:solidFill>
                <a:latin typeface="Rubik"/>
              </a:rPr>
              <a:t>бизнес на одном ИП при продукте, созданном пятью: без соглашения код остаётся у авторов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BDD93"/>
                </a:solidFill>
                <a:latin typeface="Rubik"/>
              </a:rPr>
              <a:t>•  </a:t>
            </a:r>
            <a:r>
              <a:rPr sz="1200">
                <a:solidFill>
                  <a:srgbClr val="2BDD93"/>
                </a:solidFill>
                <a:latin typeface="Rubik"/>
              </a:rPr>
              <a:t>до ООО — непоименованный договор (ст. 421 ГК РФ), после — переносится в устав и корпоративный договор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BDD93"/>
                </a:solidFill>
                <a:latin typeface="Rubik"/>
              </a:rPr>
              <a:t>•  </a:t>
            </a:r>
            <a:r>
              <a:rPr sz="1200">
                <a:solidFill>
                  <a:srgbClr val="2BDD93"/>
                </a:solidFill>
                <a:latin typeface="Rubik"/>
              </a:rPr>
              <a:t>прототип — 11 разделов, готов к проверке юристом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BDD93"/>
                </a:solidFill>
                <a:latin typeface="Rubik"/>
              </a:rPr>
              <a:t>СТРУКТУРА ПРОТОТИПА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8463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1. Стороны и предмет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2. Вклады и доли — по вкладу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3. Роли и ответственность (RACI недели 14)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4. Вестинг — 4 года, клифф 12 мес.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5. Принятие решений — большинство и 3/4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6. Конкуренция и конфиденциальность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7. Интеллектуальная собственность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8. Выход и выкуп доли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9. Прибыль и расходы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10. Разрешение споров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11. Перенос в устав и корпоративный договор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3 · КЛЮЧЕВЫЕ ПОЛОЖЕНИЯ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Доли, решения, выход: пять опор соглашения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8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2084831" cy="31089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783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DD93"/>
                </a:solidFill>
                <a:latin typeface="Rubik"/>
              </a:rPr>
              <a:t>Доли + вестинг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1783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FD8"/>
                </a:solidFill>
                <a:latin typeface="Rubik"/>
              </a:rPr>
              <a:t>доли по вкладу; закрепление — 4 года с клиффом 12 месяцев: уходит раньше — доля возвращается команде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8064" y="1600200"/>
            <a:ext cx="2084831" cy="31089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2656" y="1783080"/>
            <a:ext cx="1783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DD93"/>
                </a:solidFill>
                <a:latin typeface="Rubik"/>
              </a:rPr>
              <a:t>Голосование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2656" y="2606040"/>
            <a:ext cx="1783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FD8"/>
                </a:solidFill>
                <a:latin typeface="Rubik"/>
              </a:rPr>
              <a:t>текущие — большинством голосов; ключевые (продажа долей, размывание, сделки &gt; 500 000 ₽) — не менее 3/4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600200"/>
            <a:ext cx="2084831" cy="31089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1783080"/>
            <a:ext cx="1783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DD93"/>
                </a:solidFill>
                <a:latin typeface="Rubik"/>
              </a:rPr>
              <a:t>ИС — компании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2606040"/>
            <a:ext cx="1783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FD8"/>
                </a:solidFill>
                <a:latin typeface="Rubik"/>
              </a:rPr>
              <a:t>всё созданное в проекте отчуждается по ст. 1234 ГК РФ; авторство остаётся за участниками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0336" y="1600200"/>
            <a:ext cx="2084831" cy="31089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4928" y="1783080"/>
            <a:ext cx="1783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DD93"/>
                </a:solidFill>
                <a:latin typeface="Rubik"/>
              </a:rPr>
              <a:t>Выход через ROFR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606040"/>
            <a:ext cx="1783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FD8"/>
                </a:solidFill>
                <a:latin typeface="Rubik"/>
              </a:rPr>
              <a:t>вестированная доля — по оценке с преимуществом для сооснователей; невестированная — по номиналу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1472" y="1600200"/>
            <a:ext cx="2084831" cy="31089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6063" y="1783080"/>
            <a:ext cx="1783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DD93"/>
                </a:solidFill>
                <a:latin typeface="Rubik"/>
              </a:rPr>
              <a:t>Неконкуренция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3" y="2606040"/>
            <a:ext cx="1783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FD8"/>
                </a:solidFill>
                <a:latin typeface="Rubik"/>
              </a:rPr>
              <a:t>запрет конкурирующих проектов в нише digital signage — на время участия; после выхода — конфиденциальность 3 года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3480"/>
            <a:ext cx="11045952" cy="868680"/>
          </a:xfrm>
          <a:prstGeom prst="roundRect">
            <a:avLst>
              <a:gd name="adj" fmla="val 4000"/>
            </a:avLst>
          </a:prstGeom>
          <a:solidFill>
            <a:srgbClr val="1E2027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51389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CABDD"/>
                </a:solidFill>
                <a:latin typeface="Rubik"/>
              </a:rPr>
              <a:t>МЕХАНИКА В РФ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102352"/>
            <a:ext cx="7498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C9CFD8"/>
                </a:solidFill>
                <a:latin typeface="Rubik"/>
              </a:rPr>
              <a:t>«Автоматического» вестинга в российском праве нет: обязательство продать долю закрепляют корпоративным договором и опционами (ст. 429.2 ГК РФ), сами сделки с долями — нотариальные (ст. 21 ФЗ «Об ООО»).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ОБСУЖДЕНИЕ · ТИПИЧНЫЕ ОШИБКИ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Ошибки стартапов и наша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9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11045952" cy="4105656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9928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Типичная ошибка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709928"/>
            <a:ext cx="6903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Как закрыто у нас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185416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203704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Бизнес на одном ИП, продукт создан командой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203704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партнёрское соглашение + 5 договоров отчуждения до внешних переговоров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9808" y="2743200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2770632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Доли поровну и без вестинга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70632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доли по вкладу + вестинг 4 года (разделы 2 и 4)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" y="3310128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8" y="3337560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Знак не проверен до подачи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337560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базы ФИПС и TMview + домен piconstruct.ru до заявки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3877056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3904487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GPL-образ без исходников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904487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исходники GPL-пакетов, страница «Открытый код»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9808" y="4443983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9808" y="4471416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Данные без уведомления РКН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471416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уведомление РКН сразу после регистрации ИП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9808" y="5010912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5038344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Устные договорённости с подрядчиками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038344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подряд с отчуждением прав (переводчик недели 7)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9808" y="5577840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ВЫВОД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Правовой каркас готов до первых продаж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10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29584" cy="32461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830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BDD93"/>
                </a:solidFill>
                <a:latin typeface="Rubik"/>
              </a:rPr>
              <a:t>МОДЕЛЬ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31720"/>
            <a:ext cx="3063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ИП на УСН 6% — уже в модели недели 7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ООО по триггеру: 30 000 ₽/мес × 3, инвестор или наём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доли по вкладу, УК 10 000 ₽, управляющий — ИП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через МФЦ — 0 ₽ пошлин; взносы ИП 57 390 ₽/год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1600200"/>
            <a:ext cx="3529584" cy="32461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7830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BDD93"/>
                </a:solidFill>
                <a:latin typeface="Rubik"/>
              </a:rPr>
              <a:t>ИНТЕЛЛЕКТУАЛЬНАЯ СОБСТВЕННОСТЬ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331720"/>
            <a:ext cx="3063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7 документов: от отчуждения прав до оферты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знак «PiConstruct»: 8–⁠18 мес. и 42 000 ₽ пошлин в 3 классах МКТУ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piconstruct.ru свободен — регистрируем сразу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GPL-исходники образа публикуем; ФЗ-152 — уведомление РКН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91855" y="1600200"/>
            <a:ext cx="3529584" cy="32461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5" y="17830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BDD93"/>
                </a:solidFill>
                <a:latin typeface="Rubik"/>
              </a:rPr>
              <a:t>ДОГОВОР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5" y="2331720"/>
            <a:ext cx="3063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партнёрское соглашение: 11 разделов, прототип готов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доли по вкладу + вестинг 4 года / клифф 12 мес.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выход через ROFR, неконкуренция — на время участия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после ООО — устав и корпоративный договор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74920"/>
            <a:ext cx="11045952" cy="777240"/>
          </a:xfrm>
          <a:prstGeom prst="roundRect">
            <a:avLst>
              <a:gd name="adj" fmla="val 4000"/>
            </a:avLst>
          </a:prstGeom>
          <a:solidFill>
            <a:srgbClr val="123024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52120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BDD93"/>
                </a:solidFill>
                <a:latin typeface="Rubik"/>
              </a:rPr>
              <a:t>СВЯЗКА С ПЛАНОМ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175504"/>
            <a:ext cx="74980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C9CFD8"/>
                </a:solidFill>
                <a:latin typeface="Rubik"/>
              </a:rPr>
              <a:t>Уже сделано: политика ПДн и cookie-согласие (неделя 2–⁠3), схема ИП в расчётах (неделя 7). Дальше: NDA с казахстанским партнёром — ноябрь 2026, фаза 0 недели 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