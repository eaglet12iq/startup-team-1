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ПРАКТИЧЕСКОЕ ЗАНЯТИЕ №16 · ЮРИДИЧЕСКИЕ АСПЕКТЫ СТАРТАПА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325880"/>
            <a:ext cx="108813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0">
                <a:solidFill>
                  <a:srgbClr val="FFFFFF"/>
                </a:solidFill>
                <a:latin typeface="Segoe UI Semibold"/>
              </a:rPr>
              <a:t>Правовая база PiConstruct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423160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C9CFD8"/>
                </a:solidFill>
                <a:latin typeface="Segoe UI"/>
              </a:rPr>
              <a:t>Форма бизнеса, интеллектуальная собственность и договор между сооснователями —</a:t>
            </a:r>
          </a:p>
          <a:p>
            <a:pPr algn="l">
              <a:lnSpc>
                <a:spcPct val="115000"/>
              </a:lnSpc>
            </a:pPr>
            <a:r>
              <a:rPr sz="1700" b="0">
                <a:solidFill>
                  <a:srgbClr val="C9CFD8"/>
                </a:solidFill>
                <a:latin typeface="Segoe UI"/>
              </a:rPr>
              <a:t>правовые решения для команды из пяти человек на пороге первых продаж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0332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3849624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2BDD93"/>
                </a:solidFill>
                <a:latin typeface="Segoe UI Semibold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450799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участников — доли и права пока не зафиксированы юридически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370332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8" y="3849624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2BDD93"/>
                </a:solidFill>
                <a:latin typeface="Segoe UI Semibold"/>
              </a:rPr>
              <a:t>ИП → ООО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450799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двухэтапная модель: старт на ИП, ООО — по триггеру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4768" y="370332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3849624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2BDD93"/>
                </a:solidFill>
                <a:latin typeface="Segoe UI Semibold"/>
              </a:rPr>
              <a:t>42 000 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450799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пошлины за товарный знак в 3 классах МКТУ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3688" y="3703320"/>
            <a:ext cx="2606040" cy="15087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62288" y="3849624"/>
            <a:ext cx="21488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>
                <a:solidFill>
                  <a:srgbClr val="2BDD93"/>
                </a:solidFill>
                <a:latin typeface="Segoe UI Semibold"/>
              </a:rPr>
              <a:t>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2288" y="450799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разделов прототипа партнёрского соглашения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7A899F"/>
                </a:solidFill>
                <a:latin typeface="Segoe UI"/>
              </a:rPr>
              <a:t>Команда №1: Савельев С. · Овчаренко К. · Валянский А. · Миняев Т. · Паркаев 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1 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ЗАДАНИЕ 1 · ПРАВОВАЯ СТРУКТУРА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Выбор формы: почему не сразу ООО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2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7269480" cy="3538727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992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Критерий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0992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ИП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40680" y="1709928"/>
            <a:ext cx="1645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ООО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185416"/>
            <a:ext cx="63367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203704"/>
            <a:ext cx="29260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Ответственность по долгам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203704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всем имуществом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2203704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в пределах вклада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743200"/>
            <a:ext cx="63367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2770632"/>
            <a:ext cx="29260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Доли между 5 участниками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770632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нельзя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2770632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20% × 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310128"/>
            <a:ext cx="63367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3337560"/>
            <a:ext cx="29260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Инвестиции и опционы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3337560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нет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3337560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да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877056"/>
            <a:ext cx="63367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3904487"/>
            <a:ext cx="29260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Права на ИС и знак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904487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на физлице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3904487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на компанию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4443983"/>
            <a:ext cx="63367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" y="4471416"/>
            <a:ext cx="292608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Стоимость ведения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4471416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≈ 0 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4471416"/>
            <a:ext cx="16459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от 5 000 ₽/мес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5010912"/>
            <a:ext cx="63367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229600" y="1600200"/>
            <a:ext cx="3383280" cy="3538728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58200" y="17830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"/>
              </a:rPr>
              <a:t>РЕШЕНИЕ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148840"/>
            <a:ext cx="292608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BDD93"/>
                </a:solidFill>
                <a:latin typeface="Segoe UI"/>
              </a:rPr>
              <a:t>▪  </a:t>
            </a:r>
            <a:r>
              <a:rPr sz="1250">
                <a:solidFill>
                  <a:srgbClr val="2BDD93"/>
                </a:solidFill>
                <a:latin typeface="Segoe UI"/>
              </a:rPr>
              <a:t>АО избыточно для старта (форма для IPO и крупных раундов)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BDD93"/>
                </a:solidFill>
                <a:latin typeface="Segoe UI"/>
              </a:rPr>
              <a:t>▪  </a:t>
            </a:r>
            <a:r>
              <a:rPr sz="1250">
                <a:solidFill>
                  <a:srgbClr val="2BDD93"/>
                </a:solidFill>
                <a:latin typeface="Segoe UI"/>
              </a:rPr>
              <a:t>ИП уже встроено в расчёты недели 7 — менять нечего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BDD93"/>
                </a:solidFill>
                <a:latin typeface="Segoe UI"/>
              </a:rPr>
              <a:t>▪  </a:t>
            </a:r>
            <a:r>
              <a:rPr sz="1250">
                <a:solidFill>
                  <a:srgbClr val="2BDD93"/>
                </a:solidFill>
                <a:latin typeface="Segoe UI"/>
              </a:rPr>
              <a:t>ООО не создаёт ценности при выручке ≈ 0, но обязывает к отчётности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50">
                <a:solidFill>
                  <a:srgbClr val="2BDD93"/>
                </a:solidFill>
                <a:latin typeface="Segoe UI"/>
              </a:rPr>
              <a:t>▪  </a:t>
            </a:r>
            <a:r>
              <a:rPr sz="1250">
                <a:solidFill>
                  <a:srgbClr val="2BDD93"/>
                </a:solidFill>
                <a:latin typeface="Segoe UI"/>
              </a:rPr>
              <a:t>Вывод: ИП сейчас, ООО — событийно, по триггеру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ЗАДАНИЕ 1 · 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ИП сейчас → ООО по триггеру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3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440680" cy="28803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ЭТАП 1 · СЕЙЧАС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057400"/>
            <a:ext cx="49377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ИП тимлида на УСН «доходы» 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56032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приём платежей РФ и от партнёра в Казахстане — из юнит-экономики недели 7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отчётность минимальна, регистрация электронно — без пошлины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минус ИП (нет долей) компенсирует партнёрское соглашение — задание №3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49240" cy="28803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78308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ЭТАП 2 · ПО ТРИГГЕРУ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05740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FFFFFF"/>
                </a:solidFill>
                <a:latin typeface="Segoe UI Semibold"/>
              </a:rPr>
              <a:t>ООО: доли 20% × 5, УК 50 000 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56032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генеральный директор — тимлид; решения большинством 3 из 5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УСН «доходы» 6% — модель недель 7 и 14 не меняется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регистрация через сервис ФНС электронно — пошлина 0 ₽ (ст. 333.35 НК РФ)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709160"/>
            <a:ext cx="11045952" cy="1051560"/>
          </a:xfrm>
          <a:prstGeom prst="roundRect">
            <a:avLst>
              <a:gd name="adj" fmla="val 4000"/>
            </a:avLst>
          </a:prstGeom>
          <a:solidFill>
            <a:srgbClr val="123024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86460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BDD93"/>
                </a:solidFill>
                <a:latin typeface="Segoe UI"/>
              </a:rPr>
              <a:t>ТРИГГЕР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4828032"/>
            <a:ext cx="8321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Выручка ≥ 30 000 ₽/мес три месяца подряд (~12 покупок Pro в месяц) — либо инвестор/грант, либо первый наём в штат.</a:t>
            </a:r>
          </a:p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При такой выручке бухгалтерия (≈ 5 000 ₽/мес) ≤ 17% дохода, а 90 000 ₽ за три месяца покрывают сопровождение и половину пошлин знака.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ЗАДАНИЕ 1 · УПРАВЛЕНИЕ И ОТВЕТСТВЕННОСТЬ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3 из 5 по текущим вопросам, единогласно — по ключевым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4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440680" cy="246888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BDD93"/>
                </a:solidFill>
                <a:latin typeface="Segoe UI"/>
              </a:rPr>
              <a:t>БОЛЬШИНСТВО · 3 ИЗ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48840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операционный бюджет до 500 000 ₽/квартал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цены в рамках стратегии, найм исполнителей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пять голосов — нечётное число: тупик невозможен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349240" cy="246888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BDD93"/>
                </a:solidFill>
                <a:latin typeface="Segoe UI"/>
              </a:rPr>
              <a:t>ЕДИНОГЛАСНО · 5 ИЗ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8463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приём и выход участников, продажа долей вовне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ликвидация, финансирование с размыванием долей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2BDD93"/>
                </a:solidFill>
                <a:latin typeface="Segoe UI"/>
              </a:rPr>
              <a:t>▪  </a:t>
            </a:r>
            <a:r>
              <a:rPr sz="1150">
                <a:solidFill>
                  <a:srgbClr val="2BDD93"/>
                </a:solidFill>
                <a:latin typeface="Segoe UI"/>
              </a:rPr>
              <a:t>сделки свыше 500 000 ₽, смена продуктового направления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4251960"/>
            <a:ext cx="5440680" cy="178308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443484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7A899F"/>
                </a:solidFill>
                <a:latin typeface="Segoe UI"/>
              </a:rPr>
              <a:t>ОТВЕТСТВЕННОСТЬ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773168"/>
            <a:ext cx="49377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C9CFD8"/>
                </a:solidFill>
                <a:latin typeface="Segoe UI"/>
              </a:rPr>
              <a:t>▪  </a:t>
            </a:r>
            <a:r>
              <a:rPr sz="1150">
                <a:solidFill>
                  <a:srgbClr val="C9CFD8"/>
                </a:solidFill>
                <a:latin typeface="Segoe UI"/>
              </a:rPr>
              <a:t>ИП (сейчас) — всем личным имуществом: этап короткий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>
                <a:solidFill>
                  <a:srgbClr val="C9CFD8"/>
                </a:solidFill>
                <a:latin typeface="Segoe UI"/>
              </a:rPr>
              <a:t>▪  </a:t>
            </a:r>
            <a:r>
              <a:rPr sz="1150">
                <a:solidFill>
                  <a:srgbClr val="C9CFD8"/>
                </a:solidFill>
                <a:latin typeface="Segoe UI"/>
              </a:rPr>
              <a:t>ООО — в пределах вкладов; гендиректор — субсидиарная при виновном банкротстве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251960"/>
            <a:ext cx="5349240" cy="1783080"/>
          </a:xfrm>
          <a:prstGeom prst="roundRect">
            <a:avLst>
              <a:gd name="adj" fmla="val 4000"/>
            </a:avLst>
          </a:prstGeom>
          <a:solidFill>
            <a:srgbClr val="1E2027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43484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CABDD"/>
                </a:solidFill>
                <a:latin typeface="Segoe UI"/>
              </a:rPr>
              <a:t>ВЕСТИНГ ДОЛЕЙ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754880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Segoe UI Semibold"/>
              </a:rPr>
              <a:t>4 года · клифф 12 месяцев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5193792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9CFD8"/>
                </a:solidFill>
                <a:latin typeface="Segoe UI"/>
              </a:rPr>
              <a:t>далее — по 1/48 доли в месяц; при выходе раньше невестированная часть возвращается команде (механика — слайд 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ЗАДАНИЕ 2 · ИНТЕЛЛЕКТУАЛЬНАЯ СОБСТВЕННОСТЬ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Карта активов: что и чем защищаем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5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1045952" cy="397764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992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Актив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1709928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Режим охраны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70992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Действие команды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9808" y="2167128"/>
            <a:ext cx="106801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9808" y="218541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Код конструктора, сервера, сборщика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85416"/>
            <a:ext cx="3291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авторское право — автоматически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8541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5 договоров отчуждения на ИП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9808" y="2706624"/>
            <a:ext cx="106801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49808" y="273405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Дизайн-система и логотип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2734056"/>
            <a:ext cx="3291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авторское право + товарный знак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73405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заявка на знак после регистрации ООО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255264"/>
            <a:ext cx="106801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328269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Образ .img на базе FullPageOS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3282696"/>
            <a:ext cx="3291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GPL-3.0 (copyleft)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28269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публиковать исходники сборки образа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49808" y="3803903"/>
            <a:ext cx="106801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49808" y="3831335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Бренд: имя, домены, канал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3831335"/>
            <a:ext cx="3291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товарный знак, МКТУ 09/42/35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831335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piconstruct.ru свободен — регистрировать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9808" y="4352543"/>
            <a:ext cx="106801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49808" y="437997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Персональные данные (лендинг)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4379976"/>
            <a:ext cx="3291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ФЗ-152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7997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уведомление РКН, реквизиты оператора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49808" y="4901183"/>
            <a:ext cx="106801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49808" y="492861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Контент клиентов (меню)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928616"/>
            <a:ext cx="329184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права клиента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928616"/>
            <a:ext cx="35661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пользовательское соглашение (оферта)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9808" y="5449824"/>
            <a:ext cx="10680192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ЗАДАНИЕ 2 · ПЛАН ЗАЩИТЫ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Дорожная карта юридического оформления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6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651760" cy="30175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178308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Ноябрь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3774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партнёрское соглашение — 0 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5 договоров отчуждения прав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NDA для переговоров с партнёром (фаза 0 недели 7)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01568" y="1600200"/>
            <a:ext cx="2651760" cy="30175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2736" y="178308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До онлайн-платежей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3774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уведомление Роскомнадзора — 0 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реквизиты оператора в политике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пользовательское соглашение на лендинг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00200"/>
            <a:ext cx="2651760" cy="30175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78308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Регистрация ООО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3774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переоформление ИС с ИП на ООО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устав + корпоративный договор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пошлина 0 ₽ при подаче электронно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70848" y="1600200"/>
            <a:ext cx="2651760" cy="30175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72016" y="1783080"/>
            <a:ext cx="2286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FFFFFF"/>
                </a:solidFill>
                <a:latin typeface="Segoe UI Semibold"/>
              </a:rPr>
              <a:t>+1–⁠2 месяца · знак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72016" y="2377440"/>
            <a:ext cx="22860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проверка ФИПС и TMview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заявка: 3 класса МКТУ — 42 000 ₽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свидетельство через 8–⁠12 месяцев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46320"/>
            <a:ext cx="11045952" cy="914400"/>
          </a:xfrm>
          <a:prstGeom prst="roundRect">
            <a:avLst>
              <a:gd name="adj" fmla="val 4000"/>
            </a:avLst>
          </a:prstGeom>
          <a:solidFill>
            <a:srgbClr val="123024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9834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BDD93"/>
                </a:solidFill>
                <a:latin typeface="Segoe UI"/>
              </a:rPr>
              <a:t>ПРАВИЛО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65192"/>
            <a:ext cx="8321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Все исключительные права — у компании, не у физлиц: участники — договоры отчуждения (ст. 1234 ГК РФ), сотрудники — служебные произведения (ст. 1295), подрядчики — условие в договоре подряда.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ЗАДАНИЕ 3 · ТИПОВОЙ ДОГОВОР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Партнёрское соглашение: главный риск закрыт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7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5440680" cy="41605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"/>
              </a:rPr>
              <a:t>ПОЧЕМУ ИМЕННО ОНО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148840"/>
            <a:ext cx="49377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BDD93"/>
                </a:solidFill>
                <a:latin typeface="Segoe UI"/>
              </a:rPr>
              <a:t>▪  </a:t>
            </a:r>
            <a:r>
              <a:rPr sz="1200">
                <a:solidFill>
                  <a:srgbClr val="2BDD93"/>
                </a:solidFill>
                <a:latin typeface="Segoe UI"/>
              </a:rPr>
              <a:t>доли, роли и правила выхода не зафиксированы нигде — а продукт уже продаётся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BDD93"/>
                </a:solidFill>
                <a:latin typeface="Segoe UI"/>
              </a:rPr>
              <a:t>▪  </a:t>
            </a:r>
            <a:r>
              <a:rPr sz="1200">
                <a:solidFill>
                  <a:srgbClr val="2BDD93"/>
                </a:solidFill>
                <a:latin typeface="Segoe UI"/>
              </a:rPr>
              <a:t>бизнес на одном ИП при продукте, созданном пятью: без соглашения код остаётся у авторов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BDD93"/>
                </a:solidFill>
                <a:latin typeface="Segoe UI"/>
              </a:rPr>
              <a:t>▪  </a:t>
            </a:r>
            <a:r>
              <a:rPr sz="1200">
                <a:solidFill>
                  <a:srgbClr val="2BDD93"/>
                </a:solidFill>
                <a:latin typeface="Segoe UI"/>
              </a:rPr>
              <a:t>до ООО действует как простое товарищество (ст. 1041 ГК РФ), после — переносится в устав и корпоративный договор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200">
                <a:solidFill>
                  <a:srgbClr val="2BDD93"/>
                </a:solidFill>
                <a:latin typeface="Segoe UI"/>
              </a:rPr>
              <a:t>▪  </a:t>
            </a:r>
            <a:r>
              <a:rPr sz="1200">
                <a:solidFill>
                  <a:srgbClr val="2BDD93"/>
                </a:solidFill>
                <a:latin typeface="Segoe UI"/>
              </a:rPr>
              <a:t>прототип — 11 разделов, готов к проверке юристом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5349240" cy="41605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"/>
              </a:rPr>
              <a:t>СТРУКТУРА ПРОТОТИПА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8463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1. Стороны и предмет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2. Вклады и доли — по 20%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3. Роли и ответственность (RACI недели 14)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4. Вестинг — 4 года, клифф 12 мес.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5. Принятие решений — 3/5 и единогласно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6. Конкуренция и конфиденциальность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7. Интеллектуальная собственность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8. Выход и выкуп доли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9. Прибыль и расходы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10. Разрешение споров</a:t>
            </a:r>
          </a:p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C9CFD8"/>
                </a:solidFill>
                <a:latin typeface="Segoe UI"/>
              </a:rPr>
              <a:t>11. Перенос в устав и корпоративный договор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ЗАДАНИЕ 3 · КЛЮЧЕВЫЕ ПОЛОЖЕНИЯ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Доли, решения, выход: пять опор соглашения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8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2084831" cy="31089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DD93"/>
                </a:solidFill>
                <a:latin typeface="Segoe UI Semibold"/>
              </a:rPr>
              <a:t>20% × 5 + вестинг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1783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FD8"/>
                </a:solidFill>
                <a:latin typeface="Segoe UI"/>
              </a:rPr>
              <a:t>равные доли; закрепление — 4 года с клиффом 12 месяцев: уходит раньше — доля возвращается команде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98064" y="1600200"/>
            <a:ext cx="2084831" cy="31089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2656" y="178308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DD93"/>
                </a:solidFill>
                <a:latin typeface="Segoe UI Semibold"/>
              </a:rPr>
              <a:t>Решения 3/5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606040"/>
            <a:ext cx="1783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FD8"/>
                </a:solidFill>
                <a:latin typeface="Segoe UI"/>
              </a:rPr>
              <a:t>текущие — большинством, тупик исключён; ключевые (продажа долей, размывание, сделки &gt; 500 000 ₽) — единогласно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00200"/>
            <a:ext cx="2084831" cy="31089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178308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DD93"/>
                </a:solidFill>
                <a:latin typeface="Segoe UI Semibold"/>
              </a:rPr>
              <a:t>ИС — компании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606040"/>
            <a:ext cx="1783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FD8"/>
                </a:solidFill>
                <a:latin typeface="Segoe UI"/>
              </a:rPr>
              <a:t>всё созданное в проекте отчуждается по ст. 1234 ГК РФ; авторство остаётся за участниками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1600200"/>
            <a:ext cx="2084831" cy="31089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8" y="178308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DD93"/>
                </a:solidFill>
                <a:latin typeface="Segoe UI Semibold"/>
              </a:rPr>
              <a:t>Выход через ROFR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606040"/>
            <a:ext cx="1783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FD8"/>
                </a:solidFill>
                <a:latin typeface="Segoe UI"/>
              </a:rPr>
              <a:t>вестированная доля — по оценке с преимуществом для сооснователей; невестированная — по номиналу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91472" y="1600200"/>
            <a:ext cx="2084831" cy="310896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6063" y="1783080"/>
            <a:ext cx="17830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2BDD93"/>
                </a:solidFill>
                <a:latin typeface="Segoe UI Semibold"/>
              </a:rPr>
              <a:t>Неконкуренция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6063" y="2606040"/>
            <a:ext cx="1783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C9CFD8"/>
                </a:solidFill>
                <a:latin typeface="Segoe UI"/>
              </a:rPr>
              <a:t>запрет конкурирующих проектов в нише digital signage — во время участия и 12 месяцев после выхода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83480"/>
            <a:ext cx="11045952" cy="868680"/>
          </a:xfrm>
          <a:prstGeom prst="roundRect">
            <a:avLst>
              <a:gd name="adj" fmla="val 4000"/>
            </a:avLst>
          </a:prstGeom>
          <a:solidFill>
            <a:srgbClr val="1E2027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8" y="513892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CABDD"/>
                </a:solidFill>
                <a:latin typeface="Segoe UI"/>
              </a:rPr>
              <a:t>МЕХАНИКА В РФ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102352"/>
            <a:ext cx="7498079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«Автоматического» вестинга в российском праве нет: обязательство продать долю закрепляют корпоративным договором и опционами (ст. 429.2 ГК РФ), сами сделки с долями — нотариальные (ст. 21 ФЗ «Об ООО»).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ОБСУЖДЕНИЕ · 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Ошибки стартапов и наша защита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9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11045952" cy="4105656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09928"/>
            <a:ext cx="3794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Типичная ошибка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709928"/>
            <a:ext cx="6903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7A899F"/>
                </a:solidFill>
                <a:latin typeface="Segoe UI Semibold"/>
              </a:rPr>
              <a:t>Как закрыто у нас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49808" y="2185416"/>
            <a:ext cx="10817351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49808" y="2203704"/>
            <a:ext cx="37947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Бизнес на одном ИП, продукт создан командой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03704"/>
            <a:ext cx="6903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партнёрское соглашение + 5 договоров отчуждения до внешних переговоров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8" y="2743200"/>
            <a:ext cx="10817351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2770632"/>
            <a:ext cx="37947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Равные доли без вестинга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770632"/>
            <a:ext cx="6903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вестинг 4 года / клифф 12 месяцев (раздел 4 прототипа)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49808" y="3310128"/>
            <a:ext cx="10817351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49808" y="3337560"/>
            <a:ext cx="37947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Знак не проверен до подачи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337560"/>
            <a:ext cx="6903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базы ФИПС и TMview + домен piconstruct.ru до заявки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49808" y="3877056"/>
            <a:ext cx="10817351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49808" y="3904487"/>
            <a:ext cx="37947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GPL-образ без исходников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04487"/>
            <a:ext cx="6903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публикация скриптов сборки, страница «Открытый код»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" y="4443983"/>
            <a:ext cx="10817351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49808" y="4471416"/>
            <a:ext cx="37947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Данные без уведомления РКН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71416"/>
            <a:ext cx="6903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уведомление при регистрации оператора; согласия уже собраны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9808" y="5010912"/>
            <a:ext cx="10817351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49808" y="5038344"/>
            <a:ext cx="379476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Segoe UI Semibold"/>
              </a:rPr>
              <a:t>Устные договорённости с подрядчиками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038344"/>
            <a:ext cx="6903720" cy="5212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C9CFD8"/>
                </a:solidFill>
                <a:latin typeface="Segoe UI"/>
              </a:rPr>
              <a:t>подряд с отчуждением прав (переводчик недели 7)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49808" y="5577840"/>
            <a:ext cx="10817351" cy="0"/>
          </a:xfrm>
          <a:prstGeom prst="line">
            <a:avLst/>
          </a:prstGeom>
          <a:ln w="9525">
            <a:solidFill>
              <a:srgbClr val="2327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7A899F"/>
                </a:solidFill>
                <a:latin typeface="Segoe UI"/>
              </a:rPr>
              <a:t>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0">
                <a:solidFill>
                  <a:srgbClr val="FFFFFF"/>
                </a:solidFill>
                <a:latin typeface="Segoe UI Semibold"/>
              </a:rPr>
              <a:t>Правовой каркас готов до первых продаж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2BDD93"/>
                </a:solidFill>
                <a:latin typeface="Segoe UI Semibold"/>
              </a:rPr>
              <a:t>PiConstruct  ·  ПЗ №16 · правовая база стартапа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98480" y="6400800"/>
            <a:ext cx="9144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7A899F"/>
                </a:solidFill>
                <a:latin typeface="Segoe UI"/>
              </a:rPr>
              <a:t>10 /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3529584" cy="32461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7830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DD93"/>
                </a:solidFill>
                <a:latin typeface="Segoe UI"/>
              </a:rPr>
              <a:t>МОДЕЛЬ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33172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ИП на УСН 6% — уже в модели недели 7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ООО по триггеру: 30 000 ₽/мес × 3, инвестор или наём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доли 20% × 5, УК 50 000 ₽, решения 3/5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регистрация электронно — 0 ₽ пошлин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600200"/>
            <a:ext cx="3529584" cy="32461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7992" y="17830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DD93"/>
                </a:solidFill>
                <a:latin typeface="Segoe UI"/>
              </a:rPr>
              <a:t>ИНТЕЛЛЕКТУАЛЬНАЯ СОБСТВЕННОСТЬ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07992" y="233172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7 документов: от отчуждения прав до оферты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знак «PiConstruct»: 8–⁠12 мес. и 42 000 ₽ пошлин в 3 классах МКТУ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piconstruct.ru свободен — регистрируем до заявки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GPL-исходники образа публикуем; ФЗ-152 — уведомление РКН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1600200"/>
            <a:ext cx="3529584" cy="3246120"/>
          </a:xfrm>
          <a:prstGeom prst="roundRect">
            <a:avLst>
              <a:gd name="adj" fmla="val 4000"/>
            </a:avLst>
          </a:prstGeom>
          <a:solidFill>
            <a:srgbClr val="16181D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0455" y="1783080"/>
            <a:ext cx="3063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BDD93"/>
                </a:solidFill>
                <a:latin typeface="Segoe UI"/>
              </a:rPr>
              <a:t>ДОГОВОР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0455" y="2331720"/>
            <a:ext cx="306324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партнёрское соглашение: 11 разделов, прототип готов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вестинг 4 года / клифф 12 мес. — равные доли справедливы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выход через ROFR, неконкуренция 12 месяцев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00">
                <a:solidFill>
                  <a:srgbClr val="2BDD93"/>
                </a:solidFill>
                <a:latin typeface="Segoe UI"/>
              </a:rPr>
              <a:t>▪  </a:t>
            </a:r>
            <a:r>
              <a:rPr sz="1100">
                <a:solidFill>
                  <a:srgbClr val="2BDD93"/>
                </a:solidFill>
                <a:latin typeface="Segoe UI"/>
              </a:rPr>
              <a:t>после ООО — устав и корпоративный договор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074920"/>
            <a:ext cx="11045952" cy="777240"/>
          </a:xfrm>
          <a:prstGeom prst="roundRect">
            <a:avLst>
              <a:gd name="adj" fmla="val 4000"/>
            </a:avLst>
          </a:prstGeom>
          <a:solidFill>
            <a:srgbClr val="123024"/>
          </a:solidFill>
          <a:ln w="12700">
            <a:solidFill>
              <a:srgbClr val="232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5212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2BDD93"/>
                </a:solidFill>
                <a:latin typeface="Segoe UI"/>
              </a:rPr>
              <a:t>СВЯЗКА С ПЛАНОМ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5175504"/>
            <a:ext cx="74980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C9CFD8"/>
                </a:solidFill>
                <a:latin typeface="Segoe UI"/>
              </a:rPr>
              <a:t>Уже сделано: политика ПДн и cookie-согласие (неделя 2–⁠3), схема ИП в расчётах (неделя 7). Дальше: NDA с казахстанским партнёром — ноябрь 2026, фаза 0 недели 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