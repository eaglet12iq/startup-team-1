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713232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Курс «Стартап в информационных технологиях» · Неделя 5 · Занятие №10</a:t>
            </a:r>
            <a:endParaRPr lang="en-US" sz="1300" dirty="0"/>
          </a:p>
        </p:txBody>
      </p:sp>
      <p:pic>
        <p:nvPicPr>
          <p:cNvPr id="3" name="Image 0" descr="/tmp/pptx_build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72" y="1517904"/>
            <a:ext cx="3465576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60604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Высокая конкуренция: принятие решений и анализ рисков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892040" y="4224528"/>
            <a:ext cx="96012" cy="45720"/>
          </a:xfrm>
          <a:prstGeom prst="rect">
            <a:avLst/>
          </a:prstGeom>
          <a:solidFill>
            <a:srgbClr val="BDD903"/>
          </a:solidFill>
          <a:ln/>
        </p:spPr>
      </p:sp>
      <p:sp>
        <p:nvSpPr>
          <p:cNvPr id="6" name="Shape 3"/>
          <p:cNvSpPr/>
          <p:nvPr/>
        </p:nvSpPr>
        <p:spPr>
          <a:xfrm>
            <a:off x="4983480" y="4224528"/>
            <a:ext cx="96012" cy="45720"/>
          </a:xfrm>
          <a:prstGeom prst="rect">
            <a:avLst/>
          </a:prstGeom>
          <a:solidFill>
            <a:srgbClr val="BED803"/>
          </a:solidFill>
          <a:ln/>
        </p:spPr>
      </p:sp>
      <p:sp>
        <p:nvSpPr>
          <p:cNvPr id="7" name="Shape 4"/>
          <p:cNvSpPr/>
          <p:nvPr/>
        </p:nvSpPr>
        <p:spPr>
          <a:xfrm>
            <a:off x="5074920" y="4224528"/>
            <a:ext cx="96012" cy="45720"/>
          </a:xfrm>
          <a:prstGeom prst="rect">
            <a:avLst/>
          </a:prstGeom>
          <a:solidFill>
            <a:srgbClr val="BED704"/>
          </a:solidFill>
          <a:ln/>
        </p:spPr>
      </p:sp>
      <p:sp>
        <p:nvSpPr>
          <p:cNvPr id="8" name="Shape 5"/>
          <p:cNvSpPr/>
          <p:nvPr/>
        </p:nvSpPr>
        <p:spPr>
          <a:xfrm>
            <a:off x="5166360" y="4224528"/>
            <a:ext cx="96012" cy="45720"/>
          </a:xfrm>
          <a:prstGeom prst="rect">
            <a:avLst/>
          </a:prstGeom>
          <a:solidFill>
            <a:srgbClr val="BFD604"/>
          </a:solidFill>
          <a:ln/>
        </p:spPr>
      </p:sp>
      <p:sp>
        <p:nvSpPr>
          <p:cNvPr id="9" name="Shape 6"/>
          <p:cNvSpPr/>
          <p:nvPr/>
        </p:nvSpPr>
        <p:spPr>
          <a:xfrm>
            <a:off x="5257800" y="4224528"/>
            <a:ext cx="96012" cy="45720"/>
          </a:xfrm>
          <a:prstGeom prst="rect">
            <a:avLst/>
          </a:prstGeom>
          <a:solidFill>
            <a:srgbClr val="BFD505"/>
          </a:solidFill>
          <a:ln/>
        </p:spPr>
      </p:sp>
      <p:sp>
        <p:nvSpPr>
          <p:cNvPr id="10" name="Shape 7"/>
          <p:cNvSpPr/>
          <p:nvPr/>
        </p:nvSpPr>
        <p:spPr>
          <a:xfrm>
            <a:off x="5349240" y="4224528"/>
            <a:ext cx="96012" cy="45720"/>
          </a:xfrm>
          <a:prstGeom prst="rect">
            <a:avLst/>
          </a:prstGeom>
          <a:solidFill>
            <a:srgbClr val="C0D305"/>
          </a:solidFill>
          <a:ln/>
        </p:spPr>
      </p:sp>
      <p:sp>
        <p:nvSpPr>
          <p:cNvPr id="11" name="Shape 8"/>
          <p:cNvSpPr/>
          <p:nvPr/>
        </p:nvSpPr>
        <p:spPr>
          <a:xfrm>
            <a:off x="5440680" y="4224528"/>
            <a:ext cx="96012" cy="45720"/>
          </a:xfrm>
          <a:prstGeom prst="rect">
            <a:avLst/>
          </a:prstGeom>
          <a:solidFill>
            <a:srgbClr val="C0D205"/>
          </a:solidFill>
          <a:ln/>
        </p:spPr>
      </p:sp>
      <p:sp>
        <p:nvSpPr>
          <p:cNvPr id="12" name="Shape 9"/>
          <p:cNvSpPr/>
          <p:nvPr/>
        </p:nvSpPr>
        <p:spPr>
          <a:xfrm>
            <a:off x="5532120" y="4224528"/>
            <a:ext cx="96012" cy="45720"/>
          </a:xfrm>
          <a:prstGeom prst="rect">
            <a:avLst/>
          </a:prstGeom>
          <a:solidFill>
            <a:srgbClr val="C1D106"/>
          </a:solidFill>
          <a:ln/>
        </p:spPr>
      </p:sp>
      <p:sp>
        <p:nvSpPr>
          <p:cNvPr id="13" name="Shape 10"/>
          <p:cNvSpPr/>
          <p:nvPr/>
        </p:nvSpPr>
        <p:spPr>
          <a:xfrm>
            <a:off x="5623560" y="4224528"/>
            <a:ext cx="96012" cy="45720"/>
          </a:xfrm>
          <a:prstGeom prst="rect">
            <a:avLst/>
          </a:prstGeom>
          <a:solidFill>
            <a:srgbClr val="C1D006"/>
          </a:solidFill>
          <a:ln/>
        </p:spPr>
      </p:sp>
      <p:sp>
        <p:nvSpPr>
          <p:cNvPr id="14" name="Shape 11"/>
          <p:cNvSpPr/>
          <p:nvPr/>
        </p:nvSpPr>
        <p:spPr>
          <a:xfrm>
            <a:off x="5715000" y="4224528"/>
            <a:ext cx="96012" cy="45720"/>
          </a:xfrm>
          <a:prstGeom prst="rect">
            <a:avLst/>
          </a:prstGeom>
          <a:solidFill>
            <a:srgbClr val="C2CF07"/>
          </a:solidFill>
          <a:ln/>
        </p:spPr>
      </p:sp>
      <p:sp>
        <p:nvSpPr>
          <p:cNvPr id="15" name="Shape 12"/>
          <p:cNvSpPr/>
          <p:nvPr/>
        </p:nvSpPr>
        <p:spPr>
          <a:xfrm>
            <a:off x="5806440" y="4224528"/>
            <a:ext cx="96012" cy="45720"/>
          </a:xfrm>
          <a:prstGeom prst="rect">
            <a:avLst/>
          </a:prstGeom>
          <a:solidFill>
            <a:srgbClr val="C2CE07"/>
          </a:solidFill>
          <a:ln/>
        </p:spPr>
      </p:sp>
      <p:sp>
        <p:nvSpPr>
          <p:cNvPr id="16" name="Shape 13"/>
          <p:cNvSpPr/>
          <p:nvPr/>
        </p:nvSpPr>
        <p:spPr>
          <a:xfrm>
            <a:off x="5897880" y="4224528"/>
            <a:ext cx="96012" cy="45720"/>
          </a:xfrm>
          <a:prstGeom prst="rect">
            <a:avLst/>
          </a:prstGeom>
          <a:solidFill>
            <a:srgbClr val="C3CD07"/>
          </a:solidFill>
          <a:ln/>
        </p:spPr>
      </p:sp>
      <p:sp>
        <p:nvSpPr>
          <p:cNvPr id="17" name="Shape 14"/>
          <p:cNvSpPr/>
          <p:nvPr/>
        </p:nvSpPr>
        <p:spPr>
          <a:xfrm>
            <a:off x="5989320" y="4224528"/>
            <a:ext cx="96012" cy="45720"/>
          </a:xfrm>
          <a:prstGeom prst="rect">
            <a:avLst/>
          </a:prstGeom>
          <a:solidFill>
            <a:srgbClr val="C3CC08"/>
          </a:solidFill>
          <a:ln/>
        </p:spPr>
      </p:sp>
      <p:sp>
        <p:nvSpPr>
          <p:cNvPr id="18" name="Shape 15"/>
          <p:cNvSpPr/>
          <p:nvPr/>
        </p:nvSpPr>
        <p:spPr>
          <a:xfrm>
            <a:off x="6080760" y="4224528"/>
            <a:ext cx="96012" cy="45720"/>
          </a:xfrm>
          <a:prstGeom prst="rect">
            <a:avLst/>
          </a:prstGeom>
          <a:solidFill>
            <a:srgbClr val="C4CA08"/>
          </a:solidFill>
          <a:ln/>
        </p:spPr>
      </p:sp>
      <p:sp>
        <p:nvSpPr>
          <p:cNvPr id="19" name="Shape 16"/>
          <p:cNvSpPr/>
          <p:nvPr/>
        </p:nvSpPr>
        <p:spPr>
          <a:xfrm>
            <a:off x="6172200" y="4224528"/>
            <a:ext cx="96012" cy="45720"/>
          </a:xfrm>
          <a:prstGeom prst="rect">
            <a:avLst/>
          </a:prstGeom>
          <a:solidFill>
            <a:srgbClr val="C4C909"/>
          </a:solidFill>
          <a:ln/>
        </p:spPr>
      </p:sp>
      <p:sp>
        <p:nvSpPr>
          <p:cNvPr id="20" name="Shape 17"/>
          <p:cNvSpPr/>
          <p:nvPr/>
        </p:nvSpPr>
        <p:spPr>
          <a:xfrm>
            <a:off x="6263640" y="4224528"/>
            <a:ext cx="96012" cy="45720"/>
          </a:xfrm>
          <a:prstGeom prst="rect">
            <a:avLst/>
          </a:prstGeom>
          <a:solidFill>
            <a:srgbClr val="C5C809"/>
          </a:solidFill>
          <a:ln/>
        </p:spPr>
      </p:sp>
      <p:sp>
        <p:nvSpPr>
          <p:cNvPr id="21" name="Shape 18"/>
          <p:cNvSpPr/>
          <p:nvPr/>
        </p:nvSpPr>
        <p:spPr>
          <a:xfrm>
            <a:off x="6355080" y="4224528"/>
            <a:ext cx="96012" cy="45720"/>
          </a:xfrm>
          <a:prstGeom prst="rect">
            <a:avLst/>
          </a:prstGeom>
          <a:solidFill>
            <a:srgbClr val="C5C709"/>
          </a:solidFill>
          <a:ln/>
        </p:spPr>
      </p:sp>
      <p:sp>
        <p:nvSpPr>
          <p:cNvPr id="22" name="Shape 19"/>
          <p:cNvSpPr/>
          <p:nvPr/>
        </p:nvSpPr>
        <p:spPr>
          <a:xfrm>
            <a:off x="6446520" y="4224528"/>
            <a:ext cx="96012" cy="45720"/>
          </a:xfrm>
          <a:prstGeom prst="rect">
            <a:avLst/>
          </a:prstGeom>
          <a:solidFill>
            <a:srgbClr val="C6C60A"/>
          </a:solidFill>
          <a:ln/>
        </p:spPr>
      </p:sp>
      <p:sp>
        <p:nvSpPr>
          <p:cNvPr id="23" name="Shape 20"/>
          <p:cNvSpPr/>
          <p:nvPr/>
        </p:nvSpPr>
        <p:spPr>
          <a:xfrm>
            <a:off x="6537960" y="4224528"/>
            <a:ext cx="96012" cy="45720"/>
          </a:xfrm>
          <a:prstGeom prst="rect">
            <a:avLst/>
          </a:prstGeom>
          <a:solidFill>
            <a:srgbClr val="C6C50A"/>
          </a:solidFill>
          <a:ln/>
        </p:spPr>
      </p:sp>
      <p:sp>
        <p:nvSpPr>
          <p:cNvPr id="24" name="Shape 21"/>
          <p:cNvSpPr/>
          <p:nvPr/>
        </p:nvSpPr>
        <p:spPr>
          <a:xfrm>
            <a:off x="6629400" y="4224528"/>
            <a:ext cx="96012" cy="45720"/>
          </a:xfrm>
          <a:prstGeom prst="rect">
            <a:avLst/>
          </a:prstGeom>
          <a:solidFill>
            <a:srgbClr val="C7C40B"/>
          </a:solidFill>
          <a:ln/>
        </p:spPr>
      </p:sp>
      <p:sp>
        <p:nvSpPr>
          <p:cNvPr id="25" name="Shape 22"/>
          <p:cNvSpPr/>
          <p:nvPr/>
        </p:nvSpPr>
        <p:spPr>
          <a:xfrm>
            <a:off x="6720840" y="4224528"/>
            <a:ext cx="96012" cy="45720"/>
          </a:xfrm>
          <a:prstGeom prst="rect">
            <a:avLst/>
          </a:prstGeom>
          <a:solidFill>
            <a:srgbClr val="C7C30B"/>
          </a:solidFill>
          <a:ln/>
        </p:spPr>
      </p:sp>
      <p:sp>
        <p:nvSpPr>
          <p:cNvPr id="26" name="Shape 23"/>
          <p:cNvSpPr/>
          <p:nvPr/>
        </p:nvSpPr>
        <p:spPr>
          <a:xfrm>
            <a:off x="6812280" y="4224528"/>
            <a:ext cx="96012" cy="45720"/>
          </a:xfrm>
          <a:prstGeom prst="rect">
            <a:avLst/>
          </a:prstGeom>
          <a:solidFill>
            <a:srgbClr val="C8C10B"/>
          </a:solidFill>
          <a:ln/>
        </p:spPr>
      </p:sp>
      <p:sp>
        <p:nvSpPr>
          <p:cNvPr id="27" name="Shape 24"/>
          <p:cNvSpPr/>
          <p:nvPr/>
        </p:nvSpPr>
        <p:spPr>
          <a:xfrm>
            <a:off x="6903720" y="4224528"/>
            <a:ext cx="96012" cy="45720"/>
          </a:xfrm>
          <a:prstGeom prst="rect">
            <a:avLst/>
          </a:prstGeom>
          <a:solidFill>
            <a:srgbClr val="C8C00C"/>
          </a:solidFill>
          <a:ln/>
        </p:spPr>
      </p:sp>
      <p:sp>
        <p:nvSpPr>
          <p:cNvPr id="28" name="Shape 25"/>
          <p:cNvSpPr/>
          <p:nvPr/>
        </p:nvSpPr>
        <p:spPr>
          <a:xfrm>
            <a:off x="6995160" y="4224528"/>
            <a:ext cx="96012" cy="45720"/>
          </a:xfrm>
          <a:prstGeom prst="rect">
            <a:avLst/>
          </a:prstGeom>
          <a:solidFill>
            <a:srgbClr val="C9BF0C"/>
          </a:solidFill>
          <a:ln/>
        </p:spPr>
      </p:sp>
      <p:sp>
        <p:nvSpPr>
          <p:cNvPr id="29" name="Shape 26"/>
          <p:cNvSpPr/>
          <p:nvPr/>
        </p:nvSpPr>
        <p:spPr>
          <a:xfrm>
            <a:off x="7086600" y="4224528"/>
            <a:ext cx="96012" cy="45720"/>
          </a:xfrm>
          <a:prstGeom prst="rect">
            <a:avLst/>
          </a:prstGeom>
          <a:solidFill>
            <a:srgbClr val="C9BE0D"/>
          </a:solidFill>
          <a:ln/>
        </p:spPr>
      </p:sp>
      <p:sp>
        <p:nvSpPr>
          <p:cNvPr id="30" name="Shape 27"/>
          <p:cNvSpPr/>
          <p:nvPr/>
        </p:nvSpPr>
        <p:spPr>
          <a:xfrm>
            <a:off x="7178040" y="4224528"/>
            <a:ext cx="96012" cy="45720"/>
          </a:xfrm>
          <a:prstGeom prst="rect">
            <a:avLst/>
          </a:prstGeom>
          <a:solidFill>
            <a:srgbClr val="CABD0D"/>
          </a:solidFill>
          <a:ln/>
        </p:spPr>
      </p:sp>
      <p:sp>
        <p:nvSpPr>
          <p:cNvPr id="31" name="Text 28"/>
          <p:cNvSpPr/>
          <p:nvPr/>
        </p:nvSpPr>
        <p:spPr>
          <a:xfrm>
            <a:off x="548640" y="4498848"/>
            <a:ext cx="11064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PiConstruct · Практическое занятие №10 · Команда №1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914400" y="5742432"/>
            <a:ext cx="10332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Савельев Сергей — тимлид/дизайнер · Овчаренко Константин — архитектор/разработчик · Миняев Тимофей — маркетолог</a:t>
            </a:r>
            <a:endParaRPr lang="en-US" sz="12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Паркаев Илья — аналитик · Валянский Андрей — разработчик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КЕЙС №6 · СЦЕНАРИЙ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Высокая конкуренция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577840" cy="2103120"/>
          </a:xfrm>
          <a:prstGeom prst="roundRect">
            <a:avLst>
              <a:gd name="adj" fmla="val 7391"/>
            </a:avLst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0078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Сценарий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048256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На рынок выходит крупный конкурент с аналогичным продуктом по подписке — и с существенно большим бюджетом на маркетинг.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5577840" cy="1783080"/>
          </a:xfrm>
          <a:prstGeom prst="roundRect">
            <a:avLst>
              <a:gd name="adj" fmla="val 8718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968496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150" kern="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Статус в риск-реестре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4297680"/>
            <a:ext cx="5029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Риск №5 «Конкурент с готовым подписочным решением» зафиксирован в риск-реестре прошлого семестра (неделя 14).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00800" y="1463040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ФАКТЫ О ПРОДУКТЕ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0" y="1810512"/>
            <a:ext cx="2633472" cy="1755648"/>
          </a:xfrm>
          <a:prstGeom prst="roundRect">
            <a:avLst>
              <a:gd name="adj" fmla="val 8854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638544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2 499 ₽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38544" y="2679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тариф Pro — разовая покупка, без подписки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62288" y="1810512"/>
            <a:ext cx="2633472" cy="1755648"/>
          </a:xfrm>
          <a:prstGeom prst="roundRect">
            <a:avLst>
              <a:gd name="adj" fmla="val 8854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400032" y="208483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Офлайн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9400032" y="267919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табло работает без интернета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3685032"/>
            <a:ext cx="2633472" cy="1755648"/>
          </a:xfrm>
          <a:prstGeom prst="roundRect">
            <a:avLst>
              <a:gd name="adj" fmla="val 8854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638544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 сек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638544" y="4553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обновление меню с телефона по Wi-Fi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62288" y="3685032"/>
            <a:ext cx="2633472" cy="1755648"/>
          </a:xfrm>
          <a:prstGeom prst="roundRect">
            <a:avLst>
              <a:gd name="adj" fmla="val 8854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400032" y="3959352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.img-образ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9400032" y="4553712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запись на SD-карту — табло работает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· SWOT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SWOT: сильные и слабые стороны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5568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Сильные стороны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440680" cy="3913632"/>
          </a:xfrm>
          <a:prstGeom prst="roundRect">
            <a:avLst>
              <a:gd name="adj" fmla="val 397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28600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Разовая покупка: Pro — 2 499 ₽ против подписок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Полностью офлайн-работа табло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Обновление с телефона за 30 секунд по локальному Wi-Fi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Готовый .img-образ: запись на SD-карту — табло работает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Фокус на нише: общепит с 1–3 точками без штатного 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DA2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39128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Слабые стороны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029968"/>
            <a:ext cx="5440680" cy="3913632"/>
          </a:xfrm>
          <a:prstGeom prst="roundRect">
            <a:avLst>
              <a:gd name="adj" fmla="val 397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286000"/>
            <a:ext cx="4892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Нет маркетингового бюджета, сопоставимого с конкурентом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Ручные продажи: тимлид совмещает с дизайном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Низкая узнаваемость бренда; reply rate outreach ≈ 10%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AI-помощник на этапе бета-тестирования, QA отсутствует</a:t>
            </a:r>
            <a:endParaRPr lang="en-US" sz="1300" dirty="0"/>
          </a:p>
          <a:p>
            <a:pPr algn="l" marL="127000" indent="-1270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Зависимость от одного архитектора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АНАЛИЗ · SWOT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SWOT: возможности и угрозы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CABD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5568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Возможности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029968"/>
            <a:ext cx="5440680" cy="3913632"/>
          </a:xfrm>
          <a:prstGeom prst="roundRect">
            <a:avLst>
              <a:gd name="adj" fmla="val 397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22960" y="2340864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Микробизнес с 1–3 точками конкурентам невыгоден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Подписки дорожают — усиливается недовольство моделью SaaS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SEO по низкочастотным запросам: «шаблон меню для кафе»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Партнёрства с поставщиками POS-систем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72200" y="1389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6739128" y="1517904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Угрозы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172200" y="2029968"/>
            <a:ext cx="5440680" cy="3913632"/>
          </a:xfrm>
          <a:prstGeom prst="roundRect">
            <a:avLst>
              <a:gd name="adj" fmla="val 397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46520" y="2340864"/>
            <a:ext cx="489204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Демпинг: первый год подписки почти бесплатно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Копирование УТП «разовая покупка, без интернета»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Удорожание Raspberry Pi и сбои поставок</a:t>
            </a:r>
            <a:endParaRPr lang="en-US" sz="1300" dirty="0"/>
          </a:p>
          <a:p>
            <a:pPr algn="l" marL="127000" indent="-127000">
              <a:spcAft>
                <a:spcPts val="16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Потеря доли рынка до набора собственной базы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ПРИНЯТИЕ РЕШЕНИЙ · АЛЬТЕРНАТИВЫ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5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Четыре альтернативы действий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60904" cy="4160520"/>
          </a:xfrm>
          <a:prstGeom prst="roundRect">
            <a:avLst>
              <a:gd name="adj" fmla="val 584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04672" y="18105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04672" y="2340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Прямая конкуренция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331012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Платный маркетинг и демпинг против конкурента.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04672" y="4983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Быстрый охват, но ценовая война исчерпает ресурсы раньше конкурента.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55848" y="1554480"/>
            <a:ext cx="2660904" cy="4160520"/>
          </a:xfrm>
          <a:prstGeom prst="roundRect">
            <a:avLst>
              <a:gd name="adj" fmla="val 584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11880" y="18105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2340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Дифференциация и углубление ниши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11880" y="331012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УТП «без подписки и без интернета». Фокус на общепите: шаблоны, кейсы, SEO, outreach.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611880" y="4983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Низкие затраты, опора на сильные стороны.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3056" y="1554480"/>
            <a:ext cx="2660904" cy="4160520"/>
          </a:xfrm>
          <a:prstGeom prst="roundRect">
            <a:avLst>
              <a:gd name="adj" fmla="val 584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19088" y="18105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19088" y="2340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Партнёрство / белый лейбл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19088" y="331012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POS-поставщики реализуют продукт как дополнение к своим базам.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19088" y="4983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Готовая база партнёра, но зависимость от него.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0264" y="1554480"/>
            <a:ext cx="2660904" cy="4160520"/>
          </a:xfrm>
          <a:prstGeom prst="roundRect">
            <a:avLst>
              <a:gd name="adj" fmla="val 5842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226296" y="1810512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26296" y="2340864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Пивот в нишу франшиз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26296" y="3310128"/>
            <a:ext cx="2148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Переход в нишу франшиз с меньшим уровнем конкуренции.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226296" y="49834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Ниже уровень конкуренции, но потеря текущей ЦА.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УПРАВЛЕНИЕ РИСКАМИ · ОЦЕНКА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6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Матрица рисков по альтернативам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Вероятность и влияние — шкала 1–5 · Score = вероятность × влияние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854696" y="1449324"/>
            <a:ext cx="118872" cy="118872"/>
          </a:xfrm>
          <a:prstGeom prst="ellipse">
            <a:avLst/>
          </a:prstGeom>
          <a:solidFill>
            <a:srgbClr val="2BDD93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04672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зелёная ≤ 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89136" y="1449324"/>
            <a:ext cx="118872" cy="118872"/>
          </a:xfrm>
          <a:prstGeom prst="ellipse">
            <a:avLst/>
          </a:prstGeom>
          <a:solidFill>
            <a:srgbClr val="DDA22C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28116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DA2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жёлтая 9–12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369296" y="1449324"/>
            <a:ext cx="118872" cy="118872"/>
          </a:xfrm>
          <a:prstGeom prst="ellipse">
            <a:avLst/>
          </a:prstGeom>
          <a:solidFill>
            <a:srgbClr val="DD382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561320" y="1371600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красная 15+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6424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5212080"/>
                <a:gridCol w="1417320"/>
                <a:gridCol w="1645920"/>
                <a:gridCol w="1920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99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Альт.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99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Риск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99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Вер.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99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Влияние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7A899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Score</a:t>
                      </a:r>
                      <a:endParaRPr lang="en-US" sz="12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02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А1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Демпинг со стороны конкурента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5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А1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Исчерпание бюджета: CAC &gt; LTV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5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38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18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Копирование УТП конкурентами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A2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12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Низкий reply rate в outreach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DD9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8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Медленный набор пользовательской базы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A2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9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Удорожание Raspberry Pi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BDD93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6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4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Задержка интеграции со стороны партнёра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A2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12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А4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Потеря наработок и текущей ЦА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C9CFD8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81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DA22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12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4864" marR="54864" marT="54864" marB="54864" anchor="ctr">
                    <a:lnL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3272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2415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605332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Оценка: команда №1, по методике риск-реестра (шкалы 1–5) · Неделя 5, занятие №10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РЕШЕНИЕ КОМАНДЫ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7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А2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2194560" y="1353312"/>
            <a:ext cx="9418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Дифференциация и углубление ниши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4846320" cy="1371600"/>
          </a:xfrm>
          <a:prstGeom prst="roundRect">
            <a:avLst>
              <a:gd name="adj" fmla="val 11333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22960" y="268833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D38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А1 · отклонена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22960" y="30175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Оба риска — score 20, красная зона. Прямая конкуренция при нехватке ресурсов исчерпает бюджет раньше конкурента.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4846320" cy="1371600"/>
          </a:xfrm>
          <a:prstGeom prst="roundRect">
            <a:avLst>
              <a:gd name="adj" fmla="val 11333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22960" y="4197096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DDA22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А3 и А4 · отложены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452628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Рассмотрение отложено на срок от 6 месяцев.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0" y="2468880"/>
            <a:ext cx="5943600" cy="2880360"/>
          </a:xfrm>
          <a:prstGeom prst="roundRect">
            <a:avLst>
              <a:gd name="adj" fmla="val 5397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943600" y="2688336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Обоснование А2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943600" y="3054096"/>
            <a:ext cx="5394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Единственная альтернатива, чьи риски не выходят за жёлтую зону</a:t>
            </a:r>
            <a:endParaRPr lang="en-US" sz="13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Покрывается инициативами roadmap: шаблоны для общепита · cold outreach по 2GIS · Telegram-канал</a:t>
            </a:r>
            <a:endParaRPr lang="en-US" sz="1300" dirty="0"/>
          </a:p>
          <a:p>
            <a:pPr algn="l" marL="127000" indent="-1270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SEO-страницы — по ICE-приоритизации с Месяца 7+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532120"/>
            <a:ext cx="11064240" cy="868680"/>
          </a:xfrm>
          <a:prstGeom prst="roundRect">
            <a:avLst>
              <a:gd name="adj" fmla="val 17895"/>
            </a:avLst>
          </a:prstGeom>
          <a:solidFill>
            <a:srgbClr val="12241C"/>
          </a:solidFill>
          <a:ln w="12700">
            <a:solidFill>
              <a:srgbClr val="2BDD9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568756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Подписочному конкуренту экономически невыгодно обслуживать микробизнес с 1–3 точками — это защищённая позиция PiConstruct.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РИСК-РЕЕСТР · ДОПОЛНЕНИЕ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8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Дополнение риск-реестра: №6 и №7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11064240" cy="2103120"/>
          </a:xfrm>
          <a:prstGeom prst="roundRect">
            <a:avLst>
              <a:gd name="adj" fmla="val 7391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64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№6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27632" y="17647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Конкурент копирует УТП «разовая покупка»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2715768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Вероятность: средняя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546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Влияние: высокое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737360"/>
            <a:ext cx="0" cy="1645920"/>
          </a:xfrm>
          <a:prstGeom prst="line">
            <a:avLst/>
          </a:prstGeom>
          <a:noFill/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83480" y="1764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ТРИГГЕР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209397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Анонс конкурентом разовой оплаты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183880" y="1764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МЕРА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093976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Ускорить выпуск AI+ и шаблонов — конкурировать продуктом, а не ценой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11064240" cy="2103120"/>
          </a:xfrm>
          <a:prstGeom prst="roundRect">
            <a:avLst>
              <a:gd name="adj" fmla="val 7391"/>
            </a:avLst>
          </a:prstGeom>
          <a:solidFill>
            <a:srgbClr val="16181D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22960" y="4050792"/>
            <a:ext cx="731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№7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27632" y="405079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Демпинг и агрессивная реклама в нашей нише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5001768"/>
            <a:ext cx="2057400" cy="365760"/>
          </a:xfrm>
          <a:prstGeom prst="roundRect">
            <a:avLst>
              <a:gd name="adj" fmla="val 20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Вероятность: низкая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440680"/>
            <a:ext cx="1828800" cy="365760"/>
          </a:xfrm>
          <a:prstGeom prst="roundRect">
            <a:avLst>
              <a:gd name="adj" fmla="val 20000"/>
            </a:avLst>
          </a:prstGeom>
          <a:solidFill>
            <a:srgbClr val="1E2027"/>
          </a:solidFill>
          <a:ln w="12700">
            <a:solidFill>
              <a:srgbClr val="23272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Влияние: высокое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4023360"/>
            <a:ext cx="0" cy="1645920"/>
          </a:xfrm>
          <a:prstGeom prst="line">
            <a:avLst/>
          </a:prstGeom>
          <a:noFill/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83480" y="40507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ТРИГГЕР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379976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Реклама по запросам «табло для кафе»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183880" y="4050792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0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МЕРА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83880" y="4379976"/>
            <a:ext cx="3154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Смещение фокуса в SEO и outreach, где решает персонализация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0233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spc="250" kern="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МОНИТОРИНГ · ИТОГ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0881360" y="4023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9 /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Мониторинг и итог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508760"/>
            <a:ext cx="5394960" cy="2880360"/>
          </a:xfrm>
          <a:prstGeom prst="roundRect">
            <a:avLst>
              <a:gd name="adj" fmla="val 5397"/>
            </a:avLst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22960" y="1737360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Объекты мониторинга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2313432"/>
            <a:ext cx="91440" cy="91440"/>
          </a:xfrm>
          <a:prstGeom prst="ellipse">
            <a:avLst/>
          </a:prstGeom>
          <a:solidFill>
            <a:srgbClr val="2BDD93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115568" y="2231136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Анонсы конкурента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2843784"/>
            <a:ext cx="91440" cy="91440"/>
          </a:xfrm>
          <a:prstGeom prst="ellipse">
            <a:avLst/>
          </a:prstGeom>
          <a:solidFill>
            <a:srgbClr val="2BDD93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115568" y="276148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Цены подписок на рынке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68680" y="3374136"/>
            <a:ext cx="91440" cy="91440"/>
          </a:xfrm>
          <a:prstGeom prst="ellipse">
            <a:avLst/>
          </a:prstGeom>
          <a:solidFill>
            <a:srgbClr val="2BDD93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115568" y="3291840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Цены Raspberry Pi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68680" y="3904488"/>
            <a:ext cx="91440" cy="91440"/>
          </a:xfrm>
          <a:prstGeom prst="ellipse">
            <a:avLst/>
          </a:prstGeom>
          <a:solidFill>
            <a:srgbClr val="2BDD93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1115568" y="382219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Reply rate outreach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5486400" cy="2880360"/>
          </a:xfrm>
          <a:prstGeom prst="roundRect">
            <a:avLst>
              <a:gd name="adj" fmla="val 5397"/>
            </a:avLst>
          </a:prstGeom>
          <a:solidFill>
            <a:srgbClr val="1E2027"/>
          </a:solidFill>
          <a:ln w="12700">
            <a:solidFill>
              <a:srgbClr val="23272E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400800" y="173736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Точки пересмотра решения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46520" y="2404872"/>
            <a:ext cx="91440" cy="91440"/>
          </a:xfrm>
          <a:prstGeom prst="ellipse">
            <a:avLst/>
          </a:prstGeom>
          <a:solidFill>
            <a:srgbClr val="DDA22C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93408" y="23225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Reply rate ниже 5% два месяца подряд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46520" y="3090672"/>
            <a:ext cx="91440" cy="91440"/>
          </a:xfrm>
          <a:prstGeom prst="ellipse">
            <a:avLst/>
          </a:prstGeom>
          <a:solidFill>
            <a:srgbClr val="DDA22C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693408" y="3008376"/>
            <a:ext cx="4663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C9CFD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Конкурент анонсирует разовую оплату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46520" y="391363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A899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Пересмотр — на недельной встрече команды с обновлением риск-реестра.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12593"/>
            </a:avLst>
          </a:prstGeom>
          <a:solidFill>
            <a:srgbClr val="12241C"/>
          </a:solidFill>
          <a:ln w="12700">
            <a:solidFill>
              <a:srgbClr val="2BDD9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4919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rgbClr val="2BDD9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ВЫВОД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21208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Стратегия А2 согласована с roadmap и риск-реестром. Ниша общепита — защищённая позиция PiConstruct.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Высокая конкуренция: принятие решений и анализ рисков</dc:title>
  <dc:subject>PptxGenJS Presentation</dc:subject>
  <dc:creator>Команда №1 · PiConstruct</dc:creator>
  <cp:lastModifiedBy>Команда №1 · PiConstruct</cp:lastModifiedBy>
  <cp:revision>1</cp:revision>
  <dcterms:created xsi:type="dcterms:W3CDTF">2026-10-04T16:58:12Z</dcterms:created>
  <dcterms:modified xsi:type="dcterms:W3CDTF">2026-10-04T16:58:12Z</dcterms:modified>
</cp:coreProperties>
</file>